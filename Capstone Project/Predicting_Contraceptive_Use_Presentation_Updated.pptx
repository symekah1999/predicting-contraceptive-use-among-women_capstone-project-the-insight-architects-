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100584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1100" b="1" i="0">
                <a:solidFill>
                  <a:srgbClr val="D97706"/>
                </a:solidFill>
                <a:latin typeface="Segoe UI"/>
              </a:defRPr>
            </a:pPr>
            <a:r>
              <a:t>DATA SCIENCE CAPSTONE SHOWCASE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400"/>
              </a:spcAft>
              <a:defRPr sz="4600" b="1" i="0">
                <a:solidFill>
                  <a:srgbClr val="FFFFFF"/>
                </a:solidFill>
                <a:latin typeface="Segoe UI"/>
              </a:defRPr>
            </a:pPr>
            <a:r>
              <a:t>Predicting Contraceptive Use</a:t>
            </a:r>
            <a:br/>
            <a:r>
              <a:t>Among Kenyan Women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CBD5E1"/>
                </a:solidFill>
                <a:latin typeface="Segoe UI"/>
              </a:defRPr>
            </a:pPr>
            <a:r>
              <a:t>A Machine Learning &amp; Deep Learning Approach to</a:t>
            </a:r>
            <a:br/>
            <a:r>
              <a:t>Targeting Family Planning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8463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300" b="1" i="0">
                <a:solidFill>
                  <a:srgbClr val="CBD5E1"/>
                </a:solidFill>
                <a:latin typeface="Segoe UI"/>
              </a:defRPr>
            </a:pPr>
            <a:r>
              <a:t>Prepared by: The Insight Architects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  <a:defRPr sz="1200" b="0" i="0">
                <a:solidFill>
                  <a:srgbClr val="FFFFFF"/>
                </a:solidFill>
                <a:latin typeface="Segoe UI"/>
              </a:defRPr>
            </a:pPr>
            <a:r>
              <a:t>Joy Nyuguto  •  Martin Kitema  •  Shadrack Symekah  •  Clare Simiyu  •  Antony Sila  •  David Theuri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D9488"/>
                </a:solidFill>
                <a:latin typeface="Segoe UI"/>
              </a:defRPr>
            </a:pPr>
            <a:r>
              <a:t>Moringa School  •  Nairobi, Kenya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63824"/>
            <a:ext cx="12191695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Exploratory Data Analysis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CBD5E1"/>
                </a:solidFill>
                <a:latin typeface="Segoe UI"/>
              </a:defRPr>
            </a:pPr>
            <a:r>
              <a:t>Understanding the demographic, socioeconomic, and geographic landscape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Project Overview &amp; Target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3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The Core Problem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Kenya’s mCPR is ~57% nationally, hiding a 56-percentage-point gap between counties (Mandera 1% vs Embu 57%).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Goal: predict contraceptive method type to help health planners target resources where non-use is highest.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Target Variable (4-Class)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No method: 58.1% (18,694 women)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Modern: 37.9% (12,195)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Traditional: 3.8% (1,214)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Folkloric: 0.2% (53 women only)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The 53-row Folkloric class is the single most important structural constraint in the dataset.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arget_distribution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700509"/>
            <a:ext cx="5059375" cy="22799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Demographics: Age Distribution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Age Profile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Mean age 29.1, median 28. Survey covers women aged 15–49 across all 47 counties.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Numbers concentrate in the twenties and thin toward 49.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Numeric Summary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Household size and living children are heavily right-skewed.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600"/>
              </a:spcAft>
              <a:defRPr sz="1000" b="0" i="0">
                <a:solidFill>
                  <a:srgbClr val="0F172A"/>
                </a:solidFill>
                <a:latin typeface="Consolas"/>
              </a:defRPr>
            </a:pPr>
            <a:r>
              <a:t>print('Rows and columns:', df.shape)  # (32156, 20)</a:t>
            </a:r>
            <a:br/>
            <a:r>
              <a:t>df.describe().T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446164"/>
            <a:ext cx="5059375" cy="27886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Demographics: Education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Education Level Distribution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Primary: 36.7%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Secondary: 36.2%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Higher: 15.2%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No education: 11.9%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Since education influences health awareness and access to reproductive health information, this variable is expected to play an important role.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ducation_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71433"/>
            <a:ext cx="5059375" cy="31380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Socioeconomics: Wealth Index &amp; Residence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6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Wealth Index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Quintiles fairly balanced (18–22% each): Richer 22.3%, Poorest 22.0%, Middle 19.7%, Richest 18.1%, Poorer 17.9%.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Residence Type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Rural: 61.5%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Urban: 38.5%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The rural majority is the primary focus for policy interventions.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ealth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74635"/>
            <a:ext cx="5059375" cy="3131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Bivariate: Education as a Driver of Uptake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Education as a Catalyst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No education: only ~12% modern use. Any education: ~37–46%.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Primary-educated women (44%) are actually higher than secondary (37%) — likely a life-stage effect (secondary women average age 23.4, 55.7% never-married).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Key Finding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Even primary education significantly boosts modern method adoption.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ivariate_edu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74635"/>
            <a:ext cx="5059375" cy="3131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Bivariate: Wealth as a Driver of Uptake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8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Wealth: A Cliff, Not a Gradient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Poorest quintile: ~25%. Poorer and above: flat at ~41–43%.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The big gap is between poorest and everyone else, not a steady climb.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Policy Implication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Subsidised commodities should target the Poorest quintile specifically, not spread evenly.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ivariate_w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74635"/>
            <a:ext cx="5059375" cy="3131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Bivariate: Residence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9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Urban vs. Rural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Modern use is essentially identical: ~38% for both urban and rural.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Key Finding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On its own, residence barely matters. Any urban/rural gap is explained by education and wealth, not geography.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This means rural interventions should focus on education, not proximity.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ivariate_res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74635"/>
            <a:ext cx="5059375" cy="31316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Geographic Disparities: Modern Use by County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10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Massive County-Level Variation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Lowest: Mandera (1.2%), Wajir (2.8%), Garissa (4.5%), Marsabit (5.6%), Tana River (20.0%)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Highest: Embu, Meru, Nyeri, Elgeyo Marakwet (50–57%)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All low-use counties are in the arid/semi-arid north (ASAL).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Implication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County is the single strongest signal in the data. Geographically targeted interventions are essential.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unty_modern_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981" y="1645920"/>
            <a:ext cx="297213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Multivariate: Education vs. Wealth Interaction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11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Education Trumps Wealth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No education + any wealth: modern use stays 9–21%.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Any education + even Poorest household: 35–48%.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Key Takeaway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Education outweighs wealth. No-education women have low use regardless of wealth quintile, while any education pushes it up across every wealth group.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ultivariate_edu_wealth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45249"/>
            <a:ext cx="5059375" cy="29904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Feature Correlation &amp; Collinearity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12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Correlation Matrix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children_ever_born and living_children: r = 0.98 (near-perfect collinearity).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Keeping both creates multicollinearity — we derive surviving_ratio and child_loss instead.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Other Observations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Age ↔ children: ~0.65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Wealth ↔ education: ~0.45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Most numeric variables are weakly correlated — each adds unique information.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48097"/>
            <a:ext cx="5059375" cy="41847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63824"/>
            <a:ext cx="12191695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Data Engineering &amp; Preprocessing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CBD5E1"/>
                </a:solidFill>
                <a:latin typeface="Segoe UI"/>
              </a:defRPr>
            </a:pPr>
            <a:r>
              <a:t>Cleaning, encoding, and preparing model-ready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Data Integrity &amp; Cleaning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Structural Missingness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age_first_birth: 8,813 missing — all women with 0 children (structural, not error).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partner_education: ~14,000 missing — women with no current partner.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Imputed 0 for age_first_birth; created has_given_birth flag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Filled partner_education with 'No partner' as valid 6th category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Duplicates Resolution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274 rows flagged. All 532 look-alikes have unique caseids — distinct women.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All 32,156 rows deliberately retained.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6793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Post-Cleaning Validation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600"/>
              </a:spcAft>
              <a:defRPr sz="1000" b="0" i="0">
                <a:solidFill>
                  <a:srgbClr val="0F172A"/>
                </a:solidFill>
                <a:latin typeface="Consolas"/>
              </a:defRPr>
            </a:pPr>
            <a:r>
              <a:t>assert df.isnull().sum().sum() == 0</a:t>
            </a:r>
            <a:br/>
            <a:r>
              <a:t>assert df.shape[0] == 32156</a:t>
            </a:r>
            <a:br/>
            <a:r>
              <a:t>print('Validation passed.')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Before &amp; After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Raw: 32,156 rows × 20 cols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Cleaned: 32,156 rows × 21 cols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0 missing values, 0 rows dropped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Every downstream step inherits guaranteed data completeness.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Feature Engineering: 18 New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Ordinal Encoding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education, wealth, partner_education, age_group encoded ordinally.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Nominal One-Hot Encoding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county, region, religion, marital status → one-hot.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Feature space: 20 raw → 38 engineered → 126 model-ready (post OHE).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Collinearity Resolution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Derived child_loss, surviving_ratio from the r=0.98 collinear pair.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6793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Key Engineered Features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has_partner — 1 if partner education exists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education_gap — partner’s minus woman’s education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child_density — children / household size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arid_county — binary flag for 9 ASAL counties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is_in_union — currently in a union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employed — currently working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surviving_ratio — living / born (avoids r=0.98 collinearity)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All features traceable to specific EDA findings.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63824"/>
            <a:ext cx="12191695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Modeling &amp; Evaluation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CBD5E1"/>
                </a:solidFill>
                <a:latin typeface="Segoe UI"/>
              </a:defRPr>
            </a:pPr>
            <a:r>
              <a:t>Five models benchmarked: logistic regression to self-attention transformers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Model Comparison &amp;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45720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2062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Train-Test Split &amp; Resampling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Stratified 80/20 split. SMOTE on training data only, upsampling to 14,955 each.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Selection Verdict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LightGBM: best accuracy (72.4%) and Macro-AUC (0.798).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RF has best Macro-F1 (0.390) — a tradeoff worth noting for minority classes.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1508760"/>
            <a:ext cx="588233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33288" y="2688336"/>
          <a:ext cx="566287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813"/>
                <a:gridCol w="943813"/>
                <a:gridCol w="943813"/>
                <a:gridCol w="943813"/>
                <a:gridCol w="943813"/>
                <a:gridCol w="943814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Macro AUC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Modern Recall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Trad. Recall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LightGBM (Tuned)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0.367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~0%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70.6%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0.390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0.775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81%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Deep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70.3%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0.385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0.751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TabTransformer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64.8%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0.384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0.754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34%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Logistic Reg. (Base)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54.8%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0.764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Side-by-Side Model Evaluation Grid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18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108200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del_comparis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735" y="1691640"/>
            <a:ext cx="3336224" cy="4069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5852160"/>
            <a:ext cx="102714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defRPr sz="1000" b="0" i="1">
                <a:solidFill>
                  <a:srgbClr val="64748B"/>
                </a:solidFill>
                <a:latin typeface="Segoe UI"/>
              </a:defRPr>
            </a:pPr>
            <a:r>
              <a:t>5 models × 4 panels: Model-specific diagnostic • Confusion Matrix • ROC Curves • PR Curves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Deep Learning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19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Deep MLP (4-Layer PyTorch)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Linear(126→256)+BN+ReLU+Dropout × 3 layers + output head.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Accuracy: 70.3%, Modern recall: 75%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Macro-AUC: 0.751 — discrete survey data limits neural gains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TabTransformer (Self-Attention)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13 categorical embeddings (16-dim) + 2-head self-attention.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Accuracy: 64.8%, but Traditional recall: 34% (highest of all models)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Attention captures religion × county × union-status interactions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Verdict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TabTransformer promising for future work with more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6793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TabTransformer Architecture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13 categorical embeddings (16-dim)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2-head self-attention layer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Concatenated with projected numerics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MLP classification head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43,044 total parameters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Why It Matters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LightGBM and RF predict Traditional at 0–9% recall. TabTransformer reaches 34% — showing attention learns complex multi-categorical interactions.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Final Model: LightGBM (Selected for Deployment)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20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Why LightGBM Was Chosen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Best Macro-AUC (0.798), best accuracy (72.4%), native SHAP support, 5.6 MB bundle, sub-ms inference, no GPU.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Hold-Out Performance (n=6,432)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Accuracy: 72.4%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Macro-AUC: 0.798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Macro-F1: 0.367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Modern Recall: 71%  |  No-method Recall: 78%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Learning Curve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Validation loss plateaued at iteration 226, confirming no overfitting despite SMOTE expansion.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Success Criteria Gap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Planned: Acc ≥ 78%, AUC ≥ 0.82, F1 ≥ 0.75. Shortfalls trace to the Folkloric/Traditional long tail. On binary Modern vs No-method: AUC = 0.823 / 0.834.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gbm_evalu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947939"/>
            <a:ext cx="5059375" cy="17850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SHAP Panel A: High vs. Low Feature 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21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What This Shows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For each feature, red dot = HIGH value SHAP, blue dot = LOW value. Gap = discriminative power.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Key Drivers (SHAP weights from notebook)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Age (0.271): strongest driver. Older → modern use.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Living children (0.224): adoption after having children.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Employed (0.155): most policy-actionable lever.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Arid county (0.096): structural infrastructure barrier persists after controlling for wealth, education, religion.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is_in_union: clearest single enabler of modern use.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p_high_vs_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13894"/>
            <a:ext cx="5059375" cy="305317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SHAP Panel B: Global Feature Importance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22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Mean |SHAP| Value Per Feature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Averaged across all four classes and 1,500 test respondents.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Ranking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Age — by far the strongest overall (0.271)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Living children (0.224)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Employment status (0.155)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Arid county (0.096)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Region / county dummies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Age and living_children are universal discriminators across all four classes.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p_globa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315668"/>
            <a:ext cx="5059375" cy="304962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SHAP Panels C &amp; D: Two Real Women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23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Respondent C (“No method”, p=0.9994)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Young, never-married, zero children, no employment. Every feature pushes away from modern use.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Respondent D (“Modern”, p=1.0000)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Older, married, multiple children, employed. Age and living_children are the dominant positive drivers.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Why This Matters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Individual-level explanations build stakeholder trust and validate the model’s logic against domain knowledge.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p_waterfall_fo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52454"/>
            <a:ext cx="5059375" cy="337605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SHAP: Per-Class Breakdown &amp; Direction of Influence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24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Per-Class Breakdown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Age and living_children are tall bars for every class — universal discriminators.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Region/arid_county are disproportionately important for Traditional/Folkloric classes.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Direction Heatmap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is_in_union: deep red for Modern, blue for No-method — strongest enabler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arid_county: red for No-method, blue for Modern — infrastructure barrier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employed: enables Modern, penalizes No-method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ap_direc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002602"/>
            <a:ext cx="5059375" cy="36757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Summary of Key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25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106070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From the Notebook (10 Key Findings)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1. Target is heavily imbalanced: 58.1% no method, 37.9% modern, 3.8% traditional, 0.2% folkloric.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2. County is the biggest signal: modern use 1% (Mandera) to 57% (Embu).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3. No education: ~12% modern use. Any education: 37–46%.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4. Wealth is a cliff: Poorest at 25%, flat at 41–43% above.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5. Residence barely matters: urban and rural both ~38%.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6. Education outweighs wealth across every wealth group.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7. children_ever_born and living_children: r=0.98, one dropped.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8. LightGBM selected: best accuracy 72.4%, best Macro-AUC 0.798.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9. RF has best Macro-F1 (0.390 vs 0.367) — tradeoff for minority classes.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10. SHAP: age strongest, then living children; is_in_union top enabler; arid_county structural barrier.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63824"/>
            <a:ext cx="12191695" cy="228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3600" b="1" i="0">
                <a:solidFill>
                  <a:srgbClr val="FFFFFF"/>
                </a:solidFill>
                <a:latin typeface="Segoe UI"/>
              </a:defRPr>
            </a:pPr>
            <a:r>
              <a:t>Deployment &amp; Recommendations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CBD5E1"/>
                </a:solidFill>
                <a:latin typeface="Segoe UI"/>
              </a:defRPr>
            </a:pPr>
            <a:r>
              <a:t>From model to actionable policy impact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Deployment: Flask API on Render.com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27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51206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47548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Interactive Web Application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Deployed on Render.com for stakeholders (MoH, CHPs, UNFPA, USAID Kenya, FP2030).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Serve-Skew Prevention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feature_engineering.py is a shared module — identical transformations at training and serving.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Model Bundle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contraceptive_model_bundle.joblib (5.6 MB): model + preprocessor + label encoder.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33695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4967935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API Endpoints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600"/>
              </a:spcAft>
              <a:defRPr sz="1000" b="0" i="0">
                <a:solidFill>
                  <a:srgbClr val="0F172A"/>
                </a:solidFill>
                <a:latin typeface="Consolas"/>
              </a:defRPr>
            </a:pPr>
            <a:r>
              <a:t>GET  /              HTML Form Interface</a:t>
            </a:r>
            <a:br/>
            <a:r>
              <a:t>GET  /health        Liveness Check</a:t>
            </a:r>
            <a:br/>
            <a:r>
              <a:t>POST /predict       Single Prediction</a:t>
            </a:r>
            <a:br/>
            <a:r>
              <a:t>POST /predict_batch Batch Predictions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Live URL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kdhs-contraceptive-api.onrender.com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Auth: X-API-Key header required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Docker Support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600"/>
              </a:spcAft>
              <a:defRPr sz="1000" b="0" i="0">
                <a:solidFill>
                  <a:srgbClr val="0F172A"/>
                </a:solidFill>
                <a:latin typeface="Consolas"/>
              </a:defRPr>
            </a:pPr>
            <a:r>
              <a:t>docker build -t kdhs-api .</a:t>
            </a:r>
            <a:br/>
            <a:r>
              <a:t>docker run -p 5000:5000 kdhs-api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900" b="1" i="0">
                <a:solidFill>
                  <a:srgbClr val="0D9488"/>
                </a:solidFill>
                <a:latin typeface="Segoe UI"/>
              </a:defRPr>
            </a:pPr>
            <a:r>
              <a:t>CAPSTONE PROJECT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F172A"/>
                </a:solidFill>
                <a:latin typeface="Segoe UI"/>
              </a:defRPr>
            </a:pPr>
            <a:r>
              <a:t>Actionable Policy Recommendations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28 / 28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1060704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76200" dist="38100" dir="5400000" algn="tl" rotWithShape="0">
              <a:srgbClr val="000000">
                <a:alpha val="2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102412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1. Geographic Targeting (Highest Priority)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Mandera (1.2%), Wajir (2.8%), Garissa (4.5%), Marsabit (5.6%), Tana River (20.0%). SHAP weight 0.096 confirms the gap persists after controlling for wealth, education, religion. Fund mobile clinics.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2. Target Exposed Non-Users, Not All Non-Users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4-variable CHP filter: in union + not employed + Poorest + arid county. Young never-married childless women are non-exposed, not underserved.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3. Employment-Linked Programming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employed is the highest-ranked policy-tractable driver. Co-locate FP info with women’s economic empowerment programmes.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4. Subsidize the Poorest Quintile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24.9% → 40.8% at Poorer; then only 1.8pp gain above. Target subsidies at Poorest exclusively.</a:t>
            </a:r>
          </a:p>
          <a:p>
            <a:pPr>
              <a:lnSpc>
                <a:spcPct val="110000"/>
              </a:lnSpc>
              <a:spcBef>
                <a:spcPts val="800"/>
              </a:spcBef>
              <a:spcAft>
                <a:spcPts val="300"/>
              </a:spcAft>
              <a:defRPr sz="1400" b="1" i="0">
                <a:solidFill>
                  <a:srgbClr val="0D9488"/>
                </a:solidFill>
                <a:latin typeface="Segoe UI"/>
              </a:defRPr>
            </a:pPr>
            <a:r>
              <a:t>5. Model Limitations (Honest)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400"/>
              </a:spcAft>
              <a:defRPr sz="1100" b="0" i="0">
                <a:solidFill>
                  <a:srgbClr val="334155"/>
                </a:solidFill>
                <a:latin typeface="Segoe UI"/>
              </a:defRPr>
            </a:pPr>
            <a:r>
              <a:t>Folkloric (53 cases) and Traditional cannot be predicted reliably. Use as binary Modern/Non-use risk flag, not 4-class predictor.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defRPr sz="5200" b="1" i="0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800"/>
              </a:spcAft>
              <a:defRPr sz="3000" b="0" i="0">
                <a:solidFill>
                  <a:srgbClr val="D97706"/>
                </a:solidFill>
                <a:latin typeface="Segoe UI"/>
              </a:defRPr>
            </a:pPr>
            <a:r>
              <a:t>Questions &amp; Answers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94A3B8"/>
                </a:solidFill>
                <a:latin typeface="Segoe UI"/>
              </a:defRPr>
            </a:pPr>
            <a:r>
              <a:t>GitHub: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defRPr sz="1300" b="0" i="0">
                <a:solidFill>
                  <a:srgbClr val="CBD5E1"/>
                </a:solidFill>
                <a:latin typeface="Segoe UI"/>
              </a:defRPr>
            </a:pPr>
            <a:r>
              <a:t>github.com/symekah1999/Predicting-contraceptive-use-among-women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defRPr sz="1400" b="1" i="0">
                <a:solidFill>
                  <a:srgbClr val="94A3B8"/>
                </a:solidFill>
                <a:latin typeface="Segoe UI"/>
              </a:defRPr>
            </a:pPr>
            <a:r>
              <a:t>Live App: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CBD5E1"/>
                </a:solidFill>
                <a:latin typeface="Segoe UI"/>
              </a:defRPr>
            </a:pPr>
            <a:r>
              <a:t>kdhs-contraceptive-api.onrender.com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473952"/>
            <a:ext cx="1082009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108173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defRPr sz="900" b="0" i="0">
                <a:solidFill>
                  <a:srgbClr val="64748B"/>
                </a:solidFill>
                <a:latin typeface="Segoe UI"/>
              </a:defRPr>
            </a:pPr>
            <a:r>
              <a:t>Moringa School Capstone  •  The Insight Architects  •  29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