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7" r:id="rId3"/>
    <p:sldId id="257" r:id="rId4"/>
    <p:sldId id="258" r:id="rId5"/>
    <p:sldId id="259" r:id="rId6"/>
    <p:sldId id="260" r:id="rId7"/>
    <p:sldId id="261" r:id="rId8"/>
    <p:sldId id="262" r:id="rId9"/>
    <p:sldId id="263" r:id="rId10"/>
    <p:sldId id="264" r:id="rId11"/>
    <p:sldId id="265" r:id="rId12"/>
    <p:sldId id="266" r:id="rId13"/>
    <p:sldId id="279" r:id="rId14"/>
    <p:sldId id="267" r:id="rId15"/>
    <p:sldId id="268" r:id="rId16"/>
    <p:sldId id="276" r:id="rId17"/>
    <p:sldId id="269" r:id="rId18"/>
    <p:sldId id="270" r:id="rId19"/>
    <p:sldId id="271" r:id="rId20"/>
    <p:sldId id="278" r:id="rId21"/>
    <p:sldId id="273" r:id="rId22"/>
    <p:sldId id="272"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Cramér's V</c:v>
                </c:pt>
              </c:strCache>
            </c:strRef>
          </c:tx>
          <c:spPr>
            <a:solidFill>
              <a:srgbClr val="0E3B36"/>
            </a:solidFill>
            <a:effectLst/>
          </c:spPr>
          <c:invertIfNegative val="0"/>
          <c:dLbls>
            <c:numFmt formatCode="#,##0" sourceLinked="0"/>
            <c:spPr>
              <a:noFill/>
              <a:ln>
                <a:noFill/>
              </a:ln>
              <a:effectLst/>
            </c:spPr>
            <c:txPr>
              <a:bodyPr/>
              <a:lstStyle/>
              <a:p>
                <a:pPr>
                  <a:defRPr sz="1100" b="0" i="0" u="none" strike="noStrike">
                    <a:solidFill>
                      <a:srgbClr val="1B2E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Fertility history (has_given_birth)</c:v>
                </c:pt>
                <c:pt idx="1">
                  <c:v>County / geography</c:v>
                </c:pt>
                <c:pt idx="2">
                  <c:v>Union status (is_in_union)</c:v>
                </c:pt>
                <c:pt idx="3">
                  <c:v>Wealth index</c:v>
                </c:pt>
                <c:pt idx="4">
                  <c:v>Education level</c:v>
                </c:pt>
                <c:pt idx="5">
                  <c:v>Religion</c:v>
                </c:pt>
                <c:pt idx="6">
                  <c:v>Residence type (urban/rural)</c:v>
                </c:pt>
              </c:strCache>
            </c:strRef>
          </c:cat>
          <c:val>
            <c:numRef>
              <c:f>Sheet1!$B$2:$B$8</c:f>
              <c:numCache>
                <c:formatCode>General</c:formatCode>
                <c:ptCount val="7"/>
                <c:pt idx="0">
                  <c:v>0.41</c:v>
                </c:pt>
                <c:pt idx="1">
                  <c:v>0.37</c:v>
                </c:pt>
                <c:pt idx="2">
                  <c:v>0.23499999999999999</c:v>
                </c:pt>
                <c:pt idx="3">
                  <c:v>0.19</c:v>
                </c:pt>
                <c:pt idx="4">
                  <c:v>0.17</c:v>
                </c:pt>
                <c:pt idx="5">
                  <c:v>0.09</c:v>
                </c:pt>
                <c:pt idx="6">
                  <c:v>0.02</c:v>
                </c:pt>
              </c:numCache>
            </c:numRef>
          </c:val>
          <c:extLst>
            <c:ext xmlns:c16="http://schemas.microsoft.com/office/drawing/2014/chart" uri="{C3380CC4-5D6E-409C-BE32-E72D297353CC}">
              <c16:uniqueId val="{00000000-2EE2-4B93-9512-A4CEEFAC2AE1}"/>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E2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E6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102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1C435-80A4-0792-99D1-41D0F7DEB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47DFC-FBB9-75F9-CEBB-0F37BD13D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2C4BE-B64C-7116-9501-22203E1BE3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E210ED-A5EA-C134-FC16-C1E7C1891FA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21897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3B36"/>
          </a:solidFill>
          <a:ln/>
        </p:spPr>
        <p:txBody>
          <a:bodyPr/>
          <a:lstStyle/>
          <a:p>
            <a:endParaRPr lang="en-US"/>
          </a:p>
        </p:txBody>
      </p:sp>
      <p:sp>
        <p:nvSpPr>
          <p:cNvPr id="3" name="Shape 1"/>
          <p:cNvSpPr/>
          <p:nvPr/>
        </p:nvSpPr>
        <p:spPr>
          <a:xfrm>
            <a:off x="0" y="4892040"/>
            <a:ext cx="12188952" cy="1965960"/>
          </a:xfrm>
          <a:prstGeom prst="rect">
            <a:avLst/>
          </a:prstGeom>
          <a:solidFill>
            <a:srgbClr val="144742"/>
          </a:solidFill>
          <a:ln/>
        </p:spPr>
        <p:txBody>
          <a:bodyPr/>
          <a:lstStyle/>
          <a:p>
            <a:endParaRPr lang="en-US"/>
          </a:p>
        </p:txBody>
      </p:sp>
      <p:sp>
        <p:nvSpPr>
          <p:cNvPr id="4" name="Text 2"/>
          <p:cNvSpPr/>
          <p:nvPr/>
        </p:nvSpPr>
        <p:spPr>
          <a:xfrm>
            <a:off x="822960" y="822960"/>
            <a:ext cx="8229600" cy="365760"/>
          </a:xfrm>
          <a:prstGeom prst="rect">
            <a:avLst/>
          </a:prstGeom>
          <a:noFill/>
          <a:ln/>
        </p:spPr>
        <p:txBody>
          <a:bodyPr wrap="square" rtlCol="0" anchor="ctr"/>
          <a:lstStyle/>
          <a:p>
            <a:pPr marL="0" indent="0">
              <a:buNone/>
            </a:pPr>
            <a:r>
              <a:rPr lang="en-US" sz="1600" b="1" kern="0" spc="300" dirty="0">
                <a:solidFill>
                  <a:srgbClr val="D9A441"/>
                </a:solidFill>
                <a:latin typeface="Georgia" panose="02040502050405020303" pitchFamily="18" charset="0"/>
                <a:ea typeface="Verdana" pitchFamily="34" charset="-122"/>
                <a:cs typeface="Verdana" pitchFamily="34" charset="-120"/>
              </a:rPr>
              <a:t>THE INSIGHT ARCHITECTS</a:t>
            </a:r>
            <a:endParaRPr lang="en-US" sz="1600" dirty="0">
              <a:latin typeface="Georgia" panose="02040502050405020303" pitchFamily="18" charset="0"/>
            </a:endParaRPr>
          </a:p>
        </p:txBody>
      </p:sp>
      <p:sp>
        <p:nvSpPr>
          <p:cNvPr id="5" name="Text 3"/>
          <p:cNvSpPr/>
          <p:nvPr/>
        </p:nvSpPr>
        <p:spPr>
          <a:xfrm>
            <a:off x="822960" y="1371600"/>
            <a:ext cx="10241280" cy="1371600"/>
          </a:xfrm>
          <a:prstGeom prst="rect">
            <a:avLst/>
          </a:prstGeom>
          <a:noFill/>
          <a:ln/>
        </p:spPr>
        <p:txBody>
          <a:bodyPr wrap="square" rtlCol="0" anchor="ctr"/>
          <a:lstStyle/>
          <a:p>
            <a:pPr marL="0" indent="0">
              <a:buNone/>
            </a:pPr>
            <a:r>
              <a:rPr lang="en-US" sz="4800" b="1">
                <a:solidFill>
                  <a:srgbClr val="FFFFFF"/>
                </a:solidFill>
                <a:latin typeface="Georgia" panose="02040502050405020303" pitchFamily="18" charset="0"/>
                <a:ea typeface="Georgia" pitchFamily="34" charset="-122"/>
                <a:cs typeface="Georgia" pitchFamily="34" charset="-120"/>
              </a:rPr>
              <a:t>KDHS 2022: </a:t>
            </a:r>
            <a:r>
              <a:rPr lang="en-US" sz="4800" b="1" dirty="0">
                <a:solidFill>
                  <a:srgbClr val="FFFFFF"/>
                </a:solidFill>
                <a:latin typeface="Georgia" panose="02040502050405020303" pitchFamily="18" charset="0"/>
                <a:ea typeface="Georgia" pitchFamily="34" charset="-122"/>
                <a:cs typeface="Georgia" pitchFamily="34" charset="-120"/>
              </a:rPr>
              <a:t>Predicting Contraceptive Use</a:t>
            </a:r>
            <a:endParaRPr lang="en-US" sz="4800" dirty="0">
              <a:latin typeface="Georgia" panose="02040502050405020303" pitchFamily="18" charset="0"/>
            </a:endParaRPr>
          </a:p>
        </p:txBody>
      </p:sp>
      <p:sp>
        <p:nvSpPr>
          <p:cNvPr id="6" name="Text 4"/>
          <p:cNvSpPr/>
          <p:nvPr/>
        </p:nvSpPr>
        <p:spPr>
          <a:xfrm>
            <a:off x="822960" y="2606040"/>
            <a:ext cx="9601200" cy="457200"/>
          </a:xfrm>
          <a:prstGeom prst="rect">
            <a:avLst/>
          </a:prstGeom>
          <a:noFill/>
          <a:ln/>
        </p:spPr>
        <p:txBody>
          <a:bodyPr wrap="square" rtlCol="0" anchor="ctr"/>
          <a:lstStyle/>
          <a:p>
            <a:pPr marL="0" indent="0">
              <a:buNone/>
            </a:pPr>
            <a:r>
              <a:rPr lang="en-US" sz="2000" dirty="0">
                <a:solidFill>
                  <a:srgbClr val="BFE3DC"/>
                </a:solidFill>
                <a:latin typeface="Georgia" panose="02040502050405020303" pitchFamily="18" charset="0"/>
                <a:ea typeface="Verdana" pitchFamily="34" charset="-122"/>
                <a:cs typeface="Verdana" pitchFamily="34" charset="-120"/>
              </a:rPr>
              <a:t>Data Cleaning · EDA · Modelling · Explainability · Deployment</a:t>
            </a:r>
            <a:endParaRPr lang="en-US" sz="2000" dirty="0">
              <a:latin typeface="Georgia" panose="02040502050405020303" pitchFamily="18" charset="0"/>
            </a:endParaRPr>
          </a:p>
        </p:txBody>
      </p:sp>
      <p:sp>
        <p:nvSpPr>
          <p:cNvPr id="7" name="Shape 5"/>
          <p:cNvSpPr/>
          <p:nvPr/>
        </p:nvSpPr>
        <p:spPr>
          <a:xfrm>
            <a:off x="822960" y="3200400"/>
            <a:ext cx="2926080" cy="0"/>
          </a:xfrm>
          <a:prstGeom prst="line">
            <a:avLst/>
          </a:prstGeom>
          <a:noFill/>
          <a:ln w="25400">
            <a:solidFill>
              <a:srgbClr val="E2683F"/>
            </a:solidFill>
            <a:prstDash val="solid"/>
          </a:ln>
        </p:spPr>
        <p:txBody>
          <a:bodyPr/>
          <a:lstStyle/>
          <a:p>
            <a:endParaRPr lang="en-US"/>
          </a:p>
        </p:txBody>
      </p:sp>
      <p:sp>
        <p:nvSpPr>
          <p:cNvPr id="8" name="Text 6"/>
          <p:cNvSpPr/>
          <p:nvPr/>
        </p:nvSpPr>
        <p:spPr>
          <a:xfrm>
            <a:off x="822960" y="5166360"/>
            <a:ext cx="3291840" cy="365760"/>
          </a:xfrm>
          <a:prstGeom prst="rect">
            <a:avLst/>
          </a:prstGeom>
          <a:noFill/>
          <a:ln/>
        </p:spPr>
        <p:txBody>
          <a:bodyPr wrap="square" rtlCol="0" anchor="ctr"/>
          <a:lstStyle/>
          <a:p>
            <a:pPr marL="0" indent="0">
              <a:buNone/>
            </a:pPr>
            <a:r>
              <a:rPr lang="en-US" sz="1600" dirty="0">
                <a:solidFill>
                  <a:srgbClr val="FFFFFF"/>
                </a:solidFill>
                <a:latin typeface="Georgia" panose="02040502050405020303" pitchFamily="18" charset="0"/>
                <a:ea typeface="Verdana" pitchFamily="34" charset="-122"/>
              </a:rPr>
              <a:t>Claire Simiyu</a:t>
            </a:r>
            <a:endParaRPr lang="en-US" sz="1600" dirty="0">
              <a:latin typeface="Georgia" panose="02040502050405020303" pitchFamily="18" charset="0"/>
            </a:endParaRPr>
          </a:p>
        </p:txBody>
      </p:sp>
      <p:sp>
        <p:nvSpPr>
          <p:cNvPr id="9" name="Text 7"/>
          <p:cNvSpPr/>
          <p:nvPr/>
        </p:nvSpPr>
        <p:spPr>
          <a:xfrm>
            <a:off x="4389120" y="5166360"/>
            <a:ext cx="3291840" cy="365760"/>
          </a:xfrm>
          <a:prstGeom prst="rect">
            <a:avLst/>
          </a:prstGeom>
          <a:noFill/>
          <a:ln/>
        </p:spPr>
        <p:txBody>
          <a:bodyPr wrap="square" rtlCol="0" anchor="ctr"/>
          <a:lstStyle/>
          <a:p>
            <a:pPr marL="0" indent="0">
              <a:buNone/>
            </a:pPr>
            <a:r>
              <a:rPr lang="en-US" sz="1600" dirty="0">
                <a:solidFill>
                  <a:srgbClr val="FFFFFF"/>
                </a:solidFill>
                <a:latin typeface="Georgia" panose="02040502050405020303" pitchFamily="18" charset="0"/>
                <a:ea typeface="Verdana" pitchFamily="34" charset="-122"/>
              </a:rPr>
              <a:t>Antony Sila</a:t>
            </a:r>
            <a:endParaRPr lang="en-US" sz="1600" dirty="0">
              <a:latin typeface="Georgia" panose="02040502050405020303" pitchFamily="18" charset="0"/>
            </a:endParaRPr>
          </a:p>
        </p:txBody>
      </p:sp>
      <p:sp>
        <p:nvSpPr>
          <p:cNvPr id="10" name="Text 8"/>
          <p:cNvSpPr/>
          <p:nvPr/>
        </p:nvSpPr>
        <p:spPr>
          <a:xfrm>
            <a:off x="7955280" y="5166360"/>
            <a:ext cx="3291840" cy="365760"/>
          </a:xfrm>
          <a:prstGeom prst="rect">
            <a:avLst/>
          </a:prstGeom>
          <a:noFill/>
          <a:ln/>
        </p:spPr>
        <p:txBody>
          <a:bodyPr wrap="square" rtlCol="0" anchor="ctr"/>
          <a:lstStyle/>
          <a:p>
            <a:pPr marL="0" indent="0">
              <a:buNone/>
            </a:pPr>
            <a:r>
              <a:rPr lang="en-US" sz="1600" dirty="0">
                <a:solidFill>
                  <a:srgbClr val="FFFFFF"/>
                </a:solidFill>
                <a:latin typeface="Georgia" panose="02040502050405020303" pitchFamily="18" charset="0"/>
                <a:ea typeface="Verdana" pitchFamily="34" charset="-122"/>
              </a:rPr>
              <a:t>David Theuri</a:t>
            </a:r>
            <a:endParaRPr lang="en-US" sz="1600" dirty="0">
              <a:latin typeface="Georgia" panose="02040502050405020303" pitchFamily="18" charset="0"/>
            </a:endParaRPr>
          </a:p>
        </p:txBody>
      </p:sp>
      <p:sp>
        <p:nvSpPr>
          <p:cNvPr id="11" name="Text 9"/>
          <p:cNvSpPr/>
          <p:nvPr/>
        </p:nvSpPr>
        <p:spPr>
          <a:xfrm>
            <a:off x="822960" y="5760720"/>
            <a:ext cx="3291840" cy="365760"/>
          </a:xfrm>
          <a:prstGeom prst="rect">
            <a:avLst/>
          </a:prstGeom>
          <a:noFill/>
          <a:ln/>
        </p:spPr>
        <p:txBody>
          <a:bodyPr wrap="square" rtlCol="0" anchor="ctr"/>
          <a:lstStyle/>
          <a:p>
            <a:pPr marL="0" indent="0">
              <a:buNone/>
            </a:pPr>
            <a:r>
              <a:rPr lang="en-US" sz="1600" dirty="0">
                <a:solidFill>
                  <a:srgbClr val="FFFFFF"/>
                </a:solidFill>
                <a:latin typeface="Georgia" panose="02040502050405020303" pitchFamily="18" charset="0"/>
                <a:ea typeface="Verdana" pitchFamily="34" charset="-122"/>
              </a:rPr>
              <a:t>Shadrack Symekah</a:t>
            </a:r>
            <a:endParaRPr lang="en-US" sz="1600" dirty="0">
              <a:latin typeface="Georgia" panose="02040502050405020303" pitchFamily="18" charset="0"/>
            </a:endParaRPr>
          </a:p>
        </p:txBody>
      </p:sp>
      <p:sp>
        <p:nvSpPr>
          <p:cNvPr id="12" name="Text 10"/>
          <p:cNvSpPr/>
          <p:nvPr/>
        </p:nvSpPr>
        <p:spPr>
          <a:xfrm>
            <a:off x="4389120" y="5760720"/>
            <a:ext cx="3291840" cy="365760"/>
          </a:xfrm>
          <a:prstGeom prst="rect">
            <a:avLst/>
          </a:prstGeom>
          <a:noFill/>
          <a:ln/>
        </p:spPr>
        <p:txBody>
          <a:bodyPr wrap="square" rtlCol="0" anchor="ctr"/>
          <a:lstStyle/>
          <a:p>
            <a:pPr marL="0" indent="0">
              <a:buNone/>
            </a:pPr>
            <a:r>
              <a:rPr lang="en-US" sz="1600" dirty="0">
                <a:solidFill>
                  <a:srgbClr val="FFFFFF"/>
                </a:solidFill>
                <a:latin typeface="Georgia" panose="02040502050405020303" pitchFamily="18" charset="0"/>
                <a:ea typeface="Verdana" pitchFamily="34" charset="-122"/>
              </a:rPr>
              <a:t>Joy </a:t>
            </a:r>
            <a:r>
              <a:rPr lang="en-US" sz="1600" dirty="0" err="1">
                <a:solidFill>
                  <a:srgbClr val="FFFFFF"/>
                </a:solidFill>
                <a:latin typeface="Georgia" panose="02040502050405020303" pitchFamily="18" charset="0"/>
                <a:ea typeface="Verdana" pitchFamily="34" charset="-122"/>
              </a:rPr>
              <a:t>Nyuguto</a:t>
            </a:r>
            <a:r>
              <a:rPr lang="en-US" sz="1600" dirty="0">
                <a:solidFill>
                  <a:srgbClr val="FFFFFF"/>
                </a:solidFill>
                <a:latin typeface="Georgia" panose="02040502050405020303" pitchFamily="18" charset="0"/>
                <a:ea typeface="Verdana" pitchFamily="34" charset="-122"/>
              </a:rPr>
              <a:t> </a:t>
            </a:r>
            <a:endParaRPr lang="en-US" sz="1600" dirty="0">
              <a:latin typeface="Georgia" panose="02040502050405020303" pitchFamily="18" charset="0"/>
            </a:endParaRPr>
          </a:p>
        </p:txBody>
      </p:sp>
      <p:sp>
        <p:nvSpPr>
          <p:cNvPr id="13" name="Text 11"/>
          <p:cNvSpPr/>
          <p:nvPr/>
        </p:nvSpPr>
        <p:spPr>
          <a:xfrm>
            <a:off x="7955280" y="5760720"/>
            <a:ext cx="3291840" cy="365760"/>
          </a:xfrm>
          <a:prstGeom prst="rect">
            <a:avLst/>
          </a:prstGeom>
          <a:noFill/>
          <a:ln/>
        </p:spPr>
        <p:txBody>
          <a:bodyPr wrap="square" rtlCol="0" anchor="ctr"/>
          <a:lstStyle/>
          <a:p>
            <a:pPr marL="0" indent="0">
              <a:buNone/>
            </a:pPr>
            <a:r>
              <a:rPr lang="en-US" sz="1600" dirty="0">
                <a:solidFill>
                  <a:srgbClr val="FFFFFF"/>
                </a:solidFill>
                <a:latin typeface="Georgia" panose="02040502050405020303" pitchFamily="18" charset="0"/>
                <a:ea typeface="Verdana" pitchFamily="34" charset="-122"/>
              </a:rPr>
              <a:t>Martin </a:t>
            </a:r>
            <a:r>
              <a:rPr lang="en-US" sz="1600" dirty="0" err="1">
                <a:solidFill>
                  <a:srgbClr val="FFFFFF"/>
                </a:solidFill>
                <a:latin typeface="Georgia" panose="02040502050405020303" pitchFamily="18" charset="0"/>
                <a:ea typeface="Verdana" pitchFamily="34" charset="-122"/>
              </a:rPr>
              <a:t>Kitema</a:t>
            </a:r>
            <a:endParaRPr lang="en-US" sz="1600" dirty="0">
              <a:latin typeface="Georgia" panose="02040502050405020303" pitchFamily="18" charset="0"/>
            </a:endParaRPr>
          </a:p>
        </p:txBody>
      </p:sp>
      <p:sp>
        <p:nvSpPr>
          <p:cNvPr id="14" name="Text 12"/>
          <p:cNvSpPr/>
          <p:nvPr/>
        </p:nvSpPr>
        <p:spPr>
          <a:xfrm>
            <a:off x="7863840" y="822960"/>
            <a:ext cx="3657600" cy="365760"/>
          </a:xfrm>
          <a:prstGeom prst="rect">
            <a:avLst/>
          </a:prstGeom>
          <a:noFill/>
          <a:ln/>
        </p:spPr>
        <p:txBody>
          <a:bodyPr wrap="square" rtlCol="0" anchor="ctr"/>
          <a:lstStyle/>
          <a:p>
            <a:pPr marL="0" indent="0" algn="r">
              <a:buNone/>
            </a:pPr>
            <a:r>
              <a:rPr lang="en-US" sz="1400" dirty="0">
                <a:solidFill>
                  <a:srgbClr val="BFE3DC"/>
                </a:solidFill>
                <a:latin typeface="Georgia" panose="02040502050405020303" pitchFamily="18" charset="0"/>
                <a:ea typeface="Verdana" pitchFamily="34" charset="-122"/>
                <a:cs typeface="Verdana" pitchFamily="34" charset="-120"/>
              </a:rPr>
              <a:t>Live API:  kdhs-contraceptive-api.onrender.com</a:t>
            </a:r>
            <a:endParaRPr lang="en-US" sz="1400" dirty="0">
              <a:latin typeface="Georgia" panose="02040502050405020303" pitchFamily="18" charset="0"/>
            </a:endParaRPr>
          </a:p>
        </p:txBody>
      </p:sp>
      <p:sp>
        <p:nvSpPr>
          <p:cNvPr id="15" name="Text 13"/>
          <p:cNvSpPr/>
          <p:nvPr/>
        </p:nvSpPr>
        <p:spPr>
          <a:xfrm>
            <a:off x="11430000" y="6473952"/>
            <a:ext cx="640080" cy="274320"/>
          </a:xfrm>
          <a:prstGeom prst="rect">
            <a:avLst/>
          </a:prstGeom>
          <a:noFill/>
          <a:ln/>
        </p:spPr>
        <p:txBody>
          <a:bodyPr wrap="square" rtlCol="0" anchor="ctr"/>
          <a:lstStyle/>
          <a:p>
            <a:pPr marL="0" indent="0" algn="r">
              <a:buNone/>
            </a:pPr>
            <a:r>
              <a:rPr lang="en-US" sz="1050" dirty="0">
                <a:solidFill>
                  <a:srgbClr val="5C6E6A"/>
                </a:solidFill>
                <a:latin typeface="Georgia" panose="02040502050405020303" pitchFamily="18" charset="0"/>
                <a:ea typeface="Verdana" pitchFamily="34" charset="-122"/>
                <a:cs typeface="Verdana" pitchFamily="34" charset="-120"/>
              </a:rPr>
              <a:t>01 / 22</a:t>
            </a:r>
            <a:endParaRPr lang="en-US" sz="105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B31888-4E97-B2A4-D42D-DD5487EDA34F}"/>
              </a:ext>
            </a:extLst>
          </p:cNvPr>
          <p:cNvSpPr txBox="1"/>
          <p:nvPr/>
        </p:nvSpPr>
        <p:spPr>
          <a:xfrm>
            <a:off x="355369" y="172610"/>
            <a:ext cx="6097384" cy="276999"/>
          </a:xfrm>
          <a:prstGeom prst="rect">
            <a:avLst/>
          </a:prstGeom>
          <a:noFill/>
        </p:spPr>
        <p:txBody>
          <a:bodyPr wrap="square">
            <a:spAutoFit/>
          </a:bodyPr>
          <a:lstStyle/>
          <a:p>
            <a:pPr marL="0" indent="0">
              <a:buNone/>
            </a:pPr>
            <a:r>
              <a:rPr lang="en-US" sz="1200" b="1" kern="0" spc="200" dirty="0">
                <a:solidFill>
                  <a:srgbClr val="E2683F"/>
                </a:solidFill>
                <a:latin typeface="Georgia" panose="02040502050405020303" pitchFamily="18" charset="0"/>
                <a:ea typeface="Verdana" pitchFamily="34" charset="-122"/>
                <a:cs typeface="Verdana" pitchFamily="34" charset="-120"/>
              </a:rPr>
              <a:t>BUSINESS UNDERSTANDING</a:t>
            </a:r>
            <a:endParaRPr lang="en-US" sz="1200" dirty="0">
              <a:latin typeface="Georgia" panose="02040502050405020303" pitchFamily="18" charset="0"/>
            </a:endParaRPr>
          </a:p>
        </p:txBody>
      </p:sp>
      <p:sp>
        <p:nvSpPr>
          <p:cNvPr id="5" name="TextBox 4">
            <a:extLst>
              <a:ext uri="{FF2B5EF4-FFF2-40B4-BE49-F238E27FC236}">
                <a16:creationId xmlns:a16="http://schemas.microsoft.com/office/drawing/2014/main" id="{C6DA21FA-D187-4A54-75D4-C97732EB936E}"/>
              </a:ext>
            </a:extLst>
          </p:cNvPr>
          <p:cNvSpPr txBox="1"/>
          <p:nvPr/>
        </p:nvSpPr>
        <p:spPr>
          <a:xfrm>
            <a:off x="355368" y="434220"/>
            <a:ext cx="9744595" cy="584775"/>
          </a:xfrm>
          <a:prstGeom prst="rect">
            <a:avLst/>
          </a:prstGeom>
          <a:noFill/>
        </p:spPr>
        <p:txBody>
          <a:bodyPr wrap="square">
            <a:spAutoFit/>
          </a:bodyPr>
          <a:lstStyle/>
          <a:p>
            <a:pPr marL="0" indent="0" algn="l">
              <a:buNone/>
            </a:pPr>
            <a:r>
              <a:rPr lang="en-US" sz="3200" b="1" dirty="0">
                <a:solidFill>
                  <a:srgbClr val="0E3B36"/>
                </a:solidFill>
                <a:latin typeface="Georgia" panose="02040502050405020303" pitchFamily="18" charset="0"/>
                <a:ea typeface="Georgia" pitchFamily="34" charset="-122"/>
                <a:cs typeface="Georgia" pitchFamily="34" charset="-120"/>
              </a:rPr>
              <a:t>Problem Statement &amp; Stakeholders</a:t>
            </a:r>
            <a:endParaRPr lang="en-US" sz="3200" dirty="0">
              <a:latin typeface="Georgia" panose="02040502050405020303" pitchFamily="18" charset="0"/>
            </a:endParaRPr>
          </a:p>
        </p:txBody>
      </p:sp>
      <p:sp>
        <p:nvSpPr>
          <p:cNvPr id="7" name="Shape 2">
            <a:extLst>
              <a:ext uri="{FF2B5EF4-FFF2-40B4-BE49-F238E27FC236}">
                <a16:creationId xmlns:a16="http://schemas.microsoft.com/office/drawing/2014/main" id="{131ABDAD-EDB3-5220-C6DF-D8E8F3738D3B}"/>
              </a:ext>
            </a:extLst>
          </p:cNvPr>
          <p:cNvSpPr/>
          <p:nvPr/>
        </p:nvSpPr>
        <p:spPr>
          <a:xfrm>
            <a:off x="355366" y="1019147"/>
            <a:ext cx="6492240" cy="4160520"/>
          </a:xfrm>
          <a:prstGeom prst="roundRect">
            <a:avLst>
              <a:gd name="adj" fmla="val 2198"/>
            </a:avLst>
          </a:prstGeom>
          <a:solidFill>
            <a:srgbClr val="F6F3EC"/>
          </a:solidFill>
          <a:ln/>
        </p:spPr>
        <p:txBody>
          <a:bodyPr/>
          <a:lstStyle/>
          <a:p>
            <a:endParaRPr lang="en-US"/>
          </a:p>
        </p:txBody>
      </p:sp>
      <p:sp>
        <p:nvSpPr>
          <p:cNvPr id="9" name="TextBox 8">
            <a:extLst>
              <a:ext uri="{FF2B5EF4-FFF2-40B4-BE49-F238E27FC236}">
                <a16:creationId xmlns:a16="http://schemas.microsoft.com/office/drawing/2014/main" id="{F6881710-72C0-A03B-8F7D-481CBE7755D0}"/>
              </a:ext>
            </a:extLst>
          </p:cNvPr>
          <p:cNvSpPr txBox="1"/>
          <p:nvPr/>
        </p:nvSpPr>
        <p:spPr>
          <a:xfrm>
            <a:off x="355369" y="1249828"/>
            <a:ext cx="6097384" cy="276999"/>
          </a:xfrm>
          <a:prstGeom prst="rect">
            <a:avLst/>
          </a:prstGeom>
          <a:noFill/>
        </p:spPr>
        <p:txBody>
          <a:bodyPr wrap="square">
            <a:spAutoFit/>
          </a:bodyPr>
          <a:lstStyle/>
          <a:p>
            <a:pPr marL="0" indent="0">
              <a:buNone/>
            </a:pPr>
            <a:r>
              <a:rPr lang="en-US" sz="1200" b="1" kern="0" spc="100" dirty="0">
                <a:solidFill>
                  <a:srgbClr val="E2683F"/>
                </a:solidFill>
                <a:latin typeface="Georgia" panose="02040502050405020303" pitchFamily="18" charset="0"/>
                <a:ea typeface="Verdana" pitchFamily="34" charset="-122"/>
                <a:cs typeface="Verdana" pitchFamily="34" charset="-120"/>
              </a:rPr>
              <a:t>The Problem</a:t>
            </a:r>
            <a:endParaRPr lang="en-US" sz="1200" dirty="0">
              <a:latin typeface="Georgia" panose="02040502050405020303" pitchFamily="18" charset="0"/>
            </a:endParaRPr>
          </a:p>
        </p:txBody>
      </p:sp>
      <p:sp>
        <p:nvSpPr>
          <p:cNvPr id="11" name="TextBox 10">
            <a:extLst>
              <a:ext uri="{FF2B5EF4-FFF2-40B4-BE49-F238E27FC236}">
                <a16:creationId xmlns:a16="http://schemas.microsoft.com/office/drawing/2014/main" id="{25C3AF6D-E789-16EC-84BC-A7B7B1DFF264}"/>
              </a:ext>
            </a:extLst>
          </p:cNvPr>
          <p:cNvSpPr txBox="1"/>
          <p:nvPr/>
        </p:nvSpPr>
        <p:spPr>
          <a:xfrm>
            <a:off x="355367" y="1640044"/>
            <a:ext cx="6097384" cy="954107"/>
          </a:xfrm>
          <a:prstGeom prst="rect">
            <a:avLst/>
          </a:prstGeom>
          <a:noFill/>
        </p:spPr>
        <p:txBody>
          <a:bodyPr wrap="square">
            <a:spAutoFit/>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Kenya's modern contraceptive prevalence rate is ~60% nationally — but that average hides major geographic and socioeconomic inequality. In arid and semi-arid counties (Turkana, West Pokot, Mandera), uptake falls 20–30 points below the national average.</a:t>
            </a:r>
            <a:endParaRPr lang="en-US" sz="1400" dirty="0">
              <a:latin typeface="Georgia" panose="02040502050405020303" pitchFamily="18" charset="0"/>
            </a:endParaRPr>
          </a:p>
        </p:txBody>
      </p:sp>
      <p:sp>
        <p:nvSpPr>
          <p:cNvPr id="13" name="TextBox 12">
            <a:extLst>
              <a:ext uri="{FF2B5EF4-FFF2-40B4-BE49-F238E27FC236}">
                <a16:creationId xmlns:a16="http://schemas.microsoft.com/office/drawing/2014/main" id="{FD51ADEA-F6A3-0DC8-D55D-4B9B6C56F1CB}"/>
              </a:ext>
            </a:extLst>
          </p:cNvPr>
          <p:cNvSpPr txBox="1"/>
          <p:nvPr/>
        </p:nvSpPr>
        <p:spPr>
          <a:xfrm>
            <a:off x="355366" y="2484230"/>
            <a:ext cx="6097384" cy="738664"/>
          </a:xfrm>
          <a:prstGeom prst="rect">
            <a:avLst/>
          </a:prstGeom>
          <a:noFill/>
        </p:spPr>
        <p:txBody>
          <a:bodyPr wrap="square">
            <a:spAutoFit/>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Without data-driven segmentation of at-risk populations, health interventions get spread uniformly rather than targeted where they're needed most.</a:t>
            </a:r>
            <a:endParaRPr lang="en-US" sz="1400" dirty="0">
              <a:latin typeface="Georgia" panose="02040502050405020303" pitchFamily="18" charset="0"/>
            </a:endParaRPr>
          </a:p>
        </p:txBody>
      </p:sp>
      <p:sp>
        <p:nvSpPr>
          <p:cNvPr id="15" name="TextBox 14">
            <a:extLst>
              <a:ext uri="{FF2B5EF4-FFF2-40B4-BE49-F238E27FC236}">
                <a16:creationId xmlns:a16="http://schemas.microsoft.com/office/drawing/2014/main" id="{D2488FF1-F2D0-A38D-1B50-7DB07DA1D9EF}"/>
              </a:ext>
            </a:extLst>
          </p:cNvPr>
          <p:cNvSpPr txBox="1"/>
          <p:nvPr/>
        </p:nvSpPr>
        <p:spPr>
          <a:xfrm>
            <a:off x="355369" y="3322818"/>
            <a:ext cx="6097384" cy="276999"/>
          </a:xfrm>
          <a:prstGeom prst="rect">
            <a:avLst/>
          </a:prstGeom>
          <a:noFill/>
        </p:spPr>
        <p:txBody>
          <a:bodyPr wrap="square">
            <a:spAutoFit/>
          </a:bodyPr>
          <a:lstStyle/>
          <a:p>
            <a:pPr marL="0" indent="0">
              <a:buNone/>
            </a:pPr>
            <a:r>
              <a:rPr lang="en-US" sz="1200" b="1" kern="0" spc="100" dirty="0">
                <a:solidFill>
                  <a:srgbClr val="E2683F"/>
                </a:solidFill>
                <a:latin typeface="Georgia" panose="02040502050405020303" pitchFamily="18" charset="0"/>
                <a:ea typeface="Verdana" pitchFamily="34" charset="-122"/>
                <a:cs typeface="Verdana" pitchFamily="34" charset="-120"/>
              </a:rPr>
              <a:t>Objective</a:t>
            </a:r>
            <a:endParaRPr lang="en-US" sz="1200" dirty="0">
              <a:latin typeface="Georgia" panose="02040502050405020303" pitchFamily="18" charset="0"/>
            </a:endParaRPr>
          </a:p>
        </p:txBody>
      </p:sp>
      <p:sp>
        <p:nvSpPr>
          <p:cNvPr id="17" name="TextBox 16">
            <a:extLst>
              <a:ext uri="{FF2B5EF4-FFF2-40B4-BE49-F238E27FC236}">
                <a16:creationId xmlns:a16="http://schemas.microsoft.com/office/drawing/2014/main" id="{068D9CF5-9E4E-F763-C8EA-35C4A1925CB4}"/>
              </a:ext>
            </a:extLst>
          </p:cNvPr>
          <p:cNvSpPr txBox="1"/>
          <p:nvPr/>
        </p:nvSpPr>
        <p:spPr>
          <a:xfrm>
            <a:off x="355367" y="3686769"/>
            <a:ext cx="6097384" cy="738664"/>
          </a:xfrm>
          <a:prstGeom prst="rect">
            <a:avLst/>
          </a:prstGeom>
          <a:noFill/>
        </p:spPr>
        <p:txBody>
          <a:bodyPr wrap="square">
            <a:spAutoFit/>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Build a model that predicts contraceptive use among Kenyan women aged 15–49 using sociodemographic features, and identify which factors most strongly drive or prevent modern-method uptake.</a:t>
            </a:r>
            <a:endParaRPr lang="en-US" sz="1400" dirty="0">
              <a:latin typeface="Georgia" panose="02040502050405020303" pitchFamily="18" charset="0"/>
            </a:endParaRPr>
          </a:p>
        </p:txBody>
      </p:sp>
      <p:sp>
        <p:nvSpPr>
          <p:cNvPr id="19" name="Shape 16">
            <a:extLst>
              <a:ext uri="{FF2B5EF4-FFF2-40B4-BE49-F238E27FC236}">
                <a16:creationId xmlns:a16="http://schemas.microsoft.com/office/drawing/2014/main" id="{136606D8-66B8-BE59-2E73-7E5192652084}"/>
              </a:ext>
            </a:extLst>
          </p:cNvPr>
          <p:cNvSpPr/>
          <p:nvPr/>
        </p:nvSpPr>
        <p:spPr>
          <a:xfrm>
            <a:off x="7447511" y="1149309"/>
            <a:ext cx="4389120" cy="5074920"/>
          </a:xfrm>
          <a:prstGeom prst="roundRect">
            <a:avLst>
              <a:gd name="adj" fmla="val 2083"/>
            </a:avLst>
          </a:prstGeom>
          <a:solidFill>
            <a:srgbClr val="0E3B36"/>
          </a:solidFill>
          <a:ln/>
        </p:spPr>
        <p:txBody>
          <a:bodyPr/>
          <a:lstStyle/>
          <a:p>
            <a:endParaRPr lang="en-US"/>
          </a:p>
        </p:txBody>
      </p:sp>
      <p:sp>
        <p:nvSpPr>
          <p:cNvPr id="21" name="TextBox 20">
            <a:extLst>
              <a:ext uri="{FF2B5EF4-FFF2-40B4-BE49-F238E27FC236}">
                <a16:creationId xmlns:a16="http://schemas.microsoft.com/office/drawing/2014/main" id="{272F482F-7661-B206-D23E-C3D755E45911}"/>
              </a:ext>
            </a:extLst>
          </p:cNvPr>
          <p:cNvSpPr txBox="1"/>
          <p:nvPr/>
        </p:nvSpPr>
        <p:spPr>
          <a:xfrm>
            <a:off x="7529253" y="1378434"/>
            <a:ext cx="6097384" cy="276999"/>
          </a:xfrm>
          <a:prstGeom prst="rect">
            <a:avLst/>
          </a:prstGeom>
          <a:noFill/>
        </p:spPr>
        <p:txBody>
          <a:bodyPr wrap="square">
            <a:spAutoFit/>
          </a:bodyPr>
          <a:lstStyle/>
          <a:p>
            <a:pPr marL="0" indent="0">
              <a:buNone/>
            </a:pPr>
            <a:r>
              <a:rPr lang="en-US" sz="1200" b="1" kern="0" spc="100" dirty="0">
                <a:solidFill>
                  <a:srgbClr val="D9A441"/>
                </a:solidFill>
                <a:latin typeface="Georgia" panose="02040502050405020303" pitchFamily="18" charset="0"/>
                <a:ea typeface="Verdana" pitchFamily="34" charset="-122"/>
                <a:cs typeface="Verdana" pitchFamily="34" charset="-120"/>
              </a:rPr>
              <a:t>Who Uses This Model</a:t>
            </a:r>
            <a:endParaRPr lang="en-US" sz="1200" dirty="0">
              <a:latin typeface="Georgia" panose="02040502050405020303" pitchFamily="18" charset="0"/>
            </a:endParaRPr>
          </a:p>
        </p:txBody>
      </p:sp>
      <p:sp>
        <p:nvSpPr>
          <p:cNvPr id="23" name="Shape 18">
            <a:extLst>
              <a:ext uri="{FF2B5EF4-FFF2-40B4-BE49-F238E27FC236}">
                <a16:creationId xmlns:a16="http://schemas.microsoft.com/office/drawing/2014/main" id="{BB3F9E57-A32E-5A48-DFA7-440308A27F4C}"/>
              </a:ext>
            </a:extLst>
          </p:cNvPr>
          <p:cNvSpPr/>
          <p:nvPr/>
        </p:nvSpPr>
        <p:spPr>
          <a:xfrm>
            <a:off x="7498080" y="1783080"/>
            <a:ext cx="128016" cy="128016"/>
          </a:xfrm>
          <a:prstGeom prst="roundRect">
            <a:avLst>
              <a:gd name="adj" fmla="val 50000"/>
            </a:avLst>
          </a:prstGeom>
          <a:solidFill>
            <a:srgbClr val="D9A441"/>
          </a:solidFill>
          <a:ln/>
        </p:spPr>
        <p:txBody>
          <a:bodyPr/>
          <a:lstStyle/>
          <a:p>
            <a:endParaRPr lang="en-US"/>
          </a:p>
        </p:txBody>
      </p:sp>
      <p:sp>
        <p:nvSpPr>
          <p:cNvPr id="25" name="TextBox 24">
            <a:extLst>
              <a:ext uri="{FF2B5EF4-FFF2-40B4-BE49-F238E27FC236}">
                <a16:creationId xmlns:a16="http://schemas.microsoft.com/office/drawing/2014/main" id="{86A3F83E-F0AE-690E-440A-01A1A2FF45C8}"/>
              </a:ext>
            </a:extLst>
          </p:cNvPr>
          <p:cNvSpPr txBox="1"/>
          <p:nvPr/>
        </p:nvSpPr>
        <p:spPr>
          <a:xfrm>
            <a:off x="7634332" y="1734517"/>
            <a:ext cx="6811432" cy="276999"/>
          </a:xfrm>
          <a:prstGeom prst="rect">
            <a:avLst/>
          </a:prstGeom>
          <a:noFill/>
        </p:spPr>
        <p:txBody>
          <a:bodyPr wrap="square">
            <a:spAutoFit/>
          </a:bodyPr>
          <a:lstStyle/>
          <a:p>
            <a:pPr marL="0" indent="0">
              <a:buNone/>
            </a:pPr>
            <a:r>
              <a:rPr lang="en-US" sz="1200" b="1" dirty="0">
                <a:solidFill>
                  <a:srgbClr val="FFFFFF"/>
                </a:solidFill>
                <a:latin typeface="Georgia" panose="02040502050405020303" pitchFamily="18" charset="0"/>
                <a:ea typeface="Verdana" pitchFamily="34" charset="-122"/>
                <a:cs typeface="Verdana" pitchFamily="34" charset="-120"/>
              </a:rPr>
              <a:t>Kenya MoH — Reproductive Health</a:t>
            </a:r>
            <a:endParaRPr lang="en-US" sz="1200" dirty="0">
              <a:latin typeface="Georgia" panose="02040502050405020303" pitchFamily="18" charset="0"/>
            </a:endParaRPr>
          </a:p>
        </p:txBody>
      </p:sp>
      <p:sp>
        <p:nvSpPr>
          <p:cNvPr id="27" name="TextBox 26">
            <a:extLst>
              <a:ext uri="{FF2B5EF4-FFF2-40B4-BE49-F238E27FC236}">
                <a16:creationId xmlns:a16="http://schemas.microsoft.com/office/drawing/2014/main" id="{E56B5401-14BE-C56D-74D3-B8D872F938BD}"/>
              </a:ext>
            </a:extLst>
          </p:cNvPr>
          <p:cNvSpPr txBox="1"/>
          <p:nvPr/>
        </p:nvSpPr>
        <p:spPr>
          <a:xfrm>
            <a:off x="7634332" y="2003821"/>
            <a:ext cx="7222066" cy="253916"/>
          </a:xfrm>
          <a:prstGeom prst="rect">
            <a:avLst/>
          </a:prstGeom>
          <a:noFill/>
        </p:spPr>
        <p:txBody>
          <a:bodyPr wrap="square">
            <a:spAutoFit/>
          </a:bodyPr>
          <a:lstStyle/>
          <a:p>
            <a:pPr marL="0" indent="0">
              <a:buNone/>
            </a:pPr>
            <a:r>
              <a:rPr lang="en-US" sz="1050" dirty="0">
                <a:solidFill>
                  <a:srgbClr val="D7E8E3"/>
                </a:solidFill>
                <a:latin typeface="Georgia" panose="02040502050405020303" pitchFamily="18" charset="0"/>
                <a:ea typeface="Verdana" pitchFamily="34" charset="-122"/>
                <a:cs typeface="Verdana" pitchFamily="34" charset="-120"/>
              </a:rPr>
              <a:t>Allocate field officers and resources to highest-non-use groups</a:t>
            </a:r>
            <a:endParaRPr lang="en-US" sz="1050" dirty="0">
              <a:latin typeface="Georgia" panose="02040502050405020303" pitchFamily="18" charset="0"/>
            </a:endParaRPr>
          </a:p>
        </p:txBody>
      </p:sp>
      <p:sp>
        <p:nvSpPr>
          <p:cNvPr id="29" name="Shape 21">
            <a:extLst>
              <a:ext uri="{FF2B5EF4-FFF2-40B4-BE49-F238E27FC236}">
                <a16:creationId xmlns:a16="http://schemas.microsoft.com/office/drawing/2014/main" id="{8FACD249-B992-870C-A271-1C9EC99F4C78}"/>
              </a:ext>
            </a:extLst>
          </p:cNvPr>
          <p:cNvSpPr/>
          <p:nvPr/>
        </p:nvSpPr>
        <p:spPr>
          <a:xfrm>
            <a:off x="7498080" y="2496312"/>
            <a:ext cx="128016" cy="128016"/>
          </a:xfrm>
          <a:prstGeom prst="roundRect">
            <a:avLst>
              <a:gd name="adj" fmla="val 50000"/>
            </a:avLst>
          </a:prstGeom>
          <a:solidFill>
            <a:srgbClr val="D9A441"/>
          </a:solidFill>
          <a:ln/>
        </p:spPr>
        <p:txBody>
          <a:bodyPr/>
          <a:lstStyle/>
          <a:p>
            <a:endParaRPr lang="en-US"/>
          </a:p>
        </p:txBody>
      </p:sp>
      <p:sp>
        <p:nvSpPr>
          <p:cNvPr id="31" name="TextBox 30">
            <a:extLst>
              <a:ext uri="{FF2B5EF4-FFF2-40B4-BE49-F238E27FC236}">
                <a16:creationId xmlns:a16="http://schemas.microsoft.com/office/drawing/2014/main" id="{CA41E918-41F0-EA4A-7872-ED599E06447A}"/>
              </a:ext>
            </a:extLst>
          </p:cNvPr>
          <p:cNvSpPr txBox="1"/>
          <p:nvPr/>
        </p:nvSpPr>
        <p:spPr>
          <a:xfrm>
            <a:off x="7626096" y="2425668"/>
            <a:ext cx="7429500" cy="276999"/>
          </a:xfrm>
          <a:prstGeom prst="rect">
            <a:avLst/>
          </a:prstGeom>
          <a:noFill/>
        </p:spPr>
        <p:txBody>
          <a:bodyPr wrap="square">
            <a:spAutoFit/>
          </a:bodyPr>
          <a:lstStyle/>
          <a:p>
            <a:pPr marL="0" indent="0">
              <a:buNone/>
            </a:pPr>
            <a:r>
              <a:rPr lang="en-US" sz="1200" b="1" dirty="0">
                <a:solidFill>
                  <a:srgbClr val="FFFFFF"/>
                </a:solidFill>
                <a:latin typeface="Georgia" panose="02040502050405020303" pitchFamily="18" charset="0"/>
                <a:ea typeface="Verdana" pitchFamily="34" charset="-122"/>
                <a:cs typeface="Verdana" pitchFamily="34" charset="-120"/>
              </a:rPr>
              <a:t>County Health Management Teams</a:t>
            </a:r>
            <a:endParaRPr lang="en-US" sz="1200" dirty="0">
              <a:latin typeface="Georgia" panose="02040502050405020303" pitchFamily="18" charset="0"/>
            </a:endParaRPr>
          </a:p>
        </p:txBody>
      </p:sp>
      <p:sp>
        <p:nvSpPr>
          <p:cNvPr id="33" name="TextBox 32">
            <a:extLst>
              <a:ext uri="{FF2B5EF4-FFF2-40B4-BE49-F238E27FC236}">
                <a16:creationId xmlns:a16="http://schemas.microsoft.com/office/drawing/2014/main" id="{8EB884F1-959E-B210-922C-D995CC507937}"/>
              </a:ext>
            </a:extLst>
          </p:cNvPr>
          <p:cNvSpPr txBox="1"/>
          <p:nvPr/>
        </p:nvSpPr>
        <p:spPr>
          <a:xfrm>
            <a:off x="7634332" y="2709646"/>
            <a:ext cx="7526866" cy="253916"/>
          </a:xfrm>
          <a:prstGeom prst="rect">
            <a:avLst/>
          </a:prstGeom>
          <a:noFill/>
        </p:spPr>
        <p:txBody>
          <a:bodyPr wrap="square">
            <a:spAutoFit/>
          </a:bodyPr>
          <a:lstStyle/>
          <a:p>
            <a:pPr marL="0" indent="0">
              <a:buNone/>
            </a:pPr>
            <a:r>
              <a:rPr lang="en-US" sz="1050" dirty="0">
                <a:solidFill>
                  <a:srgbClr val="D7E8E3"/>
                </a:solidFill>
                <a:latin typeface="Georgia" panose="02040502050405020303" pitchFamily="18" charset="0"/>
                <a:ea typeface="Verdana" pitchFamily="34" charset="-122"/>
                <a:cs typeface="Verdana" pitchFamily="34" charset="-120"/>
              </a:rPr>
              <a:t>Generate county-specific risk profiles for local outreach</a:t>
            </a:r>
            <a:endParaRPr lang="en-US" sz="1050" dirty="0">
              <a:latin typeface="Georgia" panose="02040502050405020303" pitchFamily="18" charset="0"/>
            </a:endParaRPr>
          </a:p>
        </p:txBody>
      </p:sp>
      <p:sp>
        <p:nvSpPr>
          <p:cNvPr id="35" name="Shape 24">
            <a:extLst>
              <a:ext uri="{FF2B5EF4-FFF2-40B4-BE49-F238E27FC236}">
                <a16:creationId xmlns:a16="http://schemas.microsoft.com/office/drawing/2014/main" id="{B9944DFA-2A35-C044-2FD8-D22A8C14237D}"/>
              </a:ext>
            </a:extLst>
          </p:cNvPr>
          <p:cNvSpPr/>
          <p:nvPr/>
        </p:nvSpPr>
        <p:spPr>
          <a:xfrm>
            <a:off x="7498080" y="3209544"/>
            <a:ext cx="128016" cy="128016"/>
          </a:xfrm>
          <a:prstGeom prst="roundRect">
            <a:avLst>
              <a:gd name="adj" fmla="val 50000"/>
            </a:avLst>
          </a:prstGeom>
          <a:solidFill>
            <a:srgbClr val="D9A441"/>
          </a:solidFill>
          <a:ln/>
        </p:spPr>
        <p:txBody>
          <a:bodyPr/>
          <a:lstStyle/>
          <a:p>
            <a:endParaRPr lang="en-US"/>
          </a:p>
        </p:txBody>
      </p:sp>
      <p:sp>
        <p:nvSpPr>
          <p:cNvPr id="37" name="TextBox 36">
            <a:extLst>
              <a:ext uri="{FF2B5EF4-FFF2-40B4-BE49-F238E27FC236}">
                <a16:creationId xmlns:a16="http://schemas.microsoft.com/office/drawing/2014/main" id="{E26A1028-6F8A-D2BD-9762-17D7FCF878FB}"/>
              </a:ext>
            </a:extLst>
          </p:cNvPr>
          <p:cNvSpPr txBox="1"/>
          <p:nvPr/>
        </p:nvSpPr>
        <p:spPr>
          <a:xfrm>
            <a:off x="7634332" y="3188166"/>
            <a:ext cx="7581900" cy="276999"/>
          </a:xfrm>
          <a:prstGeom prst="rect">
            <a:avLst/>
          </a:prstGeom>
          <a:noFill/>
        </p:spPr>
        <p:txBody>
          <a:bodyPr wrap="square">
            <a:spAutoFit/>
          </a:bodyPr>
          <a:lstStyle/>
          <a:p>
            <a:pPr marL="0" indent="0">
              <a:buNone/>
            </a:pPr>
            <a:r>
              <a:rPr lang="en-US" sz="1200" b="1" dirty="0">
                <a:solidFill>
                  <a:srgbClr val="FFFFFF"/>
                </a:solidFill>
                <a:latin typeface="Georgia" panose="02040502050405020303" pitchFamily="18" charset="0"/>
                <a:ea typeface="Verdana" pitchFamily="34" charset="-122"/>
                <a:cs typeface="Verdana" pitchFamily="34" charset="-120"/>
              </a:rPr>
              <a:t>UNFPA Kenya</a:t>
            </a:r>
            <a:endParaRPr lang="en-US" sz="1200" dirty="0">
              <a:latin typeface="Georgia" panose="02040502050405020303" pitchFamily="18" charset="0"/>
            </a:endParaRPr>
          </a:p>
        </p:txBody>
      </p:sp>
      <p:sp>
        <p:nvSpPr>
          <p:cNvPr id="39" name="TextBox 38">
            <a:extLst>
              <a:ext uri="{FF2B5EF4-FFF2-40B4-BE49-F238E27FC236}">
                <a16:creationId xmlns:a16="http://schemas.microsoft.com/office/drawing/2014/main" id="{B6801D78-7E7F-A05E-1268-72C4CE0A35D7}"/>
              </a:ext>
            </a:extLst>
          </p:cNvPr>
          <p:cNvSpPr txBox="1"/>
          <p:nvPr/>
        </p:nvSpPr>
        <p:spPr>
          <a:xfrm>
            <a:off x="7634332" y="3495450"/>
            <a:ext cx="7607300" cy="253916"/>
          </a:xfrm>
          <a:prstGeom prst="rect">
            <a:avLst/>
          </a:prstGeom>
          <a:noFill/>
        </p:spPr>
        <p:txBody>
          <a:bodyPr wrap="square">
            <a:spAutoFit/>
          </a:bodyPr>
          <a:lstStyle/>
          <a:p>
            <a:pPr marL="0" indent="0">
              <a:buNone/>
            </a:pPr>
            <a:r>
              <a:rPr lang="en-US" sz="1050" dirty="0">
                <a:solidFill>
                  <a:srgbClr val="D7E8E3"/>
                </a:solidFill>
                <a:latin typeface="Georgia" panose="02040502050405020303" pitchFamily="18" charset="0"/>
                <a:ea typeface="Verdana" pitchFamily="34" charset="-122"/>
                <a:cs typeface="Verdana" pitchFamily="34" charset="-120"/>
              </a:rPr>
              <a:t>Target funding and technical assistance</a:t>
            </a:r>
            <a:endParaRPr lang="en-US" sz="1050" dirty="0">
              <a:latin typeface="Georgia" panose="02040502050405020303" pitchFamily="18" charset="0"/>
            </a:endParaRPr>
          </a:p>
        </p:txBody>
      </p:sp>
      <p:sp>
        <p:nvSpPr>
          <p:cNvPr id="41" name="Shape 27">
            <a:extLst>
              <a:ext uri="{FF2B5EF4-FFF2-40B4-BE49-F238E27FC236}">
                <a16:creationId xmlns:a16="http://schemas.microsoft.com/office/drawing/2014/main" id="{5F0774D2-6130-6B8A-CB89-A2178FD2EA55}"/>
              </a:ext>
            </a:extLst>
          </p:cNvPr>
          <p:cNvSpPr/>
          <p:nvPr/>
        </p:nvSpPr>
        <p:spPr>
          <a:xfrm>
            <a:off x="7498080" y="3922776"/>
            <a:ext cx="128016" cy="128016"/>
          </a:xfrm>
          <a:prstGeom prst="roundRect">
            <a:avLst>
              <a:gd name="adj" fmla="val 50000"/>
            </a:avLst>
          </a:prstGeom>
          <a:solidFill>
            <a:srgbClr val="D9A441"/>
          </a:solidFill>
          <a:ln/>
        </p:spPr>
        <p:txBody>
          <a:bodyPr/>
          <a:lstStyle/>
          <a:p>
            <a:endParaRPr lang="en-US"/>
          </a:p>
        </p:txBody>
      </p:sp>
      <p:sp>
        <p:nvSpPr>
          <p:cNvPr id="43" name="TextBox 42">
            <a:extLst>
              <a:ext uri="{FF2B5EF4-FFF2-40B4-BE49-F238E27FC236}">
                <a16:creationId xmlns:a16="http://schemas.microsoft.com/office/drawing/2014/main" id="{8BEC954A-FB77-8859-964E-620DABEA7757}"/>
              </a:ext>
            </a:extLst>
          </p:cNvPr>
          <p:cNvSpPr txBox="1"/>
          <p:nvPr/>
        </p:nvSpPr>
        <p:spPr>
          <a:xfrm>
            <a:off x="7634332" y="3886824"/>
            <a:ext cx="7620000" cy="276999"/>
          </a:xfrm>
          <a:prstGeom prst="rect">
            <a:avLst/>
          </a:prstGeom>
          <a:noFill/>
        </p:spPr>
        <p:txBody>
          <a:bodyPr wrap="square">
            <a:spAutoFit/>
          </a:bodyPr>
          <a:lstStyle/>
          <a:p>
            <a:pPr marL="0" indent="0">
              <a:buNone/>
            </a:pPr>
            <a:r>
              <a:rPr lang="en-US" sz="1200" b="1" dirty="0">
                <a:solidFill>
                  <a:srgbClr val="FFFFFF"/>
                </a:solidFill>
                <a:latin typeface="Georgia" panose="02040502050405020303" pitchFamily="18" charset="0"/>
                <a:ea typeface="Verdana" pitchFamily="34" charset="-122"/>
                <a:cs typeface="Verdana" pitchFamily="34" charset="-120"/>
              </a:rPr>
              <a:t>USAID Kenya</a:t>
            </a:r>
            <a:endParaRPr lang="en-US" sz="1200" dirty="0">
              <a:latin typeface="Georgia" panose="02040502050405020303" pitchFamily="18" charset="0"/>
            </a:endParaRPr>
          </a:p>
        </p:txBody>
      </p:sp>
      <p:sp>
        <p:nvSpPr>
          <p:cNvPr id="45" name="TextBox 44">
            <a:extLst>
              <a:ext uri="{FF2B5EF4-FFF2-40B4-BE49-F238E27FC236}">
                <a16:creationId xmlns:a16="http://schemas.microsoft.com/office/drawing/2014/main" id="{AC845A2C-F04F-AC6B-5BB3-005B9371F813}"/>
              </a:ext>
            </a:extLst>
          </p:cNvPr>
          <p:cNvSpPr txBox="1"/>
          <p:nvPr/>
        </p:nvSpPr>
        <p:spPr>
          <a:xfrm>
            <a:off x="7634332" y="4194108"/>
            <a:ext cx="7628466" cy="253916"/>
          </a:xfrm>
          <a:prstGeom prst="rect">
            <a:avLst/>
          </a:prstGeom>
          <a:noFill/>
        </p:spPr>
        <p:txBody>
          <a:bodyPr wrap="square">
            <a:spAutoFit/>
          </a:bodyPr>
          <a:lstStyle/>
          <a:p>
            <a:pPr marL="0" indent="0">
              <a:buNone/>
            </a:pPr>
            <a:r>
              <a:rPr lang="en-US" sz="1050" dirty="0">
                <a:solidFill>
                  <a:srgbClr val="D7E8E3"/>
                </a:solidFill>
                <a:latin typeface="Georgia" panose="02040502050405020303" pitchFamily="18" charset="0"/>
                <a:ea typeface="Verdana" pitchFamily="34" charset="-122"/>
                <a:cs typeface="Verdana" pitchFamily="34" charset="-120"/>
              </a:rPr>
              <a:t>Evaluate </a:t>
            </a:r>
            <a:r>
              <a:rPr lang="en-US" sz="1050" dirty="0" err="1">
                <a:solidFill>
                  <a:srgbClr val="D7E8E3"/>
                </a:solidFill>
                <a:latin typeface="Georgia" panose="02040502050405020303" pitchFamily="18" charset="0"/>
                <a:ea typeface="Verdana" pitchFamily="34" charset="-122"/>
                <a:cs typeface="Verdana" pitchFamily="34" charset="-120"/>
              </a:rPr>
              <a:t>programme</a:t>
            </a:r>
            <a:r>
              <a:rPr lang="en-US" sz="1050" dirty="0">
                <a:solidFill>
                  <a:srgbClr val="D7E8E3"/>
                </a:solidFill>
                <a:latin typeface="Georgia" panose="02040502050405020303" pitchFamily="18" charset="0"/>
                <a:ea typeface="Verdana" pitchFamily="34" charset="-122"/>
                <a:cs typeface="Verdana" pitchFamily="34" charset="-120"/>
              </a:rPr>
              <a:t> effectiveness, redirect investment</a:t>
            </a:r>
            <a:endParaRPr lang="en-US" sz="1050" dirty="0">
              <a:latin typeface="Georgia" panose="02040502050405020303" pitchFamily="18" charset="0"/>
            </a:endParaRPr>
          </a:p>
        </p:txBody>
      </p:sp>
      <p:sp>
        <p:nvSpPr>
          <p:cNvPr id="47" name="Shape 30">
            <a:extLst>
              <a:ext uri="{FF2B5EF4-FFF2-40B4-BE49-F238E27FC236}">
                <a16:creationId xmlns:a16="http://schemas.microsoft.com/office/drawing/2014/main" id="{1E289ACB-012E-1E8D-CF9B-D9D2164E4C92}"/>
              </a:ext>
            </a:extLst>
          </p:cNvPr>
          <p:cNvSpPr/>
          <p:nvPr/>
        </p:nvSpPr>
        <p:spPr>
          <a:xfrm>
            <a:off x="7498080" y="4636008"/>
            <a:ext cx="128016" cy="128016"/>
          </a:xfrm>
          <a:prstGeom prst="roundRect">
            <a:avLst>
              <a:gd name="adj" fmla="val 50000"/>
            </a:avLst>
          </a:prstGeom>
          <a:solidFill>
            <a:srgbClr val="D9A441"/>
          </a:solidFill>
          <a:ln/>
        </p:spPr>
        <p:txBody>
          <a:bodyPr/>
          <a:lstStyle/>
          <a:p>
            <a:endParaRPr lang="en-US"/>
          </a:p>
        </p:txBody>
      </p:sp>
      <p:sp>
        <p:nvSpPr>
          <p:cNvPr id="49" name="TextBox 48">
            <a:extLst>
              <a:ext uri="{FF2B5EF4-FFF2-40B4-BE49-F238E27FC236}">
                <a16:creationId xmlns:a16="http://schemas.microsoft.com/office/drawing/2014/main" id="{0141C752-27FB-5965-B1F1-96DF589D047D}"/>
              </a:ext>
            </a:extLst>
          </p:cNvPr>
          <p:cNvSpPr txBox="1"/>
          <p:nvPr/>
        </p:nvSpPr>
        <p:spPr>
          <a:xfrm>
            <a:off x="7676665" y="4611285"/>
            <a:ext cx="7632700" cy="276999"/>
          </a:xfrm>
          <a:prstGeom prst="rect">
            <a:avLst/>
          </a:prstGeom>
          <a:noFill/>
        </p:spPr>
        <p:txBody>
          <a:bodyPr wrap="square">
            <a:spAutoFit/>
          </a:bodyPr>
          <a:lstStyle/>
          <a:p>
            <a:pPr marL="0" indent="0">
              <a:buNone/>
            </a:pPr>
            <a:r>
              <a:rPr lang="en-US" sz="1200" b="1" dirty="0">
                <a:solidFill>
                  <a:srgbClr val="FFFFFF"/>
                </a:solidFill>
                <a:latin typeface="Georgia" panose="02040502050405020303" pitchFamily="18" charset="0"/>
                <a:ea typeface="Verdana" pitchFamily="34" charset="-122"/>
                <a:cs typeface="Verdana" pitchFamily="34" charset="-120"/>
              </a:rPr>
              <a:t>FP2030 </a:t>
            </a:r>
            <a:r>
              <a:rPr lang="en-US" sz="1200" b="1" dirty="0" err="1">
                <a:solidFill>
                  <a:srgbClr val="FFFFFF"/>
                </a:solidFill>
                <a:latin typeface="Georgia" panose="02040502050405020303" pitchFamily="18" charset="0"/>
                <a:ea typeface="Verdana" pitchFamily="34" charset="-122"/>
                <a:cs typeface="Verdana" pitchFamily="34" charset="-120"/>
              </a:rPr>
              <a:t>Programme</a:t>
            </a:r>
            <a:endParaRPr lang="en-US" sz="1200" dirty="0">
              <a:latin typeface="Georgia" panose="02040502050405020303" pitchFamily="18" charset="0"/>
            </a:endParaRPr>
          </a:p>
        </p:txBody>
      </p:sp>
      <p:sp>
        <p:nvSpPr>
          <p:cNvPr id="51" name="TextBox 50">
            <a:extLst>
              <a:ext uri="{FF2B5EF4-FFF2-40B4-BE49-F238E27FC236}">
                <a16:creationId xmlns:a16="http://schemas.microsoft.com/office/drawing/2014/main" id="{48A8B719-F70D-B588-182A-BBFF1F951A17}"/>
              </a:ext>
            </a:extLst>
          </p:cNvPr>
          <p:cNvSpPr txBox="1"/>
          <p:nvPr/>
        </p:nvSpPr>
        <p:spPr>
          <a:xfrm>
            <a:off x="7653866" y="4918569"/>
            <a:ext cx="7653866" cy="253916"/>
          </a:xfrm>
          <a:prstGeom prst="rect">
            <a:avLst/>
          </a:prstGeom>
          <a:noFill/>
        </p:spPr>
        <p:txBody>
          <a:bodyPr wrap="square">
            <a:spAutoFit/>
          </a:bodyPr>
          <a:lstStyle/>
          <a:p>
            <a:pPr marL="0" indent="0">
              <a:buNone/>
            </a:pPr>
            <a:r>
              <a:rPr lang="en-US" sz="1050" dirty="0">
                <a:solidFill>
                  <a:srgbClr val="D7E8E3"/>
                </a:solidFill>
                <a:latin typeface="Georgia" panose="02040502050405020303" pitchFamily="18" charset="0"/>
                <a:ea typeface="Verdana" pitchFamily="34" charset="-122"/>
                <a:cs typeface="Verdana" pitchFamily="34" charset="-120"/>
              </a:rPr>
              <a:t>Monitor progress toward family planning targets</a:t>
            </a:r>
            <a:endParaRPr lang="en-US" sz="1050" dirty="0">
              <a:latin typeface="Georgia" panose="02040502050405020303" pitchFamily="18" charset="0"/>
            </a:endParaRPr>
          </a:p>
        </p:txBody>
      </p:sp>
      <p:sp>
        <p:nvSpPr>
          <p:cNvPr id="53" name="Shape 33">
            <a:extLst>
              <a:ext uri="{FF2B5EF4-FFF2-40B4-BE49-F238E27FC236}">
                <a16:creationId xmlns:a16="http://schemas.microsoft.com/office/drawing/2014/main" id="{BAB57A4C-6EB6-7CB6-BB05-64839420EA05}"/>
              </a:ext>
            </a:extLst>
          </p:cNvPr>
          <p:cNvSpPr/>
          <p:nvPr/>
        </p:nvSpPr>
        <p:spPr>
          <a:xfrm>
            <a:off x="7498080" y="5349240"/>
            <a:ext cx="128016" cy="128016"/>
          </a:xfrm>
          <a:prstGeom prst="roundRect">
            <a:avLst>
              <a:gd name="adj" fmla="val 50000"/>
            </a:avLst>
          </a:prstGeom>
          <a:solidFill>
            <a:srgbClr val="D9A441"/>
          </a:solidFill>
          <a:ln/>
        </p:spPr>
        <p:txBody>
          <a:bodyPr/>
          <a:lstStyle/>
          <a:p>
            <a:endParaRPr lang="en-US"/>
          </a:p>
        </p:txBody>
      </p:sp>
      <p:sp>
        <p:nvSpPr>
          <p:cNvPr id="55" name="TextBox 54">
            <a:extLst>
              <a:ext uri="{FF2B5EF4-FFF2-40B4-BE49-F238E27FC236}">
                <a16:creationId xmlns:a16="http://schemas.microsoft.com/office/drawing/2014/main" id="{0129B11E-35E3-8EF3-0D2A-7FF8E2E828A2}"/>
              </a:ext>
            </a:extLst>
          </p:cNvPr>
          <p:cNvSpPr txBox="1"/>
          <p:nvPr/>
        </p:nvSpPr>
        <p:spPr>
          <a:xfrm>
            <a:off x="7666082" y="5325881"/>
            <a:ext cx="7653866" cy="276999"/>
          </a:xfrm>
          <a:prstGeom prst="rect">
            <a:avLst/>
          </a:prstGeom>
          <a:noFill/>
        </p:spPr>
        <p:txBody>
          <a:bodyPr wrap="square">
            <a:spAutoFit/>
          </a:bodyPr>
          <a:lstStyle/>
          <a:p>
            <a:pPr marL="0" indent="0">
              <a:buNone/>
            </a:pPr>
            <a:r>
              <a:rPr lang="en-US" sz="1200" b="1" dirty="0">
                <a:solidFill>
                  <a:srgbClr val="FFFFFF"/>
                </a:solidFill>
                <a:latin typeface="Georgia" panose="02040502050405020303" pitchFamily="18" charset="0"/>
                <a:ea typeface="Verdana" pitchFamily="34" charset="-122"/>
                <a:cs typeface="Verdana" pitchFamily="34" charset="-120"/>
              </a:rPr>
              <a:t>Community Health Promoters</a:t>
            </a:r>
            <a:endParaRPr lang="en-US" sz="1200" dirty="0">
              <a:latin typeface="Georgia" panose="02040502050405020303" pitchFamily="18" charset="0"/>
            </a:endParaRPr>
          </a:p>
        </p:txBody>
      </p:sp>
      <p:sp>
        <p:nvSpPr>
          <p:cNvPr id="57" name="TextBox 56">
            <a:extLst>
              <a:ext uri="{FF2B5EF4-FFF2-40B4-BE49-F238E27FC236}">
                <a16:creationId xmlns:a16="http://schemas.microsoft.com/office/drawing/2014/main" id="{921AAA57-8F8C-E8AF-7C9B-9FA366E52141}"/>
              </a:ext>
            </a:extLst>
          </p:cNvPr>
          <p:cNvSpPr txBox="1"/>
          <p:nvPr/>
        </p:nvSpPr>
        <p:spPr>
          <a:xfrm>
            <a:off x="7676665" y="5663485"/>
            <a:ext cx="7658100" cy="253916"/>
          </a:xfrm>
          <a:prstGeom prst="rect">
            <a:avLst/>
          </a:prstGeom>
          <a:noFill/>
        </p:spPr>
        <p:txBody>
          <a:bodyPr wrap="square">
            <a:spAutoFit/>
          </a:bodyPr>
          <a:lstStyle/>
          <a:p>
            <a:pPr marL="0" indent="0">
              <a:buNone/>
            </a:pPr>
            <a:r>
              <a:rPr lang="en-US" sz="1050" dirty="0" err="1">
                <a:solidFill>
                  <a:srgbClr val="D7E8E3"/>
                </a:solidFill>
                <a:latin typeface="Georgia" panose="02040502050405020303" pitchFamily="18" charset="0"/>
                <a:ea typeface="Verdana" pitchFamily="34" charset="-122"/>
                <a:cs typeface="Verdana" pitchFamily="34" charset="-120"/>
              </a:rPr>
              <a:t>Prioritise</a:t>
            </a:r>
            <a:r>
              <a:rPr lang="en-US" sz="1050" dirty="0">
                <a:solidFill>
                  <a:srgbClr val="D7E8E3"/>
                </a:solidFill>
                <a:latin typeface="Georgia" panose="02040502050405020303" pitchFamily="18" charset="0"/>
                <a:ea typeface="Verdana" pitchFamily="34" charset="-122"/>
                <a:cs typeface="Verdana" pitchFamily="34" charset="-120"/>
              </a:rPr>
              <a:t> household visits using county risk scores</a:t>
            </a:r>
            <a:endParaRPr lang="en-US" sz="1050" dirty="0">
              <a:latin typeface="Georgia" panose="02040502050405020303" pitchFamily="18" charset="0"/>
            </a:endParaRPr>
          </a:p>
        </p:txBody>
      </p:sp>
      <p:sp>
        <p:nvSpPr>
          <p:cNvPr id="61" name="Shape 8">
            <a:extLst>
              <a:ext uri="{FF2B5EF4-FFF2-40B4-BE49-F238E27FC236}">
                <a16:creationId xmlns:a16="http://schemas.microsoft.com/office/drawing/2014/main" id="{BCF06065-9371-2934-9D44-AA3AADC9823D}"/>
              </a:ext>
            </a:extLst>
          </p:cNvPr>
          <p:cNvSpPr/>
          <p:nvPr/>
        </p:nvSpPr>
        <p:spPr>
          <a:xfrm>
            <a:off x="355366" y="5468137"/>
            <a:ext cx="1463040" cy="411480"/>
          </a:xfrm>
          <a:prstGeom prst="roundRect">
            <a:avLst>
              <a:gd name="adj" fmla="val 48889"/>
            </a:avLst>
          </a:prstGeom>
          <a:solidFill>
            <a:srgbClr val="0E3B36"/>
          </a:solidFill>
          <a:ln/>
        </p:spPr>
        <p:txBody>
          <a:bodyPr/>
          <a:lstStyle/>
          <a:p>
            <a:endParaRPr lang="en-US"/>
          </a:p>
        </p:txBody>
      </p:sp>
      <p:sp>
        <p:nvSpPr>
          <p:cNvPr id="63" name="Shape 10">
            <a:extLst>
              <a:ext uri="{FF2B5EF4-FFF2-40B4-BE49-F238E27FC236}">
                <a16:creationId xmlns:a16="http://schemas.microsoft.com/office/drawing/2014/main" id="{2390D712-B1F8-A7F2-E89A-0EF742BD7F88}"/>
              </a:ext>
            </a:extLst>
          </p:cNvPr>
          <p:cNvSpPr/>
          <p:nvPr/>
        </p:nvSpPr>
        <p:spPr>
          <a:xfrm>
            <a:off x="2017649" y="5498226"/>
            <a:ext cx="1463040" cy="411480"/>
          </a:xfrm>
          <a:prstGeom prst="roundRect">
            <a:avLst>
              <a:gd name="adj" fmla="val 48889"/>
            </a:avLst>
          </a:prstGeom>
          <a:solidFill>
            <a:srgbClr val="0E3B36"/>
          </a:solidFill>
          <a:ln/>
        </p:spPr>
        <p:txBody>
          <a:bodyPr/>
          <a:lstStyle/>
          <a:p>
            <a:endParaRPr lang="en-US"/>
          </a:p>
        </p:txBody>
      </p:sp>
      <p:sp>
        <p:nvSpPr>
          <p:cNvPr id="65" name="Shape 10">
            <a:extLst>
              <a:ext uri="{FF2B5EF4-FFF2-40B4-BE49-F238E27FC236}">
                <a16:creationId xmlns:a16="http://schemas.microsoft.com/office/drawing/2014/main" id="{4A6261E8-7476-A0AD-B54B-E6E6BAD3C9E2}"/>
              </a:ext>
            </a:extLst>
          </p:cNvPr>
          <p:cNvSpPr/>
          <p:nvPr/>
        </p:nvSpPr>
        <p:spPr>
          <a:xfrm>
            <a:off x="3720149" y="5477256"/>
            <a:ext cx="1463040" cy="411480"/>
          </a:xfrm>
          <a:prstGeom prst="roundRect">
            <a:avLst>
              <a:gd name="adj" fmla="val 48889"/>
            </a:avLst>
          </a:prstGeom>
          <a:solidFill>
            <a:srgbClr val="0E3B36"/>
          </a:solidFill>
          <a:ln/>
        </p:spPr>
        <p:txBody>
          <a:bodyPr/>
          <a:lstStyle/>
          <a:p>
            <a:endParaRPr lang="en-US"/>
          </a:p>
        </p:txBody>
      </p:sp>
      <p:sp>
        <p:nvSpPr>
          <p:cNvPr id="67" name="Shape 10">
            <a:extLst>
              <a:ext uri="{FF2B5EF4-FFF2-40B4-BE49-F238E27FC236}">
                <a16:creationId xmlns:a16="http://schemas.microsoft.com/office/drawing/2014/main" id="{74854E6F-10B7-6D55-FB28-563B0761350B}"/>
              </a:ext>
            </a:extLst>
          </p:cNvPr>
          <p:cNvSpPr/>
          <p:nvPr/>
        </p:nvSpPr>
        <p:spPr>
          <a:xfrm>
            <a:off x="5329631" y="5483002"/>
            <a:ext cx="1463040" cy="411480"/>
          </a:xfrm>
          <a:prstGeom prst="roundRect">
            <a:avLst>
              <a:gd name="adj" fmla="val 48889"/>
            </a:avLst>
          </a:prstGeom>
          <a:solidFill>
            <a:srgbClr val="0E3B36"/>
          </a:solidFill>
          <a:ln/>
        </p:spPr>
        <p:txBody>
          <a:bodyPr/>
          <a:lstStyle/>
          <a:p>
            <a:endParaRPr lang="en-US"/>
          </a:p>
        </p:txBody>
      </p:sp>
      <p:sp>
        <p:nvSpPr>
          <p:cNvPr id="69" name="TextBox 68">
            <a:extLst>
              <a:ext uri="{FF2B5EF4-FFF2-40B4-BE49-F238E27FC236}">
                <a16:creationId xmlns:a16="http://schemas.microsoft.com/office/drawing/2014/main" id="{8B0414A5-ED7B-9196-696F-D291AE5DCE8F}"/>
              </a:ext>
            </a:extLst>
          </p:cNvPr>
          <p:cNvSpPr txBox="1"/>
          <p:nvPr/>
        </p:nvSpPr>
        <p:spPr>
          <a:xfrm>
            <a:off x="455083" y="5551916"/>
            <a:ext cx="7666566" cy="230832"/>
          </a:xfrm>
          <a:prstGeom prst="rect">
            <a:avLst/>
          </a:prstGeom>
          <a:noFill/>
        </p:spPr>
        <p:txBody>
          <a:bodyPr wrap="square">
            <a:spAutoFit/>
          </a:bodyPr>
          <a:lstStyle/>
          <a:p>
            <a:r>
              <a:rPr lang="en-US" sz="900" b="1" dirty="0">
                <a:solidFill>
                  <a:srgbClr val="FFFFFF"/>
                </a:solidFill>
                <a:latin typeface="Georgia" panose="02040502050405020303" pitchFamily="18" charset="0"/>
                <a:ea typeface="Verdana" pitchFamily="34" charset="-122"/>
                <a:cs typeface="Verdana" pitchFamily="34" charset="-120"/>
              </a:rPr>
              <a:t>Class imbalance</a:t>
            </a:r>
            <a:endParaRPr lang="en-US" sz="2000" dirty="0">
              <a:latin typeface="Georgia" panose="02040502050405020303" pitchFamily="18" charset="0"/>
            </a:endParaRPr>
          </a:p>
        </p:txBody>
      </p:sp>
      <p:sp>
        <p:nvSpPr>
          <p:cNvPr id="71" name="TextBox 70">
            <a:extLst>
              <a:ext uri="{FF2B5EF4-FFF2-40B4-BE49-F238E27FC236}">
                <a16:creationId xmlns:a16="http://schemas.microsoft.com/office/drawing/2014/main" id="{A3A08939-9FE3-1B71-0FC0-A7B5D7CEB072}"/>
              </a:ext>
            </a:extLst>
          </p:cNvPr>
          <p:cNvSpPr txBox="1"/>
          <p:nvPr/>
        </p:nvSpPr>
        <p:spPr>
          <a:xfrm>
            <a:off x="-1084114" y="5563457"/>
            <a:ext cx="7666566" cy="230832"/>
          </a:xfrm>
          <a:prstGeom prst="rect">
            <a:avLst/>
          </a:prstGeom>
          <a:noFill/>
        </p:spPr>
        <p:txBody>
          <a:bodyPr wrap="square">
            <a:spAutoFit/>
          </a:bodyPr>
          <a:lstStyle/>
          <a:p>
            <a:pPr marL="0" indent="0" algn="ctr">
              <a:buNone/>
            </a:pPr>
            <a:r>
              <a:rPr lang="en-US" sz="900" b="1" dirty="0">
                <a:solidFill>
                  <a:srgbClr val="FFFFFF"/>
                </a:solidFill>
                <a:latin typeface="Georgia" panose="02040502050405020303" pitchFamily="18" charset="0"/>
                <a:ea typeface="Verdana" pitchFamily="34" charset="-122"/>
                <a:cs typeface="Verdana" pitchFamily="34" charset="-120"/>
              </a:rPr>
              <a:t>High dimensionality</a:t>
            </a:r>
            <a:endParaRPr lang="en-US" sz="900" dirty="0">
              <a:latin typeface="Georgia" panose="02040502050405020303" pitchFamily="18" charset="0"/>
            </a:endParaRPr>
          </a:p>
        </p:txBody>
      </p:sp>
      <p:sp>
        <p:nvSpPr>
          <p:cNvPr id="73" name="TextBox 72">
            <a:extLst>
              <a:ext uri="{FF2B5EF4-FFF2-40B4-BE49-F238E27FC236}">
                <a16:creationId xmlns:a16="http://schemas.microsoft.com/office/drawing/2014/main" id="{DE54FA04-424B-AD9E-A02F-2C03777ECFAE}"/>
              </a:ext>
            </a:extLst>
          </p:cNvPr>
          <p:cNvSpPr txBox="1"/>
          <p:nvPr/>
        </p:nvSpPr>
        <p:spPr>
          <a:xfrm>
            <a:off x="3720149" y="5588171"/>
            <a:ext cx="8208432" cy="230832"/>
          </a:xfrm>
          <a:prstGeom prst="rect">
            <a:avLst/>
          </a:prstGeom>
          <a:noFill/>
        </p:spPr>
        <p:txBody>
          <a:bodyPr wrap="square">
            <a:spAutoFit/>
          </a:bodyPr>
          <a:lstStyle/>
          <a:p>
            <a:r>
              <a:rPr lang="en-US" sz="900" b="1" dirty="0">
                <a:solidFill>
                  <a:srgbClr val="FFFFFF"/>
                </a:solidFill>
                <a:latin typeface="Georgia" panose="02040502050405020303" pitchFamily="18" charset="0"/>
                <a:ea typeface="Verdana" pitchFamily="34" charset="-122"/>
                <a:cs typeface="Verdana" pitchFamily="34" charset="-120"/>
              </a:rPr>
              <a:t>Multicollinearity</a:t>
            </a:r>
            <a:endParaRPr lang="en-US" sz="2000" dirty="0">
              <a:latin typeface="Georgia" panose="02040502050405020303" pitchFamily="18" charset="0"/>
            </a:endParaRPr>
          </a:p>
        </p:txBody>
      </p:sp>
      <p:sp>
        <p:nvSpPr>
          <p:cNvPr id="75" name="TextBox 74">
            <a:extLst>
              <a:ext uri="{FF2B5EF4-FFF2-40B4-BE49-F238E27FC236}">
                <a16:creationId xmlns:a16="http://schemas.microsoft.com/office/drawing/2014/main" id="{0024C775-27F6-2FBB-E0BC-13BC050EB3D9}"/>
              </a:ext>
            </a:extLst>
          </p:cNvPr>
          <p:cNvSpPr txBox="1"/>
          <p:nvPr/>
        </p:nvSpPr>
        <p:spPr>
          <a:xfrm>
            <a:off x="5382432" y="5595185"/>
            <a:ext cx="8208432" cy="230832"/>
          </a:xfrm>
          <a:prstGeom prst="rect">
            <a:avLst/>
          </a:prstGeom>
          <a:noFill/>
        </p:spPr>
        <p:txBody>
          <a:bodyPr wrap="square">
            <a:spAutoFit/>
          </a:bodyPr>
          <a:lstStyle/>
          <a:p>
            <a:r>
              <a:rPr lang="en-US" sz="900" b="1" dirty="0">
                <a:solidFill>
                  <a:srgbClr val="FFFFFF"/>
                </a:solidFill>
                <a:latin typeface="Georgia" panose="02040502050405020303" pitchFamily="18" charset="0"/>
                <a:ea typeface="Verdana" pitchFamily="34" charset="-122"/>
                <a:cs typeface="Verdana" pitchFamily="34" charset="-120"/>
              </a:rPr>
              <a:t>Categorical encoding</a:t>
            </a:r>
            <a:endParaRPr lang="en-US" sz="2000" dirty="0">
              <a:latin typeface="Georgia" panose="02040502050405020303" pitchFamily="18" charset="0"/>
            </a:endParaRPr>
          </a:p>
        </p:txBody>
      </p:sp>
      <p:sp>
        <p:nvSpPr>
          <p:cNvPr id="77" name="TextBox 76">
            <a:extLst>
              <a:ext uri="{FF2B5EF4-FFF2-40B4-BE49-F238E27FC236}">
                <a16:creationId xmlns:a16="http://schemas.microsoft.com/office/drawing/2014/main" id="{F8B15E03-AF57-542B-4AD3-9B636B2A928C}"/>
              </a:ext>
            </a:extLst>
          </p:cNvPr>
          <p:cNvSpPr txBox="1"/>
          <p:nvPr/>
        </p:nvSpPr>
        <p:spPr>
          <a:xfrm>
            <a:off x="347453" y="6386959"/>
            <a:ext cx="8305480" cy="246221"/>
          </a:xfrm>
          <a:prstGeom prst="rect">
            <a:avLst/>
          </a:prstGeom>
          <a:noFill/>
        </p:spPr>
        <p:txBody>
          <a:bodyPr wrap="square">
            <a:spAutoFit/>
          </a:bodyPr>
          <a:lstStyle/>
          <a:p>
            <a:pPr marL="0" indent="0">
              <a:buNone/>
            </a:pPr>
            <a:r>
              <a:rPr lang="en-US" sz="1000" dirty="0">
                <a:solidFill>
                  <a:srgbClr val="5C6E6A"/>
                </a:solidFill>
                <a:latin typeface="Georgia" panose="02040502050405020303" pitchFamily="18" charset="0"/>
                <a:ea typeface="Verdana" pitchFamily="34" charset="-122"/>
                <a:cs typeface="Verdana" pitchFamily="34" charset="-120"/>
              </a:rPr>
              <a:t>The Insight Architects — </a:t>
            </a:r>
            <a:r>
              <a:rPr lang="en-US" sz="1000">
                <a:solidFill>
                  <a:srgbClr val="5C6E6A"/>
                </a:solidFill>
                <a:latin typeface="Georgia" panose="02040502050405020303" pitchFamily="18" charset="0"/>
                <a:ea typeface="Verdana" pitchFamily="34" charset="-122"/>
                <a:cs typeface="Verdana" pitchFamily="34" charset="-120"/>
              </a:rPr>
              <a:t>KDHS 2022 </a:t>
            </a:r>
            <a:r>
              <a:rPr lang="en-US" sz="1000" dirty="0">
                <a:solidFill>
                  <a:srgbClr val="5C6E6A"/>
                </a:solidFill>
                <a:latin typeface="Georgia" panose="02040502050405020303" pitchFamily="18" charset="0"/>
                <a:ea typeface="Verdana" pitchFamily="34" charset="-122"/>
                <a:cs typeface="Verdana" pitchFamily="34" charset="-120"/>
              </a:rPr>
              <a:t>Capstone</a:t>
            </a:r>
            <a:endParaRPr lang="en-US" sz="1000" dirty="0">
              <a:latin typeface="Georgia" panose="02040502050405020303" pitchFamily="18" charset="0"/>
            </a:endParaRPr>
          </a:p>
        </p:txBody>
      </p:sp>
      <p:sp>
        <p:nvSpPr>
          <p:cNvPr id="81" name="TextBox 80">
            <a:extLst>
              <a:ext uri="{FF2B5EF4-FFF2-40B4-BE49-F238E27FC236}">
                <a16:creationId xmlns:a16="http://schemas.microsoft.com/office/drawing/2014/main" id="{A4F7FD6F-65E6-A91B-C386-A7D07E8CE516}"/>
              </a:ext>
            </a:extLst>
          </p:cNvPr>
          <p:cNvSpPr txBox="1"/>
          <p:nvPr/>
        </p:nvSpPr>
        <p:spPr>
          <a:xfrm>
            <a:off x="3816351" y="6461562"/>
            <a:ext cx="8208432" cy="253916"/>
          </a:xfrm>
          <a:prstGeom prst="rect">
            <a:avLst/>
          </a:prstGeom>
          <a:noFill/>
        </p:spPr>
        <p:txBody>
          <a:bodyPr wrap="square">
            <a:spAutoFit/>
          </a:bodyPr>
          <a:lstStyle/>
          <a:p>
            <a:pPr marL="0" indent="0" algn="r">
              <a:buNone/>
            </a:pPr>
            <a:r>
              <a:rPr lang="en-US" sz="1050" dirty="0">
                <a:solidFill>
                  <a:srgbClr val="5C6E6A"/>
                </a:solidFill>
                <a:latin typeface="Georgia" panose="02040502050405020303" pitchFamily="18" charset="0"/>
                <a:ea typeface="Verdana" pitchFamily="34" charset="-122"/>
                <a:cs typeface="Verdana" pitchFamily="34" charset="-120"/>
              </a:rPr>
              <a:t>02 / 23</a:t>
            </a:r>
            <a:endParaRPr lang="en-US" sz="1050" dirty="0">
              <a:latin typeface="Georgia" panose="02040502050405020303" pitchFamily="18" charset="0"/>
            </a:endParaRPr>
          </a:p>
        </p:txBody>
      </p:sp>
    </p:spTree>
    <p:extLst>
      <p:ext uri="{BB962C8B-B14F-4D97-AF65-F5344CB8AC3E}">
        <p14:creationId xmlns:p14="http://schemas.microsoft.com/office/powerpoint/2010/main" val="6925444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E3B36"/>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D9A441"/>
                </a:solidFill>
                <a:latin typeface="Georgia" panose="02040502050405020303" pitchFamily="18" charset="0"/>
                <a:ea typeface="Verdana" pitchFamily="34" charset="-122"/>
                <a:cs typeface="Verdana" pitchFamily="34" charset="-120"/>
              </a:rPr>
              <a:t>THE PROBLEM</a:t>
            </a:r>
            <a:endParaRPr lang="en-US" sz="1200" dirty="0">
              <a:latin typeface="Georgia" panose="02040502050405020303" pitchFamily="18" charset="0"/>
            </a:endParaRPr>
          </a:p>
        </p:txBody>
      </p:sp>
      <p:sp>
        <p:nvSpPr>
          <p:cNvPr id="3" name="Text 1"/>
          <p:cNvSpPr/>
          <p:nvPr/>
        </p:nvSpPr>
        <p:spPr>
          <a:xfrm>
            <a:off x="548640" y="502920"/>
            <a:ext cx="10058400" cy="822960"/>
          </a:xfrm>
          <a:prstGeom prst="rect">
            <a:avLst/>
          </a:prstGeom>
          <a:noFill/>
          <a:ln/>
        </p:spPr>
        <p:txBody>
          <a:bodyPr wrap="square" rtlCol="0" anchor="ctr"/>
          <a:lstStyle/>
          <a:p>
            <a:pPr marL="0" indent="0">
              <a:buNone/>
            </a:pPr>
            <a:r>
              <a:rPr lang="en-US" sz="3600" b="1" dirty="0">
                <a:solidFill>
                  <a:srgbClr val="FFFFFF"/>
                </a:solidFill>
                <a:latin typeface="Georgia" panose="02040502050405020303" pitchFamily="18" charset="0"/>
                <a:ea typeface="Georgia" pitchFamily="34" charset="-122"/>
                <a:cs typeface="Georgia" pitchFamily="34" charset="-120"/>
              </a:rPr>
              <a:t>One country. Two realities.</a:t>
            </a:r>
            <a:endParaRPr lang="en-US" sz="3600" dirty="0">
              <a:latin typeface="Georgia" panose="02040502050405020303" pitchFamily="18" charset="0"/>
            </a:endParaRPr>
          </a:p>
        </p:txBody>
      </p:sp>
      <p:sp>
        <p:nvSpPr>
          <p:cNvPr id="4" name="Shape 2"/>
          <p:cNvSpPr/>
          <p:nvPr/>
        </p:nvSpPr>
        <p:spPr>
          <a:xfrm>
            <a:off x="822960" y="1737360"/>
            <a:ext cx="4846320" cy="3291840"/>
          </a:xfrm>
          <a:prstGeom prst="roundRect">
            <a:avLst>
              <a:gd name="adj" fmla="val 3333"/>
            </a:avLst>
          </a:prstGeom>
          <a:solidFill>
            <a:srgbClr val="144742"/>
          </a:solidFill>
          <a:ln/>
        </p:spPr>
        <p:txBody>
          <a:bodyPr/>
          <a:lstStyle/>
          <a:p>
            <a:endParaRPr lang="en-US"/>
          </a:p>
        </p:txBody>
      </p:sp>
      <p:sp>
        <p:nvSpPr>
          <p:cNvPr id="5" name="Text 3"/>
          <p:cNvSpPr/>
          <p:nvPr/>
        </p:nvSpPr>
        <p:spPr>
          <a:xfrm>
            <a:off x="822960" y="1965960"/>
            <a:ext cx="4846320" cy="1280160"/>
          </a:xfrm>
          <a:prstGeom prst="rect">
            <a:avLst/>
          </a:prstGeom>
          <a:noFill/>
          <a:ln/>
        </p:spPr>
        <p:txBody>
          <a:bodyPr wrap="square" rtlCol="0" anchor="ctr"/>
          <a:lstStyle/>
          <a:p>
            <a:pPr marL="0" indent="0" algn="ctr">
              <a:buNone/>
            </a:pPr>
            <a:r>
              <a:rPr lang="en-US" sz="7200" b="1" dirty="0">
                <a:solidFill>
                  <a:srgbClr val="6FCBB0"/>
                </a:solidFill>
                <a:latin typeface="Georgia" panose="02040502050405020303" pitchFamily="18" charset="0"/>
                <a:ea typeface="Georgia" pitchFamily="34" charset="-122"/>
                <a:cs typeface="Georgia" pitchFamily="34" charset="-120"/>
              </a:rPr>
              <a:t>57%</a:t>
            </a:r>
            <a:endParaRPr lang="en-US" sz="7200" dirty="0">
              <a:latin typeface="Georgia" panose="02040502050405020303" pitchFamily="18" charset="0"/>
            </a:endParaRPr>
          </a:p>
        </p:txBody>
      </p:sp>
      <p:sp>
        <p:nvSpPr>
          <p:cNvPr id="6" name="Text 4"/>
          <p:cNvSpPr/>
          <p:nvPr/>
        </p:nvSpPr>
        <p:spPr>
          <a:xfrm>
            <a:off x="822960" y="3246120"/>
            <a:ext cx="4846320" cy="320040"/>
          </a:xfrm>
          <a:prstGeom prst="rect">
            <a:avLst/>
          </a:prstGeom>
          <a:noFill/>
          <a:ln/>
        </p:spPr>
        <p:txBody>
          <a:bodyPr wrap="square" rtlCol="0" anchor="ctr"/>
          <a:lstStyle/>
          <a:p>
            <a:pPr marL="0" indent="0" algn="ctr">
              <a:buNone/>
            </a:pPr>
            <a:r>
              <a:rPr lang="en-US" sz="1400" b="1" kern="0" spc="200" dirty="0">
                <a:solidFill>
                  <a:srgbClr val="D9A441"/>
                </a:solidFill>
                <a:latin typeface="Georgia" panose="02040502050405020303" pitchFamily="18" charset="0"/>
                <a:ea typeface="Verdana" pitchFamily="34" charset="-122"/>
                <a:cs typeface="Verdana" pitchFamily="34" charset="-120"/>
              </a:rPr>
              <a:t>EMBU COUNTY</a:t>
            </a:r>
            <a:endParaRPr lang="en-US" sz="1400" dirty="0">
              <a:latin typeface="Georgia" panose="02040502050405020303" pitchFamily="18" charset="0"/>
            </a:endParaRPr>
          </a:p>
        </p:txBody>
      </p:sp>
      <p:sp>
        <p:nvSpPr>
          <p:cNvPr id="7" name="Text 5"/>
          <p:cNvSpPr/>
          <p:nvPr/>
        </p:nvSpPr>
        <p:spPr>
          <a:xfrm>
            <a:off x="1188720" y="3611880"/>
            <a:ext cx="4114800" cy="822960"/>
          </a:xfrm>
          <a:prstGeom prst="rect">
            <a:avLst/>
          </a:prstGeom>
          <a:noFill/>
          <a:ln/>
        </p:spPr>
        <p:txBody>
          <a:bodyPr wrap="square" rtlCol="0" anchor="ctr"/>
          <a:lstStyle/>
          <a:p>
            <a:pPr marL="0" indent="0" algn="ctr">
              <a:buNone/>
            </a:pPr>
            <a:r>
              <a:rPr lang="en-US" sz="1400" dirty="0">
                <a:solidFill>
                  <a:srgbClr val="D7E8E3"/>
                </a:solidFill>
                <a:latin typeface="Georgia" panose="02040502050405020303" pitchFamily="18" charset="0"/>
                <a:ea typeface="Verdana" pitchFamily="34" charset="-122"/>
                <a:cs typeface="Verdana" pitchFamily="34" charset="-120"/>
              </a:rPr>
              <a:t>modern contraceptive use among women 15–49</a:t>
            </a:r>
            <a:endParaRPr lang="en-US" sz="1400" dirty="0">
              <a:latin typeface="Georgia" panose="02040502050405020303" pitchFamily="18" charset="0"/>
            </a:endParaRPr>
          </a:p>
        </p:txBody>
      </p:sp>
      <p:sp>
        <p:nvSpPr>
          <p:cNvPr id="8" name="Shape 6"/>
          <p:cNvSpPr/>
          <p:nvPr/>
        </p:nvSpPr>
        <p:spPr>
          <a:xfrm>
            <a:off x="6492240" y="1737360"/>
            <a:ext cx="4846320" cy="3291840"/>
          </a:xfrm>
          <a:prstGeom prst="roundRect">
            <a:avLst>
              <a:gd name="adj" fmla="val 3333"/>
            </a:avLst>
          </a:prstGeom>
          <a:solidFill>
            <a:srgbClr val="144742"/>
          </a:solidFill>
          <a:ln/>
        </p:spPr>
        <p:txBody>
          <a:bodyPr/>
          <a:lstStyle/>
          <a:p>
            <a:endParaRPr lang="en-US"/>
          </a:p>
        </p:txBody>
      </p:sp>
      <p:sp>
        <p:nvSpPr>
          <p:cNvPr id="9" name="Text 7"/>
          <p:cNvSpPr/>
          <p:nvPr/>
        </p:nvSpPr>
        <p:spPr>
          <a:xfrm>
            <a:off x="6492240" y="1965960"/>
            <a:ext cx="4846320" cy="1280160"/>
          </a:xfrm>
          <a:prstGeom prst="rect">
            <a:avLst/>
          </a:prstGeom>
          <a:noFill/>
          <a:ln/>
        </p:spPr>
        <p:txBody>
          <a:bodyPr wrap="square" rtlCol="0" anchor="ctr"/>
          <a:lstStyle/>
          <a:p>
            <a:pPr marL="0" indent="0" algn="ctr">
              <a:buNone/>
            </a:pPr>
            <a:r>
              <a:rPr lang="en-US" sz="7200" b="1" dirty="0">
                <a:solidFill>
                  <a:srgbClr val="E2683F"/>
                </a:solidFill>
                <a:latin typeface="Georgia" panose="02040502050405020303" pitchFamily="18" charset="0"/>
                <a:ea typeface="Georgia" pitchFamily="34" charset="-122"/>
                <a:cs typeface="Georgia" pitchFamily="34" charset="-120"/>
              </a:rPr>
              <a:t>1.2%</a:t>
            </a:r>
            <a:endParaRPr lang="en-US" sz="7200" dirty="0">
              <a:latin typeface="Georgia" panose="02040502050405020303" pitchFamily="18" charset="0"/>
            </a:endParaRPr>
          </a:p>
        </p:txBody>
      </p:sp>
      <p:sp>
        <p:nvSpPr>
          <p:cNvPr id="10" name="Text 8"/>
          <p:cNvSpPr/>
          <p:nvPr/>
        </p:nvSpPr>
        <p:spPr>
          <a:xfrm>
            <a:off x="6492240" y="3246120"/>
            <a:ext cx="4846320" cy="320040"/>
          </a:xfrm>
          <a:prstGeom prst="rect">
            <a:avLst/>
          </a:prstGeom>
          <a:noFill/>
          <a:ln/>
        </p:spPr>
        <p:txBody>
          <a:bodyPr wrap="square" rtlCol="0" anchor="ctr"/>
          <a:lstStyle/>
          <a:p>
            <a:pPr marL="0" indent="0" algn="ctr">
              <a:buNone/>
            </a:pPr>
            <a:r>
              <a:rPr lang="en-US" sz="1400" b="1" kern="0" spc="200" dirty="0">
                <a:solidFill>
                  <a:srgbClr val="D9A441"/>
                </a:solidFill>
                <a:latin typeface="Georgia" panose="02040502050405020303" pitchFamily="18" charset="0"/>
                <a:ea typeface="Verdana" pitchFamily="34" charset="-122"/>
                <a:cs typeface="Verdana" pitchFamily="34" charset="-120"/>
              </a:rPr>
              <a:t>MANDERA COUNTY</a:t>
            </a:r>
            <a:endParaRPr lang="en-US" sz="1400" dirty="0">
              <a:latin typeface="Georgia" panose="02040502050405020303" pitchFamily="18" charset="0"/>
            </a:endParaRPr>
          </a:p>
        </p:txBody>
      </p:sp>
      <p:sp>
        <p:nvSpPr>
          <p:cNvPr id="11" name="Text 9"/>
          <p:cNvSpPr/>
          <p:nvPr/>
        </p:nvSpPr>
        <p:spPr>
          <a:xfrm>
            <a:off x="6858000" y="3611880"/>
            <a:ext cx="4114800" cy="822960"/>
          </a:xfrm>
          <a:prstGeom prst="rect">
            <a:avLst/>
          </a:prstGeom>
          <a:noFill/>
          <a:ln/>
        </p:spPr>
        <p:txBody>
          <a:bodyPr wrap="square" rtlCol="0" anchor="ctr"/>
          <a:lstStyle/>
          <a:p>
            <a:pPr marL="0" indent="0" algn="ctr">
              <a:buNone/>
            </a:pPr>
            <a:r>
              <a:rPr lang="en-US" sz="1400" dirty="0">
                <a:solidFill>
                  <a:srgbClr val="D7E8E3"/>
                </a:solidFill>
                <a:latin typeface="Georgia" panose="02040502050405020303" pitchFamily="18" charset="0"/>
                <a:ea typeface="Verdana" pitchFamily="34" charset="-122"/>
                <a:cs typeface="Verdana" pitchFamily="34" charset="-120"/>
              </a:rPr>
              <a:t>modern contraceptive use among women 15–49</a:t>
            </a:r>
            <a:endParaRPr lang="en-US" sz="1400" dirty="0">
              <a:latin typeface="Georgia" panose="02040502050405020303" pitchFamily="18" charset="0"/>
            </a:endParaRPr>
          </a:p>
        </p:txBody>
      </p:sp>
      <p:sp>
        <p:nvSpPr>
          <p:cNvPr id="12" name="Text 10"/>
          <p:cNvSpPr/>
          <p:nvPr/>
        </p:nvSpPr>
        <p:spPr>
          <a:xfrm>
            <a:off x="822960" y="5349240"/>
            <a:ext cx="10515600" cy="914400"/>
          </a:xfrm>
          <a:prstGeom prst="rect">
            <a:avLst/>
          </a:prstGeom>
          <a:noFill/>
          <a:ln/>
        </p:spPr>
        <p:txBody>
          <a:bodyPr wrap="square" rtlCol="0" anchor="ctr"/>
          <a:lstStyle/>
          <a:p>
            <a:pPr marL="0" indent="0" algn="l">
              <a:buNone/>
            </a:pPr>
            <a:r>
              <a:rPr lang="en-US" i="1" dirty="0">
                <a:solidFill>
                  <a:srgbClr val="EDECE3"/>
                </a:solidFill>
                <a:latin typeface="Georgia" panose="02040502050405020303" pitchFamily="18" charset="0"/>
                <a:ea typeface="Georgia" pitchFamily="34" charset="-122"/>
                <a:cs typeface="Georgia" pitchFamily="34" charset="-120"/>
              </a:rPr>
              <a:t>A 56-percentage-point gap between two counties in the same country — that gap is our hook, and the reason this project exists.</a:t>
            </a:r>
            <a:endParaRPr lang="en-US" dirty="0">
              <a:latin typeface="Georgia" panose="02040502050405020303" pitchFamily="18" charset="0"/>
            </a:endParaRPr>
          </a:p>
        </p:txBody>
      </p:sp>
      <p:sp>
        <p:nvSpPr>
          <p:cNvPr id="13" name="Text 11"/>
          <p:cNvSpPr/>
          <p:nvPr/>
        </p:nvSpPr>
        <p:spPr>
          <a:xfrm>
            <a:off x="11430000" y="6473952"/>
            <a:ext cx="640080" cy="274320"/>
          </a:xfrm>
          <a:prstGeom prst="rect">
            <a:avLst/>
          </a:prstGeom>
          <a:noFill/>
          <a:ln/>
        </p:spPr>
        <p:txBody>
          <a:bodyPr wrap="square" rtlCol="0" anchor="ctr"/>
          <a:lstStyle/>
          <a:p>
            <a:pPr marL="0" indent="0" algn="r">
              <a:buNone/>
            </a:pPr>
            <a:r>
              <a:rPr lang="en-US" sz="1000" dirty="0">
                <a:solidFill>
                  <a:srgbClr val="5C6E6A"/>
                </a:solidFill>
                <a:latin typeface="Georgia" panose="02040502050405020303" pitchFamily="18" charset="0"/>
                <a:ea typeface="Verdana" pitchFamily="34" charset="-122"/>
                <a:cs typeface="Verdana" pitchFamily="34" charset="-120"/>
              </a:rPr>
              <a:t>03 / 23</a:t>
            </a:r>
            <a:endParaRPr lang="en-US" sz="10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400" b="1" kern="0" spc="200" dirty="0">
                <a:solidFill>
                  <a:srgbClr val="E2683F"/>
                </a:solidFill>
                <a:latin typeface="Georgia" panose="02040502050405020303" pitchFamily="18" charset="0"/>
                <a:ea typeface="Verdana" pitchFamily="34" charset="-122"/>
                <a:cs typeface="Verdana" pitchFamily="34" charset="-120"/>
              </a:rPr>
              <a:t>THE APPROACH</a:t>
            </a:r>
            <a:endParaRPr lang="en-US" sz="14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600" b="1" dirty="0">
                <a:solidFill>
                  <a:srgbClr val="0E3B36"/>
                </a:solidFill>
                <a:latin typeface="Georgia" panose="02040502050405020303" pitchFamily="18" charset="0"/>
                <a:ea typeface="Georgia" pitchFamily="34" charset="-122"/>
                <a:cs typeface="Georgia" pitchFamily="34" charset="-120"/>
              </a:rPr>
              <a:t>What We Built</a:t>
            </a:r>
            <a:endParaRPr lang="en-US" sz="3600" dirty="0">
              <a:latin typeface="Georgia" panose="02040502050405020303" pitchFamily="18" charset="0"/>
            </a:endParaRPr>
          </a:p>
        </p:txBody>
      </p:sp>
      <p:sp>
        <p:nvSpPr>
          <p:cNvPr id="4" name="Text 2"/>
          <p:cNvSpPr/>
          <p:nvPr/>
        </p:nvSpPr>
        <p:spPr>
          <a:xfrm>
            <a:off x="548640" y="1051560"/>
            <a:ext cx="10515600" cy="457200"/>
          </a:xfrm>
          <a:prstGeom prst="rect">
            <a:avLst/>
          </a:prstGeom>
          <a:noFill/>
          <a:ln/>
        </p:spPr>
        <p:txBody>
          <a:bodyPr wrap="square" rtlCol="0" anchor="ctr"/>
          <a:lstStyle/>
          <a:p>
            <a:pPr marL="0" indent="0">
              <a:buNone/>
            </a:pPr>
            <a:r>
              <a:rPr lang="en-US" sz="1600" dirty="0">
                <a:solidFill>
                  <a:srgbClr val="5C6E6A"/>
                </a:solidFill>
                <a:latin typeface="Georgia" panose="02040502050405020303" pitchFamily="18" charset="0"/>
                <a:ea typeface="Verdana" pitchFamily="34" charset="-122"/>
                <a:cs typeface="Verdana" pitchFamily="34" charset="-120"/>
              </a:rPr>
              <a:t>A single reproducible pipeline — from raw KDHS survey codes to a live prediction API.</a:t>
            </a:r>
            <a:endParaRPr lang="en-US" sz="1600" dirty="0">
              <a:latin typeface="Georgia" panose="02040502050405020303" pitchFamily="18" charset="0"/>
            </a:endParaRPr>
          </a:p>
        </p:txBody>
      </p:sp>
      <p:sp>
        <p:nvSpPr>
          <p:cNvPr id="5" name="Shape 3"/>
          <p:cNvSpPr/>
          <p:nvPr/>
        </p:nvSpPr>
        <p:spPr>
          <a:xfrm>
            <a:off x="548640" y="2743200"/>
            <a:ext cx="1481328" cy="1371600"/>
          </a:xfrm>
          <a:prstGeom prst="roundRect">
            <a:avLst>
              <a:gd name="adj" fmla="val 6667"/>
            </a:avLst>
          </a:prstGeom>
          <a:solidFill>
            <a:srgbClr val="0E3B36"/>
          </a:solidFill>
          <a:ln/>
        </p:spPr>
        <p:txBody>
          <a:bodyPr/>
          <a:lstStyle/>
          <a:p>
            <a:endParaRPr lang="en-US"/>
          </a:p>
        </p:txBody>
      </p:sp>
      <p:sp>
        <p:nvSpPr>
          <p:cNvPr id="6" name="Text 4"/>
          <p:cNvSpPr/>
          <p:nvPr/>
        </p:nvSpPr>
        <p:spPr>
          <a:xfrm>
            <a:off x="548640" y="2880360"/>
            <a:ext cx="1481328" cy="45720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Georgia" pitchFamily="34" charset="-122"/>
                <a:cs typeface="Georgia" pitchFamily="34" charset="-120"/>
              </a:rPr>
              <a:t>Data</a:t>
            </a:r>
            <a:endParaRPr lang="en-US" sz="2000" dirty="0">
              <a:latin typeface="Georgia" panose="02040502050405020303" pitchFamily="18" charset="0"/>
            </a:endParaRPr>
          </a:p>
        </p:txBody>
      </p:sp>
      <p:sp>
        <p:nvSpPr>
          <p:cNvPr id="7" name="Text 5"/>
          <p:cNvSpPr/>
          <p:nvPr/>
        </p:nvSpPr>
        <p:spPr>
          <a:xfrm>
            <a:off x="603504" y="3364992"/>
            <a:ext cx="1371600" cy="685800"/>
          </a:xfrm>
          <a:prstGeom prst="rect">
            <a:avLst/>
          </a:prstGeom>
          <a:noFill/>
          <a:ln/>
        </p:spPr>
        <p:txBody>
          <a:bodyPr wrap="square" rtlCol="0" anchor="ctr"/>
          <a:lstStyle/>
          <a:p>
            <a:pPr marL="0" indent="0" algn="ctr">
              <a:buNone/>
            </a:pPr>
            <a:r>
              <a:rPr lang="en-US" sz="1000" dirty="0">
                <a:solidFill>
                  <a:srgbClr val="D7E8E3"/>
                </a:solidFill>
                <a:latin typeface="Georgia" panose="02040502050405020303" pitchFamily="18" charset="0"/>
                <a:ea typeface="Verdana" pitchFamily="34" charset="-122"/>
                <a:cs typeface="Verdana" pitchFamily="34" charset="-120"/>
              </a:rPr>
              <a:t>32,156 raw KDHS records</a:t>
            </a:r>
            <a:endParaRPr lang="en-US" sz="1000" dirty="0">
              <a:latin typeface="Georgia" panose="02040502050405020303" pitchFamily="18" charset="0"/>
            </a:endParaRPr>
          </a:p>
        </p:txBody>
      </p:sp>
      <p:sp>
        <p:nvSpPr>
          <p:cNvPr id="8" name="Text 6"/>
          <p:cNvSpPr/>
          <p:nvPr/>
        </p:nvSpPr>
        <p:spPr>
          <a:xfrm>
            <a:off x="2011680" y="3063240"/>
            <a:ext cx="374904" cy="640080"/>
          </a:xfrm>
          <a:prstGeom prst="rect">
            <a:avLst/>
          </a:prstGeom>
          <a:noFill/>
          <a:ln/>
        </p:spPr>
        <p:txBody>
          <a:bodyPr wrap="square" rtlCol="0" anchor="ctr"/>
          <a:lstStyle/>
          <a:p>
            <a:pPr marL="0" indent="0" algn="ctr">
              <a:buNone/>
            </a:pPr>
            <a:r>
              <a:rPr lang="en-US" sz="2000" b="1" dirty="0">
                <a:solidFill>
                  <a:srgbClr val="D9A441"/>
                </a:solidFill>
                <a:latin typeface="Georgia" panose="02040502050405020303" pitchFamily="18" charset="0"/>
                <a:ea typeface="Verdana" pitchFamily="34" charset="-122"/>
                <a:cs typeface="Verdana" pitchFamily="34" charset="-120"/>
              </a:rPr>
              <a:t>→</a:t>
            </a:r>
            <a:endParaRPr lang="en-US" sz="2000" dirty="0">
              <a:latin typeface="Georgia" panose="02040502050405020303" pitchFamily="18" charset="0"/>
            </a:endParaRPr>
          </a:p>
        </p:txBody>
      </p:sp>
      <p:sp>
        <p:nvSpPr>
          <p:cNvPr id="9" name="Shape 7"/>
          <p:cNvSpPr/>
          <p:nvPr/>
        </p:nvSpPr>
        <p:spPr>
          <a:xfrm>
            <a:off x="2176272" y="2743200"/>
            <a:ext cx="1481328" cy="1371600"/>
          </a:xfrm>
          <a:prstGeom prst="roundRect">
            <a:avLst>
              <a:gd name="adj" fmla="val 6667"/>
            </a:avLst>
          </a:prstGeom>
          <a:solidFill>
            <a:srgbClr val="1F6F6B"/>
          </a:solidFill>
          <a:ln/>
        </p:spPr>
        <p:txBody>
          <a:bodyPr/>
          <a:lstStyle/>
          <a:p>
            <a:endParaRPr lang="en-US"/>
          </a:p>
        </p:txBody>
      </p:sp>
      <p:sp>
        <p:nvSpPr>
          <p:cNvPr id="10" name="Text 8"/>
          <p:cNvSpPr/>
          <p:nvPr/>
        </p:nvSpPr>
        <p:spPr>
          <a:xfrm>
            <a:off x="2176272" y="2880360"/>
            <a:ext cx="1481328" cy="45720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Georgia" pitchFamily="34" charset="-122"/>
                <a:cs typeface="Georgia" pitchFamily="34" charset="-120"/>
              </a:rPr>
              <a:t>Clean</a:t>
            </a:r>
            <a:endParaRPr lang="en-US" sz="2000" dirty="0">
              <a:latin typeface="Georgia" panose="02040502050405020303" pitchFamily="18" charset="0"/>
            </a:endParaRPr>
          </a:p>
        </p:txBody>
      </p:sp>
      <p:sp>
        <p:nvSpPr>
          <p:cNvPr id="11" name="Text 9"/>
          <p:cNvSpPr/>
          <p:nvPr/>
        </p:nvSpPr>
        <p:spPr>
          <a:xfrm>
            <a:off x="2231136" y="3364992"/>
            <a:ext cx="1371600" cy="685800"/>
          </a:xfrm>
          <a:prstGeom prst="rect">
            <a:avLst/>
          </a:prstGeom>
          <a:noFill/>
          <a:ln/>
        </p:spPr>
        <p:txBody>
          <a:bodyPr wrap="square" rtlCol="0" anchor="ctr"/>
          <a:lstStyle/>
          <a:p>
            <a:pPr marL="0" indent="0" algn="ctr">
              <a:buNone/>
            </a:pPr>
            <a:r>
              <a:rPr lang="en-US" sz="1050" dirty="0">
                <a:solidFill>
                  <a:srgbClr val="D7E8E3"/>
                </a:solidFill>
                <a:latin typeface="Georgia" panose="02040502050405020303" pitchFamily="18" charset="0"/>
                <a:ea typeface="Verdana" pitchFamily="34" charset="-122"/>
                <a:cs typeface="Verdana" pitchFamily="34" charset="-120"/>
              </a:rPr>
              <a:t>Decode</a:t>
            </a:r>
            <a:r>
              <a:rPr lang="en-US" sz="1000" dirty="0">
                <a:solidFill>
                  <a:srgbClr val="D7E8E3"/>
                </a:solidFill>
                <a:latin typeface="Georgia" panose="02040502050405020303" pitchFamily="18" charset="0"/>
                <a:ea typeface="Verdana" pitchFamily="34" charset="-122"/>
                <a:cs typeface="Verdana" pitchFamily="34" charset="-120"/>
              </a:rPr>
              <a:t>, </a:t>
            </a:r>
            <a:r>
              <a:rPr lang="en-US" sz="1050" dirty="0">
                <a:solidFill>
                  <a:srgbClr val="D7E8E3"/>
                </a:solidFill>
                <a:latin typeface="Georgia" panose="02040502050405020303" pitchFamily="18" charset="0"/>
                <a:ea typeface="Verdana" pitchFamily="34" charset="-122"/>
                <a:cs typeface="Verdana" pitchFamily="34" charset="-120"/>
              </a:rPr>
              <a:t>validate</a:t>
            </a:r>
            <a:r>
              <a:rPr lang="en-US" sz="1000" dirty="0">
                <a:solidFill>
                  <a:srgbClr val="D7E8E3"/>
                </a:solidFill>
                <a:latin typeface="Georgia" panose="02040502050405020303" pitchFamily="18" charset="0"/>
                <a:ea typeface="Verdana" pitchFamily="34" charset="-122"/>
                <a:cs typeface="Verdana" pitchFamily="34" charset="-120"/>
              </a:rPr>
              <a:t>, no leakage</a:t>
            </a:r>
            <a:endParaRPr lang="en-US" sz="1000" dirty="0">
              <a:latin typeface="Georgia" panose="02040502050405020303" pitchFamily="18" charset="0"/>
            </a:endParaRPr>
          </a:p>
        </p:txBody>
      </p:sp>
      <p:sp>
        <p:nvSpPr>
          <p:cNvPr id="12" name="Text 10"/>
          <p:cNvSpPr/>
          <p:nvPr/>
        </p:nvSpPr>
        <p:spPr>
          <a:xfrm>
            <a:off x="3639312" y="3063240"/>
            <a:ext cx="374904" cy="640080"/>
          </a:xfrm>
          <a:prstGeom prst="rect">
            <a:avLst/>
          </a:prstGeom>
          <a:noFill/>
          <a:ln/>
        </p:spPr>
        <p:txBody>
          <a:bodyPr wrap="square" rtlCol="0" anchor="ctr"/>
          <a:lstStyle/>
          <a:p>
            <a:pPr marL="0" indent="0" algn="ctr">
              <a:buNone/>
            </a:pPr>
            <a:r>
              <a:rPr lang="en-US" sz="2000" b="1" dirty="0">
                <a:solidFill>
                  <a:srgbClr val="D9A441"/>
                </a:solidFill>
                <a:latin typeface="Georgia" panose="02040502050405020303" pitchFamily="18" charset="0"/>
                <a:ea typeface="Verdana" pitchFamily="34" charset="-122"/>
                <a:cs typeface="Verdana" pitchFamily="34" charset="-120"/>
              </a:rPr>
              <a:t>→</a:t>
            </a:r>
            <a:endParaRPr lang="en-US" sz="2000" dirty="0">
              <a:latin typeface="Georgia" panose="02040502050405020303" pitchFamily="18" charset="0"/>
            </a:endParaRPr>
          </a:p>
        </p:txBody>
      </p:sp>
      <p:sp>
        <p:nvSpPr>
          <p:cNvPr id="13" name="Shape 11"/>
          <p:cNvSpPr/>
          <p:nvPr/>
        </p:nvSpPr>
        <p:spPr>
          <a:xfrm>
            <a:off x="3803904" y="2743200"/>
            <a:ext cx="1481328" cy="1371600"/>
          </a:xfrm>
          <a:prstGeom prst="roundRect">
            <a:avLst>
              <a:gd name="adj" fmla="val 6667"/>
            </a:avLst>
          </a:prstGeom>
          <a:solidFill>
            <a:srgbClr val="0E3B36"/>
          </a:solidFill>
          <a:ln/>
        </p:spPr>
        <p:txBody>
          <a:bodyPr/>
          <a:lstStyle/>
          <a:p>
            <a:endParaRPr lang="en-US"/>
          </a:p>
        </p:txBody>
      </p:sp>
      <p:sp>
        <p:nvSpPr>
          <p:cNvPr id="14" name="Text 12"/>
          <p:cNvSpPr/>
          <p:nvPr/>
        </p:nvSpPr>
        <p:spPr>
          <a:xfrm>
            <a:off x="3803904" y="2880360"/>
            <a:ext cx="1481328" cy="45720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Georgia" pitchFamily="34" charset="-122"/>
                <a:cs typeface="Georgia" pitchFamily="34" charset="-120"/>
              </a:rPr>
              <a:t>Explore</a:t>
            </a:r>
            <a:endParaRPr lang="en-US" sz="2000" dirty="0">
              <a:latin typeface="Georgia" panose="02040502050405020303" pitchFamily="18" charset="0"/>
            </a:endParaRPr>
          </a:p>
        </p:txBody>
      </p:sp>
      <p:sp>
        <p:nvSpPr>
          <p:cNvPr id="15" name="Text 13"/>
          <p:cNvSpPr/>
          <p:nvPr/>
        </p:nvSpPr>
        <p:spPr>
          <a:xfrm>
            <a:off x="3858768" y="3364992"/>
            <a:ext cx="1371600" cy="685800"/>
          </a:xfrm>
          <a:prstGeom prst="rect">
            <a:avLst/>
          </a:prstGeom>
          <a:noFill/>
          <a:ln/>
        </p:spPr>
        <p:txBody>
          <a:bodyPr wrap="square" rtlCol="0" anchor="ctr"/>
          <a:lstStyle/>
          <a:p>
            <a:pPr marL="0" indent="0" algn="ctr">
              <a:buNone/>
            </a:pPr>
            <a:r>
              <a:rPr lang="en-US" sz="1000" dirty="0">
                <a:solidFill>
                  <a:srgbClr val="D7E8E3"/>
                </a:solidFill>
                <a:latin typeface="Georgia" panose="02040502050405020303" pitchFamily="18" charset="0"/>
                <a:ea typeface="Verdana" pitchFamily="34" charset="-122"/>
                <a:cs typeface="Verdana" pitchFamily="34" charset="-120"/>
              </a:rPr>
              <a:t>Univariate → multivariate EDA</a:t>
            </a:r>
            <a:endParaRPr lang="en-US" sz="1000" dirty="0">
              <a:latin typeface="Georgia" panose="02040502050405020303" pitchFamily="18" charset="0"/>
            </a:endParaRPr>
          </a:p>
        </p:txBody>
      </p:sp>
      <p:sp>
        <p:nvSpPr>
          <p:cNvPr id="16" name="Text 14"/>
          <p:cNvSpPr/>
          <p:nvPr/>
        </p:nvSpPr>
        <p:spPr>
          <a:xfrm>
            <a:off x="5266944" y="3063240"/>
            <a:ext cx="374904" cy="640080"/>
          </a:xfrm>
          <a:prstGeom prst="rect">
            <a:avLst/>
          </a:prstGeom>
          <a:noFill/>
          <a:ln/>
        </p:spPr>
        <p:txBody>
          <a:bodyPr wrap="square" rtlCol="0" anchor="ctr"/>
          <a:lstStyle/>
          <a:p>
            <a:pPr marL="0" indent="0" algn="ctr">
              <a:buNone/>
            </a:pPr>
            <a:r>
              <a:rPr lang="en-US" sz="2000" b="1" dirty="0">
                <a:solidFill>
                  <a:srgbClr val="D9A441"/>
                </a:solidFill>
                <a:latin typeface="Georgia" panose="02040502050405020303" pitchFamily="18" charset="0"/>
                <a:ea typeface="Verdana" pitchFamily="34" charset="-122"/>
                <a:cs typeface="Verdana" pitchFamily="34" charset="-120"/>
              </a:rPr>
              <a:t>→</a:t>
            </a:r>
            <a:endParaRPr lang="en-US" sz="2000" dirty="0">
              <a:latin typeface="Georgia" panose="02040502050405020303" pitchFamily="18" charset="0"/>
            </a:endParaRPr>
          </a:p>
        </p:txBody>
      </p:sp>
      <p:sp>
        <p:nvSpPr>
          <p:cNvPr id="17" name="Shape 15"/>
          <p:cNvSpPr/>
          <p:nvPr/>
        </p:nvSpPr>
        <p:spPr>
          <a:xfrm>
            <a:off x="5431536" y="2743200"/>
            <a:ext cx="1481328" cy="1371600"/>
          </a:xfrm>
          <a:prstGeom prst="roundRect">
            <a:avLst>
              <a:gd name="adj" fmla="val 6667"/>
            </a:avLst>
          </a:prstGeom>
          <a:solidFill>
            <a:srgbClr val="1F6F6B"/>
          </a:solidFill>
          <a:ln/>
        </p:spPr>
        <p:txBody>
          <a:bodyPr/>
          <a:lstStyle/>
          <a:p>
            <a:endParaRPr lang="en-US"/>
          </a:p>
        </p:txBody>
      </p:sp>
      <p:sp>
        <p:nvSpPr>
          <p:cNvPr id="18" name="Text 16"/>
          <p:cNvSpPr/>
          <p:nvPr/>
        </p:nvSpPr>
        <p:spPr>
          <a:xfrm>
            <a:off x="5431536" y="2880360"/>
            <a:ext cx="1481328" cy="45720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Georgia" pitchFamily="34" charset="-122"/>
                <a:cs typeface="Georgia" pitchFamily="34" charset="-120"/>
              </a:rPr>
              <a:t>Engineer</a:t>
            </a:r>
            <a:endParaRPr lang="en-US" sz="2000" dirty="0">
              <a:latin typeface="Georgia" panose="02040502050405020303" pitchFamily="18" charset="0"/>
            </a:endParaRPr>
          </a:p>
        </p:txBody>
      </p:sp>
      <p:sp>
        <p:nvSpPr>
          <p:cNvPr id="19" name="Text 17"/>
          <p:cNvSpPr/>
          <p:nvPr/>
        </p:nvSpPr>
        <p:spPr>
          <a:xfrm>
            <a:off x="5486400" y="3364992"/>
            <a:ext cx="1371600" cy="685800"/>
          </a:xfrm>
          <a:prstGeom prst="rect">
            <a:avLst/>
          </a:prstGeom>
          <a:noFill/>
          <a:ln/>
        </p:spPr>
        <p:txBody>
          <a:bodyPr wrap="square" rtlCol="0" anchor="ctr"/>
          <a:lstStyle/>
          <a:p>
            <a:pPr marL="0" indent="0" algn="ctr">
              <a:buNone/>
            </a:pPr>
            <a:r>
              <a:rPr lang="en-US" sz="1000" dirty="0">
                <a:solidFill>
                  <a:srgbClr val="D7E8E3"/>
                </a:solidFill>
                <a:latin typeface="Georgia" panose="02040502050405020303" pitchFamily="18" charset="0"/>
                <a:ea typeface="Verdana" pitchFamily="34" charset="-122"/>
                <a:cs typeface="Verdana" pitchFamily="34" charset="-120"/>
              </a:rPr>
              <a:t>20 → 37 features</a:t>
            </a:r>
            <a:endParaRPr lang="en-US" sz="1000" dirty="0">
              <a:latin typeface="Georgia" panose="02040502050405020303" pitchFamily="18" charset="0"/>
            </a:endParaRPr>
          </a:p>
        </p:txBody>
      </p:sp>
      <p:sp>
        <p:nvSpPr>
          <p:cNvPr id="20" name="Text 18"/>
          <p:cNvSpPr/>
          <p:nvPr/>
        </p:nvSpPr>
        <p:spPr>
          <a:xfrm>
            <a:off x="6894576" y="3063240"/>
            <a:ext cx="374904" cy="640080"/>
          </a:xfrm>
          <a:prstGeom prst="rect">
            <a:avLst/>
          </a:prstGeom>
          <a:noFill/>
          <a:ln/>
        </p:spPr>
        <p:txBody>
          <a:bodyPr wrap="square" rtlCol="0" anchor="ctr"/>
          <a:lstStyle/>
          <a:p>
            <a:pPr marL="0" indent="0" algn="ctr">
              <a:buNone/>
            </a:pPr>
            <a:r>
              <a:rPr lang="en-US" sz="2000" b="1" dirty="0">
                <a:solidFill>
                  <a:srgbClr val="D9A441"/>
                </a:solidFill>
                <a:latin typeface="Georgia" panose="02040502050405020303" pitchFamily="18" charset="0"/>
                <a:ea typeface="Verdana" pitchFamily="34" charset="-122"/>
                <a:cs typeface="Verdana" pitchFamily="34" charset="-120"/>
              </a:rPr>
              <a:t>→</a:t>
            </a:r>
            <a:endParaRPr lang="en-US" sz="2000" dirty="0">
              <a:latin typeface="Georgia" panose="02040502050405020303" pitchFamily="18" charset="0"/>
            </a:endParaRPr>
          </a:p>
        </p:txBody>
      </p:sp>
      <p:sp>
        <p:nvSpPr>
          <p:cNvPr id="21" name="Shape 19"/>
          <p:cNvSpPr/>
          <p:nvPr/>
        </p:nvSpPr>
        <p:spPr>
          <a:xfrm>
            <a:off x="7059168" y="2743200"/>
            <a:ext cx="1481328" cy="1371600"/>
          </a:xfrm>
          <a:prstGeom prst="roundRect">
            <a:avLst>
              <a:gd name="adj" fmla="val 6667"/>
            </a:avLst>
          </a:prstGeom>
          <a:solidFill>
            <a:srgbClr val="0E3B36"/>
          </a:solidFill>
          <a:ln/>
        </p:spPr>
        <p:txBody>
          <a:bodyPr/>
          <a:lstStyle/>
          <a:p>
            <a:endParaRPr lang="en-US"/>
          </a:p>
        </p:txBody>
      </p:sp>
      <p:sp>
        <p:nvSpPr>
          <p:cNvPr id="22" name="Text 20"/>
          <p:cNvSpPr/>
          <p:nvPr/>
        </p:nvSpPr>
        <p:spPr>
          <a:xfrm>
            <a:off x="7059168" y="2880360"/>
            <a:ext cx="1481328" cy="45720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Georgia" pitchFamily="34" charset="-122"/>
                <a:cs typeface="Georgia" pitchFamily="34" charset="-120"/>
              </a:rPr>
              <a:t>Train</a:t>
            </a:r>
            <a:endParaRPr lang="en-US" sz="2000" dirty="0">
              <a:latin typeface="Georgia" panose="02040502050405020303" pitchFamily="18" charset="0"/>
            </a:endParaRPr>
          </a:p>
        </p:txBody>
      </p:sp>
      <p:sp>
        <p:nvSpPr>
          <p:cNvPr id="23" name="Text 21"/>
          <p:cNvSpPr/>
          <p:nvPr/>
        </p:nvSpPr>
        <p:spPr>
          <a:xfrm>
            <a:off x="7114032" y="3364992"/>
            <a:ext cx="1371600" cy="685800"/>
          </a:xfrm>
          <a:prstGeom prst="rect">
            <a:avLst/>
          </a:prstGeom>
          <a:noFill/>
          <a:ln/>
        </p:spPr>
        <p:txBody>
          <a:bodyPr wrap="square" rtlCol="0" anchor="ctr"/>
          <a:lstStyle/>
          <a:p>
            <a:pPr marL="0" indent="0" algn="ctr">
              <a:buNone/>
            </a:pPr>
            <a:r>
              <a:rPr lang="en-US" sz="1000" dirty="0">
                <a:solidFill>
                  <a:srgbClr val="D7E8E3"/>
                </a:solidFill>
                <a:latin typeface="Georgia" panose="02040502050405020303" pitchFamily="18" charset="0"/>
                <a:ea typeface="Verdana" pitchFamily="34" charset="-122"/>
                <a:cs typeface="Verdana" pitchFamily="34" charset="-120"/>
              </a:rPr>
              <a:t>5 models, SMOTE-balanced</a:t>
            </a:r>
            <a:endParaRPr lang="en-US" sz="1000" dirty="0">
              <a:latin typeface="Georgia" panose="02040502050405020303" pitchFamily="18" charset="0"/>
            </a:endParaRPr>
          </a:p>
        </p:txBody>
      </p:sp>
      <p:sp>
        <p:nvSpPr>
          <p:cNvPr id="24" name="Text 22"/>
          <p:cNvSpPr/>
          <p:nvPr/>
        </p:nvSpPr>
        <p:spPr>
          <a:xfrm>
            <a:off x="8522208" y="3063240"/>
            <a:ext cx="374904" cy="640080"/>
          </a:xfrm>
          <a:prstGeom prst="rect">
            <a:avLst/>
          </a:prstGeom>
          <a:noFill/>
          <a:ln/>
        </p:spPr>
        <p:txBody>
          <a:bodyPr wrap="square" rtlCol="0" anchor="ctr"/>
          <a:lstStyle/>
          <a:p>
            <a:pPr marL="0" indent="0" algn="ctr">
              <a:buNone/>
            </a:pPr>
            <a:r>
              <a:rPr lang="en-US" sz="2000" b="1" dirty="0">
                <a:solidFill>
                  <a:srgbClr val="D9A441"/>
                </a:solidFill>
                <a:latin typeface="Georgia" panose="02040502050405020303" pitchFamily="18" charset="0"/>
                <a:ea typeface="Verdana" pitchFamily="34" charset="-122"/>
                <a:cs typeface="Verdana" pitchFamily="34" charset="-120"/>
              </a:rPr>
              <a:t>→</a:t>
            </a:r>
            <a:endParaRPr lang="en-US" sz="2000" dirty="0">
              <a:latin typeface="Georgia" panose="02040502050405020303" pitchFamily="18" charset="0"/>
            </a:endParaRPr>
          </a:p>
        </p:txBody>
      </p:sp>
      <p:sp>
        <p:nvSpPr>
          <p:cNvPr id="25" name="Shape 23"/>
          <p:cNvSpPr/>
          <p:nvPr/>
        </p:nvSpPr>
        <p:spPr>
          <a:xfrm>
            <a:off x="8686800" y="2743200"/>
            <a:ext cx="1481328" cy="1371600"/>
          </a:xfrm>
          <a:prstGeom prst="roundRect">
            <a:avLst>
              <a:gd name="adj" fmla="val 6667"/>
            </a:avLst>
          </a:prstGeom>
          <a:solidFill>
            <a:srgbClr val="1F6F6B"/>
          </a:solidFill>
          <a:ln/>
        </p:spPr>
        <p:txBody>
          <a:bodyPr/>
          <a:lstStyle/>
          <a:p>
            <a:endParaRPr lang="en-US"/>
          </a:p>
        </p:txBody>
      </p:sp>
      <p:sp>
        <p:nvSpPr>
          <p:cNvPr id="26" name="Text 24"/>
          <p:cNvSpPr/>
          <p:nvPr/>
        </p:nvSpPr>
        <p:spPr>
          <a:xfrm>
            <a:off x="8686800" y="2880360"/>
            <a:ext cx="1481328" cy="45720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Georgia" pitchFamily="34" charset="-122"/>
                <a:cs typeface="Georgia" pitchFamily="34" charset="-120"/>
              </a:rPr>
              <a:t>Explain</a:t>
            </a:r>
            <a:endParaRPr lang="en-US" sz="2000" dirty="0">
              <a:latin typeface="Georgia" panose="02040502050405020303" pitchFamily="18" charset="0"/>
            </a:endParaRPr>
          </a:p>
        </p:txBody>
      </p:sp>
      <p:sp>
        <p:nvSpPr>
          <p:cNvPr id="27" name="Text 25"/>
          <p:cNvSpPr/>
          <p:nvPr/>
        </p:nvSpPr>
        <p:spPr>
          <a:xfrm>
            <a:off x="8741664" y="3364992"/>
            <a:ext cx="1371600" cy="685800"/>
          </a:xfrm>
          <a:prstGeom prst="rect">
            <a:avLst/>
          </a:prstGeom>
          <a:noFill/>
          <a:ln/>
        </p:spPr>
        <p:txBody>
          <a:bodyPr wrap="square" rtlCol="0" anchor="ctr"/>
          <a:lstStyle/>
          <a:p>
            <a:pPr marL="0" indent="0" algn="ctr">
              <a:buNone/>
            </a:pPr>
            <a:r>
              <a:rPr lang="en-US" sz="1000" dirty="0">
                <a:solidFill>
                  <a:srgbClr val="D7E8E3"/>
                </a:solidFill>
                <a:latin typeface="Georgia" panose="02040502050405020303" pitchFamily="18" charset="0"/>
                <a:ea typeface="Verdana" pitchFamily="34" charset="-122"/>
                <a:cs typeface="Verdana" pitchFamily="34" charset="-120"/>
              </a:rPr>
              <a:t>SHAP on 1,500 respondents</a:t>
            </a:r>
            <a:endParaRPr lang="en-US" sz="1000" dirty="0">
              <a:latin typeface="Georgia" panose="02040502050405020303" pitchFamily="18" charset="0"/>
            </a:endParaRPr>
          </a:p>
        </p:txBody>
      </p:sp>
      <p:sp>
        <p:nvSpPr>
          <p:cNvPr id="28" name="Text 26"/>
          <p:cNvSpPr/>
          <p:nvPr/>
        </p:nvSpPr>
        <p:spPr>
          <a:xfrm>
            <a:off x="10149840" y="3063240"/>
            <a:ext cx="374904" cy="640080"/>
          </a:xfrm>
          <a:prstGeom prst="rect">
            <a:avLst/>
          </a:prstGeom>
          <a:noFill/>
          <a:ln/>
        </p:spPr>
        <p:txBody>
          <a:bodyPr wrap="square" rtlCol="0" anchor="ctr"/>
          <a:lstStyle/>
          <a:p>
            <a:pPr marL="0" indent="0" algn="ctr">
              <a:buNone/>
            </a:pPr>
            <a:r>
              <a:rPr lang="en-US" sz="2000" b="1" dirty="0">
                <a:solidFill>
                  <a:srgbClr val="D9A441"/>
                </a:solidFill>
                <a:latin typeface="Georgia" panose="02040502050405020303" pitchFamily="18" charset="0"/>
                <a:ea typeface="Verdana" pitchFamily="34" charset="-122"/>
                <a:cs typeface="Verdana" pitchFamily="34" charset="-120"/>
              </a:rPr>
              <a:t>→</a:t>
            </a:r>
            <a:endParaRPr lang="en-US" sz="2000" dirty="0">
              <a:latin typeface="Georgia" panose="02040502050405020303" pitchFamily="18" charset="0"/>
            </a:endParaRPr>
          </a:p>
        </p:txBody>
      </p:sp>
      <p:sp>
        <p:nvSpPr>
          <p:cNvPr id="29" name="Shape 27"/>
          <p:cNvSpPr/>
          <p:nvPr/>
        </p:nvSpPr>
        <p:spPr>
          <a:xfrm>
            <a:off x="10314432" y="2743200"/>
            <a:ext cx="1481328" cy="1371600"/>
          </a:xfrm>
          <a:prstGeom prst="roundRect">
            <a:avLst>
              <a:gd name="adj" fmla="val 6667"/>
            </a:avLst>
          </a:prstGeom>
          <a:solidFill>
            <a:srgbClr val="0E3B36"/>
          </a:solidFill>
          <a:ln/>
        </p:spPr>
        <p:txBody>
          <a:bodyPr/>
          <a:lstStyle/>
          <a:p>
            <a:endParaRPr lang="en-US"/>
          </a:p>
        </p:txBody>
      </p:sp>
      <p:sp>
        <p:nvSpPr>
          <p:cNvPr id="30" name="Text 28"/>
          <p:cNvSpPr/>
          <p:nvPr/>
        </p:nvSpPr>
        <p:spPr>
          <a:xfrm>
            <a:off x="10314432" y="2880360"/>
            <a:ext cx="1481328" cy="457200"/>
          </a:xfrm>
          <a:prstGeom prst="rect">
            <a:avLst/>
          </a:prstGeom>
          <a:noFill/>
          <a:ln/>
        </p:spPr>
        <p:txBody>
          <a:bodyPr wrap="square" rtlCol="0" anchor="ctr"/>
          <a:lstStyle/>
          <a:p>
            <a:pPr marL="0" indent="0" algn="ctr">
              <a:buNone/>
            </a:pPr>
            <a:r>
              <a:rPr lang="en-US" sz="2000" b="1" dirty="0">
                <a:solidFill>
                  <a:srgbClr val="FFFFFF"/>
                </a:solidFill>
                <a:latin typeface="Georgia" panose="02040502050405020303" pitchFamily="18" charset="0"/>
                <a:ea typeface="Georgia" pitchFamily="34" charset="-122"/>
                <a:cs typeface="Georgia" pitchFamily="34" charset="-120"/>
              </a:rPr>
              <a:t>Deploy</a:t>
            </a:r>
            <a:endParaRPr lang="en-US" sz="2000" dirty="0">
              <a:latin typeface="Georgia" panose="02040502050405020303" pitchFamily="18" charset="0"/>
            </a:endParaRPr>
          </a:p>
        </p:txBody>
      </p:sp>
      <p:sp>
        <p:nvSpPr>
          <p:cNvPr id="31" name="Text 29"/>
          <p:cNvSpPr/>
          <p:nvPr/>
        </p:nvSpPr>
        <p:spPr>
          <a:xfrm>
            <a:off x="10369296" y="3364992"/>
            <a:ext cx="1371600" cy="685800"/>
          </a:xfrm>
          <a:prstGeom prst="rect">
            <a:avLst/>
          </a:prstGeom>
          <a:noFill/>
          <a:ln/>
        </p:spPr>
        <p:txBody>
          <a:bodyPr wrap="square" rtlCol="0" anchor="ctr"/>
          <a:lstStyle/>
          <a:p>
            <a:pPr marL="0" indent="0" algn="ctr">
              <a:buNone/>
            </a:pPr>
            <a:r>
              <a:rPr lang="en-US" sz="1000" dirty="0">
                <a:solidFill>
                  <a:srgbClr val="D7E8E3"/>
                </a:solidFill>
                <a:latin typeface="Georgia" panose="02040502050405020303" pitchFamily="18" charset="0"/>
                <a:ea typeface="Verdana" pitchFamily="34" charset="-122"/>
                <a:cs typeface="Verdana" pitchFamily="34" charset="-120"/>
              </a:rPr>
              <a:t>Flask API on Render.com</a:t>
            </a:r>
            <a:endParaRPr lang="en-US" sz="1000" dirty="0">
              <a:latin typeface="Georgia" panose="02040502050405020303" pitchFamily="18" charset="0"/>
            </a:endParaRPr>
          </a:p>
        </p:txBody>
      </p:sp>
      <p:sp>
        <p:nvSpPr>
          <p:cNvPr id="32" name="Text 30"/>
          <p:cNvSpPr/>
          <p:nvPr/>
        </p:nvSpPr>
        <p:spPr>
          <a:xfrm>
            <a:off x="548640" y="4663440"/>
            <a:ext cx="10058400" cy="365760"/>
          </a:xfrm>
          <a:prstGeom prst="rect">
            <a:avLst/>
          </a:prstGeom>
          <a:noFill/>
          <a:ln/>
        </p:spPr>
        <p:txBody>
          <a:bodyPr wrap="square" rtlCol="0" anchor="ctr"/>
          <a:lstStyle/>
          <a:p>
            <a:pPr marL="0" indent="0">
              <a:buNone/>
            </a:pPr>
            <a:r>
              <a:rPr lang="en-US" sz="1600" i="1" dirty="0">
                <a:solidFill>
                  <a:srgbClr val="5C6E6A"/>
                </a:solidFill>
                <a:latin typeface="Georgia" panose="02040502050405020303" pitchFamily="18" charset="0"/>
                <a:ea typeface="Verdana" pitchFamily="34" charset="-122"/>
                <a:cs typeface="Verdana" pitchFamily="34" charset="-120"/>
              </a:rPr>
              <a:t>CRISP-DM methodology  ·  Python · scikit-learn · LightGBM · SHAP · Flask</a:t>
            </a:r>
            <a:endParaRPr lang="en-US" sz="1600" dirty="0">
              <a:latin typeface="Georgia" panose="02040502050405020303" pitchFamily="18" charset="0"/>
            </a:endParaRPr>
          </a:p>
        </p:txBody>
      </p:sp>
      <p:sp>
        <p:nvSpPr>
          <p:cNvPr id="33" name="Text 31"/>
          <p:cNvSpPr/>
          <p:nvPr/>
        </p:nvSpPr>
        <p:spPr>
          <a:xfrm>
            <a:off x="548640" y="6473952"/>
            <a:ext cx="7315200" cy="274320"/>
          </a:xfrm>
          <a:prstGeom prst="rect">
            <a:avLst/>
          </a:prstGeom>
          <a:noFill/>
          <a:ln/>
        </p:spPr>
        <p:txBody>
          <a:bodyPr wrap="square" rtlCol="0" anchor="ctr"/>
          <a:lstStyle/>
          <a:p>
            <a:pPr marL="0" indent="0">
              <a:buNone/>
            </a:pPr>
            <a:r>
              <a:rPr lang="en-US" sz="1050" dirty="0">
                <a:solidFill>
                  <a:srgbClr val="5C6E6A"/>
                </a:solidFill>
                <a:latin typeface="Georgia" panose="02040502050405020303" pitchFamily="18" charset="0"/>
                <a:ea typeface="Verdana" pitchFamily="34" charset="-122"/>
                <a:cs typeface="Verdana" pitchFamily="34" charset="-120"/>
              </a:rPr>
              <a:t>The Insight Architects — </a:t>
            </a:r>
            <a:r>
              <a:rPr lang="en-US" sz="1050">
                <a:solidFill>
                  <a:srgbClr val="5C6E6A"/>
                </a:solidFill>
                <a:latin typeface="Georgia" panose="02040502050405020303" pitchFamily="18" charset="0"/>
                <a:ea typeface="Verdana" pitchFamily="34" charset="-122"/>
                <a:cs typeface="Verdana" pitchFamily="34" charset="-120"/>
              </a:rPr>
              <a:t>KDHS 2022 </a:t>
            </a:r>
            <a:r>
              <a:rPr lang="en-US" sz="1050" dirty="0">
                <a:solidFill>
                  <a:srgbClr val="5C6E6A"/>
                </a:solidFill>
                <a:latin typeface="Georgia" panose="02040502050405020303" pitchFamily="18" charset="0"/>
                <a:ea typeface="Verdana" pitchFamily="34" charset="-122"/>
                <a:cs typeface="Verdana" pitchFamily="34" charset="-120"/>
              </a:rPr>
              <a:t>Capstone</a:t>
            </a:r>
            <a:endParaRPr lang="en-US" sz="1050" dirty="0">
              <a:latin typeface="Georgia" panose="02040502050405020303" pitchFamily="18" charset="0"/>
            </a:endParaRPr>
          </a:p>
        </p:txBody>
      </p:sp>
      <p:sp>
        <p:nvSpPr>
          <p:cNvPr id="34" name="Text 32"/>
          <p:cNvSpPr/>
          <p:nvPr/>
        </p:nvSpPr>
        <p:spPr>
          <a:xfrm>
            <a:off x="11430000" y="6473952"/>
            <a:ext cx="640080" cy="274320"/>
          </a:xfrm>
          <a:prstGeom prst="rect">
            <a:avLst/>
          </a:prstGeom>
          <a:noFill/>
          <a:ln/>
        </p:spPr>
        <p:txBody>
          <a:bodyPr wrap="square" rtlCol="0" anchor="ctr"/>
          <a:lstStyle/>
          <a:p>
            <a:pPr marL="0" indent="0" algn="r">
              <a:buNone/>
            </a:pPr>
            <a:r>
              <a:rPr lang="en-US" sz="1050" dirty="0">
                <a:solidFill>
                  <a:srgbClr val="5C6E6A"/>
                </a:solidFill>
                <a:latin typeface="Georgia" panose="02040502050405020303" pitchFamily="18" charset="0"/>
                <a:ea typeface="Verdana" pitchFamily="34" charset="-122"/>
                <a:cs typeface="Verdana" pitchFamily="34" charset="-120"/>
              </a:rPr>
              <a:t>04 / 23</a:t>
            </a:r>
            <a:endParaRPr lang="en-US" sz="105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400" b="1" kern="0" spc="200" dirty="0">
                <a:solidFill>
                  <a:srgbClr val="E2683F"/>
                </a:solidFill>
                <a:latin typeface="Georgia" panose="02040502050405020303" pitchFamily="18" charset="0"/>
                <a:ea typeface="Verdana" pitchFamily="34" charset="-122"/>
                <a:cs typeface="Verdana" pitchFamily="34" charset="-120"/>
              </a:rPr>
              <a:t>DATA UNDERSTANDING</a:t>
            </a:r>
            <a:endParaRPr lang="en-US" sz="14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The Dataset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2790323474"/>
              </p:ext>
            </p:extLst>
          </p:nvPr>
        </p:nvGraphicFramePr>
        <p:xfrm>
          <a:off x="548640" y="1371600"/>
          <a:ext cx="7863840" cy="3453107"/>
        </p:xfrm>
        <a:graphic>
          <a:graphicData uri="http://schemas.openxmlformats.org/drawingml/2006/table">
            <a:tbl>
              <a:tblPr/>
              <a:tblGrid>
                <a:gridCol w="2743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581891">
                <a:tc>
                  <a:txBody>
                    <a:bodyPr/>
                    <a:lstStyle/>
                    <a:p>
                      <a:pPr marL="0" indent="0">
                        <a:buNone/>
                      </a:pPr>
                      <a:r>
                        <a:rPr lang="en-US" sz="1600" b="1" dirty="0">
                          <a:solidFill>
                            <a:srgbClr val="FFFFFF"/>
                          </a:solidFill>
                          <a:latin typeface="Georgia" panose="02040502050405020303" pitchFamily="18" charset="0"/>
                          <a:ea typeface="Verdana" pitchFamily="34" charset="-122"/>
                          <a:cs typeface="Verdana" pitchFamily="34" charset="-120"/>
                        </a:rPr>
                        <a:t>Source</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buNone/>
                      </a:pPr>
                      <a:r>
                        <a:rPr lang="en-US" sz="1600" b="1" dirty="0">
                          <a:solidFill>
                            <a:srgbClr val="FFFFFF"/>
                          </a:solidFill>
                          <a:latin typeface="Georgia" panose="02040502050405020303" pitchFamily="18" charset="0"/>
                          <a:ea typeface="Verdana" pitchFamily="34" charset="-122"/>
                          <a:cs typeface="Verdana" pitchFamily="34" charset="-120"/>
                        </a:rPr>
                        <a:t>Detail</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Survey</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a:solidFill>
                            <a:srgbClr val="1B2E2B"/>
                          </a:solidFill>
                          <a:latin typeface="Georgia" panose="02040502050405020303" pitchFamily="18" charset="0"/>
                          <a:ea typeface="Verdana" pitchFamily="34" charset="-122"/>
                          <a:cs typeface="Verdana" pitchFamily="34" charset="-120"/>
                        </a:rPr>
                        <a:t>2022 </a:t>
                      </a:r>
                      <a:r>
                        <a:rPr lang="en-US" sz="1600" dirty="0">
                          <a:solidFill>
                            <a:srgbClr val="1B2E2B"/>
                          </a:solidFill>
                          <a:latin typeface="Georgia" panose="02040502050405020303" pitchFamily="18" charset="0"/>
                          <a:ea typeface="Verdana" pitchFamily="34" charset="-122"/>
                          <a:cs typeface="Verdana" pitchFamily="34" charset="-120"/>
                        </a:rPr>
                        <a:t>Kenya Demographic and Health Survey (KDHS) — Women's Questionnaire</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Respondents</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32,156 women aged 15–49</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Geographic coverage</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All 47 counties of Kenya</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Target variable</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contraceptive_use — 4 classes: No method, Modern, Traditional, Folkloric</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Raw dimensionality</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5,925 survey columns → 17 theory-selected fields as the modelling base</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2"/>
          <p:cNvSpPr/>
          <p:nvPr/>
        </p:nvSpPr>
        <p:spPr>
          <a:xfrm>
            <a:off x="8732520" y="1371600"/>
            <a:ext cx="2880360" cy="3566160"/>
          </a:xfrm>
          <a:prstGeom prst="roundRect">
            <a:avLst>
              <a:gd name="adj" fmla="val 3175"/>
            </a:avLst>
          </a:prstGeom>
          <a:solidFill>
            <a:srgbClr val="F6F3EC"/>
          </a:solidFill>
          <a:ln/>
        </p:spPr>
        <p:txBody>
          <a:bodyPr/>
          <a:lstStyle/>
          <a:p>
            <a:endParaRPr lang="en-US"/>
          </a:p>
        </p:txBody>
      </p:sp>
      <p:sp>
        <p:nvSpPr>
          <p:cNvPr id="6" name="Text 3"/>
          <p:cNvSpPr/>
          <p:nvPr/>
        </p:nvSpPr>
        <p:spPr>
          <a:xfrm>
            <a:off x="8915400" y="1508760"/>
            <a:ext cx="2514600" cy="365760"/>
          </a:xfrm>
          <a:prstGeom prst="rect">
            <a:avLst/>
          </a:prstGeom>
          <a:noFill/>
          <a:ln/>
        </p:spPr>
        <p:txBody>
          <a:bodyPr wrap="square" rtlCol="0" anchor="ctr"/>
          <a:lstStyle/>
          <a:p>
            <a:pPr marL="0" indent="0">
              <a:buNone/>
            </a:pPr>
            <a:r>
              <a:rPr lang="en-US" sz="1400" b="1" dirty="0">
                <a:solidFill>
                  <a:srgbClr val="0E3B36"/>
                </a:solidFill>
                <a:latin typeface="Georgia" pitchFamily="34" charset="0"/>
                <a:ea typeface="Georgia" pitchFamily="34" charset="-122"/>
                <a:cs typeface="Georgia" pitchFamily="34" charset="-120"/>
              </a:rPr>
              <a:t>Why </a:t>
            </a:r>
            <a:r>
              <a:rPr lang="en-US" sz="1400" b="1">
                <a:solidFill>
                  <a:srgbClr val="0E3B36"/>
                </a:solidFill>
                <a:latin typeface="Georgia" pitchFamily="34" charset="0"/>
                <a:ea typeface="Georgia" pitchFamily="34" charset="-122"/>
                <a:cs typeface="Georgia" pitchFamily="34" charset="-120"/>
              </a:rPr>
              <a:t>DHS 2022?</a:t>
            </a:r>
            <a:endParaRPr lang="en-US" sz="1400" dirty="0"/>
          </a:p>
        </p:txBody>
      </p:sp>
      <p:sp>
        <p:nvSpPr>
          <p:cNvPr id="7" name="Text 4"/>
          <p:cNvSpPr/>
          <p:nvPr/>
        </p:nvSpPr>
        <p:spPr>
          <a:xfrm>
            <a:off x="8915400" y="1920240"/>
            <a:ext cx="2514600" cy="2834640"/>
          </a:xfrm>
          <a:prstGeom prst="rect">
            <a:avLst/>
          </a:prstGeom>
          <a:noFill/>
          <a:ln/>
        </p:spPr>
        <p:txBody>
          <a:bodyPr wrap="square" rtlCol="0" anchor="t"/>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It is the most detailed, nationally representative </a:t>
            </a:r>
            <a:r>
              <a:rPr lang="en-US" dirty="0">
                <a:solidFill>
                  <a:srgbClr val="1B2E2B"/>
                </a:solidFill>
                <a:latin typeface="Georgia" panose="02040502050405020303" pitchFamily="18" charset="0"/>
                <a:ea typeface="Verdana" pitchFamily="34" charset="-122"/>
                <a:cs typeface="Verdana" pitchFamily="34" charset="-120"/>
              </a:rPr>
              <a:t>snapshot</a:t>
            </a:r>
            <a:r>
              <a:rPr lang="en-US" sz="1400" dirty="0">
                <a:solidFill>
                  <a:srgbClr val="1B2E2B"/>
                </a:solidFill>
                <a:latin typeface="Georgia" panose="02040502050405020303" pitchFamily="18" charset="0"/>
                <a:ea typeface="Verdana" pitchFamily="34" charset="-122"/>
                <a:cs typeface="Verdana" pitchFamily="34" charset="-120"/>
              </a:rPr>
              <a:t> of Kenyan women's reproductive health available — the only dataset with the geographic granularity to see county-level inequality directly.</a:t>
            </a:r>
            <a:endParaRPr lang="en-US" sz="1400" dirty="0">
              <a:latin typeface="Georgia" panose="02040502050405020303" pitchFamily="18" charset="0"/>
            </a:endParaRPr>
          </a:p>
        </p:txBody>
      </p:sp>
      <p:sp>
        <p:nvSpPr>
          <p:cNvPr id="8" name="Text 5"/>
          <p:cNvSpPr/>
          <p:nvPr/>
        </p:nvSpPr>
        <p:spPr>
          <a:xfrm>
            <a:off x="548640" y="6473952"/>
            <a:ext cx="7315200" cy="274320"/>
          </a:xfrm>
          <a:prstGeom prst="rect">
            <a:avLst/>
          </a:prstGeom>
          <a:noFill/>
          <a:ln/>
        </p:spPr>
        <p:txBody>
          <a:bodyPr wrap="square" rtlCol="0" anchor="ctr"/>
          <a:lstStyle/>
          <a:p>
            <a:pPr marL="0" indent="0">
              <a:buNone/>
            </a:pPr>
            <a:r>
              <a:rPr lang="en-US" sz="1050" dirty="0">
                <a:solidFill>
                  <a:srgbClr val="5C6E6A"/>
                </a:solidFill>
                <a:latin typeface="Georgia" panose="02040502050405020303" pitchFamily="18" charset="0"/>
                <a:ea typeface="Verdana" pitchFamily="34" charset="-122"/>
                <a:cs typeface="Verdana" pitchFamily="34" charset="-120"/>
              </a:rPr>
              <a:t>The Insight Architects — </a:t>
            </a:r>
            <a:r>
              <a:rPr lang="en-US" sz="1050">
                <a:solidFill>
                  <a:srgbClr val="5C6E6A"/>
                </a:solidFill>
                <a:latin typeface="Georgia" panose="02040502050405020303" pitchFamily="18" charset="0"/>
                <a:ea typeface="Verdana" pitchFamily="34" charset="-122"/>
                <a:cs typeface="Verdana" pitchFamily="34" charset="-120"/>
              </a:rPr>
              <a:t>KDHS 2022 </a:t>
            </a:r>
            <a:r>
              <a:rPr lang="en-US" sz="1050" dirty="0">
                <a:solidFill>
                  <a:srgbClr val="5C6E6A"/>
                </a:solidFill>
                <a:latin typeface="Georgia" panose="02040502050405020303" pitchFamily="18" charset="0"/>
                <a:ea typeface="Verdana" pitchFamily="34" charset="-122"/>
                <a:cs typeface="Verdana" pitchFamily="34" charset="-120"/>
              </a:rPr>
              <a:t>Capstone</a:t>
            </a:r>
            <a:endParaRPr lang="en-US" sz="1050" dirty="0">
              <a:latin typeface="Georgia" panose="02040502050405020303" pitchFamily="18" charset="0"/>
            </a:endParaRPr>
          </a:p>
        </p:txBody>
      </p:sp>
      <p:sp>
        <p:nvSpPr>
          <p:cNvPr id="9" name="Text 6"/>
          <p:cNvSpPr/>
          <p:nvPr/>
        </p:nvSpPr>
        <p:spPr>
          <a:xfrm>
            <a:off x="11430000" y="6473952"/>
            <a:ext cx="640080" cy="274320"/>
          </a:xfrm>
          <a:prstGeom prst="rect">
            <a:avLst/>
          </a:prstGeom>
          <a:noFill/>
          <a:ln/>
        </p:spPr>
        <p:txBody>
          <a:bodyPr wrap="square" rtlCol="0" anchor="ctr"/>
          <a:lstStyle/>
          <a:p>
            <a:pPr marL="0" indent="0" algn="r">
              <a:buNone/>
            </a:pPr>
            <a:r>
              <a:rPr lang="en-US" sz="1000" dirty="0">
                <a:solidFill>
                  <a:srgbClr val="5C6E6A"/>
                </a:solidFill>
                <a:latin typeface="Georgia" panose="02040502050405020303" pitchFamily="18" charset="0"/>
                <a:ea typeface="Verdana" pitchFamily="34" charset="-122"/>
                <a:cs typeface="Verdana" pitchFamily="34" charset="-120"/>
              </a:rPr>
              <a:t>05 / 23</a:t>
            </a:r>
            <a:endParaRPr lang="en-US" sz="10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EXPLORATORY DATA ANALYSIS</a:t>
            </a:r>
            <a:endParaRPr lang="en-US" sz="1100" dirty="0"/>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Who Are These Women? — Modern Use by County</a:t>
            </a:r>
            <a:endParaRPr lang="en-US" sz="3000" dirty="0"/>
          </a:p>
        </p:txBody>
      </p:sp>
      <p:pic>
        <p:nvPicPr>
          <p:cNvPr id="4" name="Image 0" descr="/home/claude/imgs/cell57_8.png"/>
          <p:cNvPicPr>
            <a:picLocks noChangeAspect="1"/>
          </p:cNvPicPr>
          <p:nvPr/>
        </p:nvPicPr>
        <p:blipFill>
          <a:blip r:embed="rId3"/>
          <a:srcRect/>
          <a:stretch/>
        </p:blipFill>
        <p:spPr>
          <a:xfrm>
            <a:off x="548640" y="1143000"/>
            <a:ext cx="7680960" cy="5257800"/>
          </a:xfrm>
          <a:prstGeom prst="rect">
            <a:avLst/>
          </a:prstGeom>
        </p:spPr>
      </p:pic>
      <p:sp>
        <p:nvSpPr>
          <p:cNvPr id="5" name="Shape 2"/>
          <p:cNvSpPr/>
          <p:nvPr/>
        </p:nvSpPr>
        <p:spPr>
          <a:xfrm>
            <a:off x="8503920" y="1280160"/>
            <a:ext cx="3108960" cy="5029200"/>
          </a:xfrm>
          <a:prstGeom prst="roundRect">
            <a:avLst>
              <a:gd name="adj" fmla="val 2941"/>
            </a:avLst>
          </a:prstGeom>
          <a:solidFill>
            <a:srgbClr val="0E3B36"/>
          </a:solidFill>
          <a:ln/>
        </p:spPr>
        <p:txBody>
          <a:bodyPr/>
          <a:lstStyle/>
          <a:p>
            <a:endParaRPr lang="en-US"/>
          </a:p>
        </p:txBody>
      </p:sp>
      <p:sp>
        <p:nvSpPr>
          <p:cNvPr id="6" name="Text 3"/>
          <p:cNvSpPr/>
          <p:nvPr/>
        </p:nvSpPr>
        <p:spPr>
          <a:xfrm>
            <a:off x="8686800" y="1417320"/>
            <a:ext cx="2743200" cy="320040"/>
          </a:xfrm>
          <a:prstGeom prst="rect">
            <a:avLst/>
          </a:prstGeom>
          <a:noFill/>
          <a:ln/>
        </p:spPr>
        <p:txBody>
          <a:bodyPr wrap="square" rtlCol="0" anchor="ctr"/>
          <a:lstStyle/>
          <a:p>
            <a:pPr marL="0" indent="0">
              <a:buNone/>
            </a:pPr>
            <a:r>
              <a:rPr lang="en-US" sz="1000" b="1" kern="0" spc="100" dirty="0">
                <a:solidFill>
                  <a:srgbClr val="D9A441"/>
                </a:solidFill>
                <a:latin typeface="Georgia" panose="02040502050405020303" pitchFamily="18" charset="0"/>
                <a:ea typeface="Verdana" pitchFamily="34" charset="-122"/>
                <a:cs typeface="Verdana" pitchFamily="34" charset="-120"/>
              </a:rPr>
              <a:t>Business Question 2</a:t>
            </a:r>
            <a:endParaRPr lang="en-US" sz="1000" dirty="0">
              <a:latin typeface="Georgia" panose="02040502050405020303" pitchFamily="18" charset="0"/>
            </a:endParaRPr>
          </a:p>
        </p:txBody>
      </p:sp>
      <p:sp>
        <p:nvSpPr>
          <p:cNvPr id="7" name="Text 4"/>
          <p:cNvSpPr/>
          <p:nvPr/>
        </p:nvSpPr>
        <p:spPr>
          <a:xfrm>
            <a:off x="8686800" y="1737360"/>
            <a:ext cx="2743200" cy="822960"/>
          </a:xfrm>
          <a:prstGeom prst="rect">
            <a:avLst/>
          </a:prstGeom>
          <a:noFill/>
          <a:ln/>
        </p:spPr>
        <p:txBody>
          <a:bodyPr wrap="square" rtlCol="0" anchor="ctr"/>
          <a:lstStyle/>
          <a:p>
            <a:pPr marL="0" indent="0">
              <a:buNone/>
            </a:pPr>
            <a:r>
              <a:rPr lang="en-US" sz="1200" i="1" dirty="0">
                <a:solidFill>
                  <a:srgbClr val="D7E8E3"/>
                </a:solidFill>
                <a:latin typeface="Georgia" pitchFamily="34" charset="0"/>
                <a:ea typeface="Georgia" pitchFamily="34" charset="-122"/>
                <a:cs typeface="Georgia" pitchFamily="34" charset="-120"/>
              </a:rPr>
              <a:t>Which counties have the highest non-use — and lowest modern-use — rates?</a:t>
            </a:r>
            <a:endParaRPr lang="en-US" sz="1200" dirty="0"/>
          </a:p>
        </p:txBody>
      </p:sp>
      <p:sp>
        <p:nvSpPr>
          <p:cNvPr id="8" name="Text 5"/>
          <p:cNvSpPr/>
          <p:nvPr/>
        </p:nvSpPr>
        <p:spPr>
          <a:xfrm>
            <a:off x="8686800" y="2697480"/>
            <a:ext cx="2743200" cy="1463040"/>
          </a:xfrm>
          <a:prstGeom prst="rect">
            <a:avLst/>
          </a:prstGeom>
          <a:noFill/>
          <a:ln/>
        </p:spPr>
        <p:txBody>
          <a:bodyPr wrap="square" rtlCol="0" anchor="ctr"/>
          <a:lstStyle/>
          <a:p>
            <a:pPr marL="0" indent="0">
              <a:buNone/>
            </a:pPr>
            <a:r>
              <a:rPr lang="en-US" sz="1150" dirty="0">
                <a:solidFill>
                  <a:srgbClr val="FFFFFF"/>
                </a:solidFill>
                <a:latin typeface="Georgia" panose="02040502050405020303" pitchFamily="18" charset="0"/>
                <a:ea typeface="Verdana" pitchFamily="34" charset="-122"/>
                <a:cs typeface="Verdana" pitchFamily="34" charset="-120"/>
              </a:rPr>
              <a:t>~1% in Mandera and under 6% in Wajir, Garissa and Marsabit — all arid north — up to 50–57% in Embu, Meru, Nyeri and Elgeyo Marakwet.</a:t>
            </a:r>
            <a:endParaRPr lang="en-US" sz="1150" dirty="0">
              <a:latin typeface="Georgia" panose="02040502050405020303" pitchFamily="18" charset="0"/>
            </a:endParaRPr>
          </a:p>
        </p:txBody>
      </p:sp>
      <p:sp>
        <p:nvSpPr>
          <p:cNvPr id="9" name="Text 6"/>
          <p:cNvSpPr/>
          <p:nvPr/>
        </p:nvSpPr>
        <p:spPr>
          <a:xfrm>
            <a:off x="8686800" y="4297680"/>
            <a:ext cx="2743200" cy="1737360"/>
          </a:xfrm>
          <a:prstGeom prst="rect">
            <a:avLst/>
          </a:prstGeom>
          <a:noFill/>
          <a:ln/>
        </p:spPr>
        <p:txBody>
          <a:bodyPr wrap="square" rtlCol="0" anchor="ctr"/>
          <a:lstStyle/>
          <a:p>
            <a:pPr marL="0" indent="0">
              <a:buNone/>
            </a:pPr>
            <a:r>
              <a:rPr lang="en-US" sz="1100" i="1" dirty="0">
                <a:solidFill>
                  <a:srgbClr val="BFE3DC"/>
                </a:solidFill>
                <a:latin typeface="Georgia" panose="02040502050405020303" pitchFamily="18" charset="0"/>
                <a:ea typeface="Verdana" pitchFamily="34" charset="-122"/>
                <a:cs typeface="Verdana" pitchFamily="34" charset="-120"/>
              </a:rPr>
              <a:t>This is the single most powerful chart in the project — it communicates the core problem faster than any table.</a:t>
            </a:r>
            <a:endParaRPr lang="en-US" sz="1100" dirty="0">
              <a:latin typeface="Georgia" panose="02040502050405020303" pitchFamily="18" charset="0"/>
            </a:endParaRPr>
          </a:p>
        </p:txBody>
      </p:sp>
      <p:sp>
        <p:nvSpPr>
          <p:cNvPr id="10" name="Text 7"/>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5C6E6A"/>
                </a:solidFill>
                <a:latin typeface="Georgia" panose="02040502050405020303" pitchFamily="18" charset="0"/>
                <a:ea typeface="Verdana" pitchFamily="34" charset="-122"/>
                <a:cs typeface="Verdana" pitchFamily="34" charset="-120"/>
              </a:rPr>
              <a:t>The Insight Architects — </a:t>
            </a:r>
            <a:r>
              <a:rPr lang="en-US" sz="1000">
                <a:solidFill>
                  <a:srgbClr val="5C6E6A"/>
                </a:solidFill>
                <a:latin typeface="Georgia" panose="02040502050405020303" pitchFamily="18" charset="0"/>
                <a:ea typeface="Verdana" pitchFamily="34" charset="-122"/>
                <a:cs typeface="Verdana" pitchFamily="34" charset="-120"/>
              </a:rPr>
              <a:t>KDHS 2022 </a:t>
            </a:r>
            <a:r>
              <a:rPr lang="en-US" sz="1000" dirty="0">
                <a:solidFill>
                  <a:srgbClr val="5C6E6A"/>
                </a:solidFill>
                <a:latin typeface="Georgia" panose="02040502050405020303" pitchFamily="18" charset="0"/>
                <a:ea typeface="Verdana" pitchFamily="34" charset="-122"/>
                <a:cs typeface="Verdana" pitchFamily="34" charset="-120"/>
              </a:rPr>
              <a:t>Capstone</a:t>
            </a:r>
            <a:endParaRPr lang="en-US" sz="1000" dirty="0">
              <a:latin typeface="Georgia" panose="02040502050405020303" pitchFamily="18" charset="0"/>
            </a:endParaRPr>
          </a:p>
        </p:txBody>
      </p:sp>
      <p:sp>
        <p:nvSpPr>
          <p:cNvPr id="11" name="Text 8"/>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06/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EXPLORATORY DATA ANALYSIS</a:t>
            </a:r>
            <a:endParaRPr lang="en-US" sz="1100" dirty="0"/>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The Wealth Cliff, Not a Gradient</a:t>
            </a:r>
            <a:endParaRPr lang="en-US" sz="3000" dirty="0"/>
          </a:p>
        </p:txBody>
      </p:sp>
      <p:pic>
        <p:nvPicPr>
          <p:cNvPr id="4" name="Image 0" descr="/home/claude/imgs/cell51_6.png"/>
          <p:cNvPicPr>
            <a:picLocks noChangeAspect="1"/>
          </p:cNvPicPr>
          <p:nvPr/>
        </p:nvPicPr>
        <p:blipFill>
          <a:blip r:embed="rId3"/>
          <a:srcRect/>
          <a:stretch/>
        </p:blipFill>
        <p:spPr>
          <a:xfrm>
            <a:off x="548640" y="1143000"/>
            <a:ext cx="7680960" cy="5257800"/>
          </a:xfrm>
          <a:prstGeom prst="rect">
            <a:avLst/>
          </a:prstGeom>
        </p:spPr>
      </p:pic>
      <p:sp>
        <p:nvSpPr>
          <p:cNvPr id="5" name="Shape 2"/>
          <p:cNvSpPr/>
          <p:nvPr/>
        </p:nvSpPr>
        <p:spPr>
          <a:xfrm>
            <a:off x="8503920" y="1280160"/>
            <a:ext cx="3108960" cy="5029200"/>
          </a:xfrm>
          <a:prstGeom prst="roundRect">
            <a:avLst>
              <a:gd name="adj" fmla="val 2941"/>
            </a:avLst>
          </a:prstGeom>
          <a:solidFill>
            <a:srgbClr val="F6F3EC"/>
          </a:solidFill>
          <a:ln/>
        </p:spPr>
        <p:txBody>
          <a:bodyPr/>
          <a:lstStyle/>
          <a:p>
            <a:endParaRPr lang="en-US"/>
          </a:p>
        </p:txBody>
      </p:sp>
      <p:sp>
        <p:nvSpPr>
          <p:cNvPr id="6" name="Text 3"/>
          <p:cNvSpPr/>
          <p:nvPr/>
        </p:nvSpPr>
        <p:spPr>
          <a:xfrm>
            <a:off x="8686800" y="1417320"/>
            <a:ext cx="2743200" cy="320040"/>
          </a:xfrm>
          <a:prstGeom prst="rect">
            <a:avLst/>
          </a:prstGeom>
          <a:noFill/>
          <a:ln/>
        </p:spPr>
        <p:txBody>
          <a:bodyPr wrap="square" rtlCol="0" anchor="ctr"/>
          <a:lstStyle/>
          <a:p>
            <a:pPr marL="0" indent="0">
              <a:buNone/>
            </a:pPr>
            <a:r>
              <a:rPr lang="en-US" sz="1000" b="1" kern="0" spc="100" dirty="0">
                <a:solidFill>
                  <a:srgbClr val="E2683F"/>
                </a:solidFill>
                <a:latin typeface="Georgia" panose="02040502050405020303" pitchFamily="18" charset="0"/>
                <a:ea typeface="Verdana" pitchFamily="34" charset="-122"/>
                <a:cs typeface="Verdana" pitchFamily="34" charset="-120"/>
              </a:rPr>
              <a:t>The finding</a:t>
            </a:r>
            <a:endParaRPr lang="en-US" sz="1000" dirty="0">
              <a:latin typeface="Georgia" panose="02040502050405020303" pitchFamily="18" charset="0"/>
            </a:endParaRPr>
          </a:p>
        </p:txBody>
      </p:sp>
      <p:sp>
        <p:nvSpPr>
          <p:cNvPr id="7" name="Text 4"/>
          <p:cNvSpPr/>
          <p:nvPr/>
        </p:nvSpPr>
        <p:spPr>
          <a:xfrm>
            <a:off x="8686800" y="1783080"/>
            <a:ext cx="2743200" cy="1554480"/>
          </a:xfrm>
          <a:prstGeom prst="rect">
            <a:avLst/>
          </a:prstGeom>
          <a:noFill/>
          <a:ln/>
        </p:spPr>
        <p:txBody>
          <a:bodyPr wrap="square" rtlCol="0" anchor="ctr"/>
          <a:lstStyle/>
          <a:p>
            <a:pPr marL="0" indent="0">
              <a:buNone/>
            </a:pPr>
            <a:r>
              <a:rPr lang="en-US" sz="1200" dirty="0">
                <a:solidFill>
                  <a:srgbClr val="1B2E2B"/>
                </a:solidFill>
                <a:latin typeface="Georgia" panose="02040502050405020303" pitchFamily="18" charset="0"/>
                <a:ea typeface="Verdana" pitchFamily="34" charset="-122"/>
                <a:cs typeface="Verdana" pitchFamily="34" charset="-120"/>
              </a:rPr>
              <a:t>Poorest → Poorer jumps +16pp (25% → 41% modern use). Above that, the line goes almost flat — only +1.8pp from Poorer to Richest.</a:t>
            </a:r>
            <a:endParaRPr lang="en-US" sz="1200" dirty="0">
              <a:latin typeface="Georgia" panose="02040502050405020303" pitchFamily="18" charset="0"/>
            </a:endParaRPr>
          </a:p>
        </p:txBody>
      </p:sp>
      <p:sp>
        <p:nvSpPr>
          <p:cNvPr id="8" name="Text 5"/>
          <p:cNvSpPr/>
          <p:nvPr/>
        </p:nvSpPr>
        <p:spPr>
          <a:xfrm>
            <a:off x="8686800" y="3429000"/>
            <a:ext cx="2743200" cy="320040"/>
          </a:xfrm>
          <a:prstGeom prst="rect">
            <a:avLst/>
          </a:prstGeom>
          <a:noFill/>
          <a:ln/>
        </p:spPr>
        <p:txBody>
          <a:bodyPr wrap="square" rtlCol="0" anchor="ctr"/>
          <a:lstStyle/>
          <a:p>
            <a:pPr marL="0" indent="0">
              <a:buNone/>
            </a:pPr>
            <a:r>
              <a:rPr lang="en-US" sz="1000" b="1" kern="0" spc="100" dirty="0">
                <a:solidFill>
                  <a:srgbClr val="E2683F"/>
                </a:solidFill>
                <a:latin typeface="Georgia" panose="02040502050405020303" pitchFamily="18" charset="0"/>
                <a:ea typeface="Verdana" pitchFamily="34" charset="-122"/>
                <a:cs typeface="Verdana" pitchFamily="34" charset="-120"/>
              </a:rPr>
              <a:t>Why it matters</a:t>
            </a:r>
            <a:endParaRPr lang="en-US" sz="1000" dirty="0">
              <a:latin typeface="Georgia" panose="02040502050405020303" pitchFamily="18" charset="0"/>
            </a:endParaRPr>
          </a:p>
        </p:txBody>
      </p:sp>
      <p:sp>
        <p:nvSpPr>
          <p:cNvPr id="9" name="Text 6"/>
          <p:cNvSpPr/>
          <p:nvPr/>
        </p:nvSpPr>
        <p:spPr>
          <a:xfrm>
            <a:off x="8686800" y="3794760"/>
            <a:ext cx="2743200" cy="2377440"/>
          </a:xfrm>
          <a:prstGeom prst="rect">
            <a:avLst/>
          </a:prstGeom>
          <a:noFill/>
          <a:ln/>
        </p:spPr>
        <p:txBody>
          <a:bodyPr wrap="square" rtlCol="0" anchor="ctr"/>
          <a:lstStyle/>
          <a:p>
            <a:pPr marL="0" indent="0">
              <a:buNone/>
            </a:pPr>
            <a:r>
              <a:rPr lang="en-US" sz="1200" dirty="0">
                <a:solidFill>
                  <a:srgbClr val="1B2E2B"/>
                </a:solidFill>
                <a:latin typeface="Georgia" panose="02040502050405020303" pitchFamily="18" charset="0"/>
                <a:ea typeface="Verdana" pitchFamily="34" charset="-122"/>
                <a:cs typeface="Verdana" pitchFamily="34" charset="-120"/>
              </a:rPr>
              <a:t>This is a policy finding, not just an EDA finding: universal wealth subsidies waste most of their impact — targeting the Poorest quintile specifically would buy proportionally far more.</a:t>
            </a:r>
            <a:endParaRPr lang="en-US" sz="1200" dirty="0">
              <a:latin typeface="Georgia" panose="02040502050405020303" pitchFamily="18" charset="0"/>
            </a:endParaRPr>
          </a:p>
        </p:txBody>
      </p:sp>
      <p:sp>
        <p:nvSpPr>
          <p:cNvPr id="10" name="Text 7"/>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Georgia" panose="02040502050405020303" pitchFamily="18" charset="0"/>
                <a:ea typeface="Verdana" pitchFamily="34" charset="-122"/>
                <a:cs typeface="Verdana" pitchFamily="34" charset="-120"/>
              </a:rPr>
              <a:t>The Insight Architects — </a:t>
            </a:r>
            <a:r>
              <a:rPr lang="en-US" sz="900">
                <a:solidFill>
                  <a:srgbClr val="5C6E6A"/>
                </a:solidFill>
                <a:latin typeface="Georgia" panose="02040502050405020303" pitchFamily="18" charset="0"/>
                <a:ea typeface="Verdana" pitchFamily="34" charset="-122"/>
                <a:cs typeface="Verdana" pitchFamily="34" charset="-120"/>
              </a:rPr>
              <a:t>KDHS 2022 </a:t>
            </a:r>
            <a:r>
              <a:rPr lang="en-US" sz="900" dirty="0">
                <a:solidFill>
                  <a:srgbClr val="5C6E6A"/>
                </a:solidFill>
                <a:latin typeface="Georgia" panose="02040502050405020303" pitchFamily="18" charset="0"/>
                <a:ea typeface="Verdana" pitchFamily="34" charset="-122"/>
                <a:cs typeface="Verdana" pitchFamily="34" charset="-120"/>
              </a:rPr>
              <a:t>Capstone</a:t>
            </a:r>
            <a:endParaRPr lang="en-US" sz="900" dirty="0">
              <a:latin typeface="Georgia" panose="02040502050405020303" pitchFamily="18" charset="0"/>
            </a:endParaRPr>
          </a:p>
        </p:txBody>
      </p:sp>
      <p:sp>
        <p:nvSpPr>
          <p:cNvPr id="11" name="Text 8"/>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07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Georgia" panose="02040502050405020303" pitchFamily="18" charset="0"/>
                <a:ea typeface="Verdana" pitchFamily="34" charset="-122"/>
                <a:cs typeface="Verdana" pitchFamily="34" charset="-120"/>
              </a:rPr>
              <a:t>EXPLORATORY DATA ANALYSIS</a:t>
            </a:r>
            <a:endParaRPr lang="en-US" sz="11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What Actually Predicts Contraceptive Use?</a:t>
            </a:r>
            <a:endParaRPr lang="en-US" sz="3000" dirty="0"/>
          </a:p>
        </p:txBody>
      </p:sp>
      <p:sp>
        <p:nvSpPr>
          <p:cNvPr id="4" name="Text 2"/>
          <p:cNvSpPr/>
          <p:nvPr/>
        </p:nvSpPr>
        <p:spPr>
          <a:xfrm>
            <a:off x="548640" y="1051560"/>
            <a:ext cx="10515600" cy="365760"/>
          </a:xfrm>
          <a:prstGeom prst="rect">
            <a:avLst/>
          </a:prstGeom>
          <a:noFill/>
          <a:ln/>
        </p:spPr>
        <p:txBody>
          <a:bodyPr wrap="square" rtlCol="0" anchor="ctr"/>
          <a:lstStyle/>
          <a:p>
            <a:pPr marL="0" indent="0">
              <a:buNone/>
            </a:pPr>
            <a:r>
              <a:rPr lang="en-US" sz="1250" dirty="0">
                <a:solidFill>
                  <a:srgbClr val="5C6E6A"/>
                </a:solidFill>
                <a:latin typeface="Georgia" panose="02040502050405020303" pitchFamily="18" charset="0"/>
                <a:ea typeface="Verdana" pitchFamily="34" charset="-122"/>
                <a:cs typeface="Verdana" pitchFamily="34" charset="-120"/>
              </a:rPr>
              <a:t>Categorical predictors ranked by association strength (Cramér's V) with contraceptive use.</a:t>
            </a:r>
            <a:endParaRPr lang="en-US" sz="1250" dirty="0">
              <a:latin typeface="Georgia" panose="02040502050405020303" pitchFamily="18" charset="0"/>
            </a:endParaRPr>
          </a:p>
        </p:txBody>
      </p:sp>
      <p:graphicFrame>
        <p:nvGraphicFramePr>
          <p:cNvPr id="5" name="Chart 0"/>
          <p:cNvGraphicFramePr/>
          <p:nvPr/>
        </p:nvGraphicFramePr>
        <p:xfrm>
          <a:off x="548640" y="1554480"/>
          <a:ext cx="108813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48640" y="6263640"/>
            <a:ext cx="10515600" cy="365760"/>
          </a:xfrm>
          <a:prstGeom prst="rect">
            <a:avLst/>
          </a:prstGeom>
          <a:noFill/>
          <a:ln/>
        </p:spPr>
        <p:txBody>
          <a:bodyPr wrap="square" rtlCol="0" anchor="ctr"/>
          <a:lstStyle/>
          <a:p>
            <a:pPr marL="0" indent="0">
              <a:buNone/>
            </a:pPr>
            <a:r>
              <a:rPr lang="en-US" sz="1150" i="1" dirty="0">
                <a:solidFill>
                  <a:srgbClr val="5C6E6A"/>
                </a:solidFill>
                <a:latin typeface="Georgia" panose="02040502050405020303" pitchFamily="18" charset="0"/>
                <a:ea typeface="Verdana" pitchFamily="34" charset="-122"/>
                <a:cs typeface="Verdana" pitchFamily="34" charset="-120"/>
              </a:rPr>
              <a:t>Takeaway: fertility history and geography dominate; residence type barely predicts anything on its own.</a:t>
            </a:r>
            <a:endParaRPr lang="en-US" sz="1150" dirty="0">
              <a:latin typeface="Georgia" panose="02040502050405020303" pitchFamily="18" charset="0"/>
            </a:endParaRPr>
          </a:p>
        </p:txBody>
      </p:sp>
      <p:sp>
        <p:nvSpPr>
          <p:cNvPr id="7" name="Text 4"/>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Georgia" panose="02040502050405020303" pitchFamily="18" charset="0"/>
                <a:ea typeface="Verdana" pitchFamily="34" charset="-122"/>
                <a:cs typeface="Verdana" pitchFamily="34" charset="-120"/>
              </a:rPr>
              <a:t>The Insight Architects — </a:t>
            </a:r>
            <a:r>
              <a:rPr lang="en-US" sz="900">
                <a:solidFill>
                  <a:srgbClr val="5C6E6A"/>
                </a:solidFill>
                <a:latin typeface="Georgia" panose="02040502050405020303" pitchFamily="18" charset="0"/>
                <a:ea typeface="Verdana" pitchFamily="34" charset="-122"/>
                <a:cs typeface="Verdana" pitchFamily="34" charset="-120"/>
              </a:rPr>
              <a:t>KDHS 2022 </a:t>
            </a:r>
            <a:r>
              <a:rPr lang="en-US" sz="900" dirty="0">
                <a:solidFill>
                  <a:srgbClr val="5C6E6A"/>
                </a:solidFill>
                <a:latin typeface="Georgia" panose="02040502050405020303" pitchFamily="18" charset="0"/>
                <a:ea typeface="Verdana" pitchFamily="34" charset="-122"/>
                <a:cs typeface="Verdana" pitchFamily="34" charset="-120"/>
              </a:rPr>
              <a:t>Capstone</a:t>
            </a:r>
            <a:endParaRPr lang="en-US" sz="900" dirty="0">
              <a:latin typeface="Georgia" panose="02040502050405020303" pitchFamily="18" charset="0"/>
            </a:endParaRPr>
          </a:p>
        </p:txBody>
      </p:sp>
      <p:sp>
        <p:nvSpPr>
          <p:cNvPr id="8" name="Text 5"/>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08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Georgia" panose="02040502050405020303" pitchFamily="18" charset="0"/>
                <a:ea typeface="Verdana" pitchFamily="34" charset="-122"/>
                <a:cs typeface="Verdana" pitchFamily="34" charset="-120"/>
              </a:rPr>
              <a:t>DATA PREPARATION</a:t>
            </a:r>
            <a:endParaRPr lang="en-US" sz="11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What We Engineered — and Why</a:t>
            </a:r>
            <a:endParaRPr lang="en-US" sz="3000" dirty="0"/>
          </a:p>
        </p:txBody>
      </p:sp>
      <p:sp>
        <p:nvSpPr>
          <p:cNvPr id="4" name="Text 2"/>
          <p:cNvSpPr/>
          <p:nvPr/>
        </p:nvSpPr>
        <p:spPr>
          <a:xfrm>
            <a:off x="548640" y="1051560"/>
            <a:ext cx="10515600" cy="365760"/>
          </a:xfrm>
          <a:prstGeom prst="rect">
            <a:avLst/>
          </a:prstGeom>
          <a:noFill/>
          <a:ln/>
        </p:spPr>
        <p:txBody>
          <a:bodyPr wrap="square" rtlCol="0" anchor="ctr"/>
          <a:lstStyle/>
          <a:p>
            <a:pPr marL="0" indent="0">
              <a:buNone/>
            </a:pPr>
            <a:r>
              <a:rPr lang="en-US" sz="1250" dirty="0">
                <a:solidFill>
                  <a:srgbClr val="5C6E6A"/>
                </a:solidFill>
                <a:latin typeface="Georgia" panose="02040502050405020303" pitchFamily="18" charset="0"/>
                <a:ea typeface="Verdana" pitchFamily="34" charset="-122"/>
                <a:cs typeface="Verdana" pitchFamily="34" charset="-120"/>
              </a:rPr>
              <a:t>20 raw columns → 37 model-ready features. Every addition traces to a specific EDA finding.</a:t>
            </a:r>
            <a:endParaRPr lang="en-US" sz="1250" dirty="0">
              <a:latin typeface="Georgia" panose="02040502050405020303" pitchFamily="18" charset="0"/>
            </a:endParaRPr>
          </a:p>
        </p:txBody>
      </p:sp>
      <p:graphicFrame>
        <p:nvGraphicFramePr>
          <p:cNvPr id="9" name="Table 0"/>
          <p:cNvGraphicFramePr>
            <a:graphicFrameLocks noGrp="1"/>
          </p:cNvGraphicFramePr>
          <p:nvPr>
            <p:extLst>
              <p:ext uri="{D42A27DB-BD31-4B8C-83A1-F6EECF244321}">
                <p14:modId xmlns:p14="http://schemas.microsoft.com/office/powerpoint/2010/main" val="660877190"/>
              </p:ext>
            </p:extLst>
          </p:nvPr>
        </p:nvGraphicFramePr>
        <p:xfrm>
          <a:off x="548640" y="1600200"/>
          <a:ext cx="11064240" cy="4279392"/>
        </p:xfrm>
        <a:graphic>
          <a:graphicData uri="http://schemas.openxmlformats.org/drawingml/2006/table">
            <a:tbl>
              <a:tblPr/>
              <a:tblGrid>
                <a:gridCol w="274320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713232">
                <a:tc>
                  <a:txBody>
                    <a:bodyPr/>
                    <a:lstStyle/>
                    <a:p>
                      <a:pPr marL="0" indent="0">
                        <a:buNone/>
                      </a:pPr>
                      <a:r>
                        <a:rPr lang="en-US" sz="1400" b="1" dirty="0">
                          <a:solidFill>
                            <a:srgbClr val="FFFFFF"/>
                          </a:solidFill>
                          <a:latin typeface="Georgia" panose="02040502050405020303" pitchFamily="18" charset="0"/>
                          <a:ea typeface="Verdana" pitchFamily="34" charset="-122"/>
                          <a:cs typeface="Verdana" pitchFamily="34" charset="-120"/>
                        </a:rPr>
                        <a:t>z</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buNone/>
                      </a:pPr>
                      <a:r>
                        <a:rPr lang="en-US" sz="1400" b="1" dirty="0">
                          <a:solidFill>
                            <a:srgbClr val="FFFFFF"/>
                          </a:solidFill>
                          <a:latin typeface="Georgia" panose="02040502050405020303" pitchFamily="18" charset="0"/>
                          <a:ea typeface="Verdana" pitchFamily="34" charset="-122"/>
                          <a:cs typeface="Verdana" pitchFamily="34" charset="-120"/>
                        </a:rPr>
                        <a:t>Why We Created It</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extLst>
                  <a:ext uri="{0D108BD9-81ED-4DB2-BD59-A6C34878D82A}">
                    <a16:rowId xmlns:a16="http://schemas.microsoft.com/office/drawing/2014/main" val="10000"/>
                  </a:ext>
                </a:extLst>
              </a:tr>
              <a:tr h="713232">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arid_county</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Operationalises the 56-point county gap; flags Turkana, W. Pokot, Mandera, Wajir, Garissa, Marsabit, Samburu, Isiolo, Tana River</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1"/>
                  </a:ext>
                </a:extLst>
              </a:tr>
              <a:tr h="713232">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is_in_union</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Isolates the 3rd-strongest predictor's decision boundary (union_status, Cramér's V = 0.235)</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employed</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Numeric binary recode — the single most policy-actionable SHAP lever later on</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3"/>
                  </a:ext>
                </a:extLst>
              </a:tr>
              <a:tr h="713232">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surviving_ratio</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Extracts signal beyond children_ever_born without re-introducing the r = 0.98 collinearity</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4"/>
                  </a:ext>
                </a:extLst>
              </a:tr>
              <a:tr h="713232">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age_at_first_birth_gap</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age − age_first_birth — a fertility-exposure-duration proxy raw age alone can't capture</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5C6E6A"/>
                </a:solidFill>
                <a:latin typeface="Georgia" panose="02040502050405020303" pitchFamily="18" charset="0"/>
                <a:ea typeface="Verdana" pitchFamily="34" charset="-122"/>
                <a:cs typeface="Verdana" pitchFamily="34" charset="-120"/>
              </a:rPr>
              <a:t>The Insight Architects — </a:t>
            </a:r>
            <a:r>
              <a:rPr lang="en-US" sz="1000">
                <a:solidFill>
                  <a:srgbClr val="5C6E6A"/>
                </a:solidFill>
                <a:latin typeface="Georgia" panose="02040502050405020303" pitchFamily="18" charset="0"/>
                <a:ea typeface="Verdana" pitchFamily="34" charset="-122"/>
                <a:cs typeface="Verdana" pitchFamily="34" charset="-120"/>
              </a:rPr>
              <a:t>KDHS 2022 </a:t>
            </a:r>
            <a:r>
              <a:rPr lang="en-US" sz="1000" dirty="0">
                <a:solidFill>
                  <a:srgbClr val="5C6E6A"/>
                </a:solidFill>
                <a:latin typeface="Georgia" panose="02040502050405020303" pitchFamily="18" charset="0"/>
                <a:ea typeface="Verdana" pitchFamily="34" charset="-122"/>
                <a:cs typeface="Verdana" pitchFamily="34" charset="-120"/>
              </a:rPr>
              <a:t>Capstone</a:t>
            </a:r>
            <a:endParaRPr lang="en-US" sz="1000" dirty="0">
              <a:latin typeface="Georgia" panose="02040502050405020303" pitchFamily="18" charset="0"/>
            </a:endParaRPr>
          </a:p>
        </p:txBody>
      </p:sp>
      <p:sp>
        <p:nvSpPr>
          <p:cNvPr id="7" name="Text 4"/>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09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Georgia" panose="02040502050405020303" pitchFamily="18" charset="0"/>
                <a:ea typeface="Verdana" pitchFamily="34" charset="-122"/>
                <a:cs typeface="Verdana" pitchFamily="34" charset="-120"/>
              </a:rPr>
              <a:t>MODELLING &amp; EVALUATION</a:t>
            </a:r>
            <a:endParaRPr lang="en-US" sz="11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Five Models, One Test Set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894093368"/>
              </p:ext>
            </p:extLst>
          </p:nvPr>
        </p:nvGraphicFramePr>
        <p:xfrm>
          <a:off x="548640" y="1417320"/>
          <a:ext cx="11064240" cy="3401568"/>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4023360">
                  <a:extLst>
                    <a:ext uri="{9D8B030D-6E8A-4147-A177-3AD203B41FA5}">
                      <a16:colId xmlns:a16="http://schemas.microsoft.com/office/drawing/2014/main" val="20004"/>
                    </a:ext>
                  </a:extLst>
                </a:gridCol>
              </a:tblGrid>
              <a:tr h="566928">
                <a:tc>
                  <a:txBody>
                    <a:bodyPr/>
                    <a:lstStyle/>
                    <a:p>
                      <a:pPr marL="0" indent="0">
                        <a:buNone/>
                      </a:pPr>
                      <a:r>
                        <a:rPr lang="en-US" sz="1400" b="1" dirty="0">
                          <a:solidFill>
                            <a:srgbClr val="FFFFFF"/>
                          </a:solidFill>
                          <a:latin typeface="Georgia" panose="02040502050405020303" pitchFamily="18" charset="0"/>
                          <a:ea typeface="Verdana" pitchFamily="34" charset="-122"/>
                          <a:cs typeface="Verdana" pitchFamily="34" charset="-120"/>
                        </a:rPr>
                        <a:t>Model</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Accuracy</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Macro F1</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Macro AUC</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buNone/>
                      </a:pPr>
                      <a:r>
                        <a:rPr lang="en-US" sz="1400" b="1" dirty="0">
                          <a:solidFill>
                            <a:srgbClr val="FFFFFF"/>
                          </a:solidFill>
                          <a:latin typeface="Georgia" panose="02040502050405020303" pitchFamily="18" charset="0"/>
                          <a:ea typeface="Verdana" pitchFamily="34" charset="-122"/>
                          <a:cs typeface="Verdana" pitchFamily="34" charset="-120"/>
                        </a:rPr>
                        <a:t>Verdict</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B2E2B"/>
                          </a:solidFill>
                          <a:latin typeface="Georgia" panose="02040502050405020303" pitchFamily="18" charset="0"/>
                          <a:ea typeface="Verdana" pitchFamily="34" charset="-122"/>
                          <a:cs typeface="Verdana" pitchFamily="34" charset="-120"/>
                        </a:rPr>
                        <a:t>LightGBM (Tuned)</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2E2B"/>
                          </a:solidFill>
                          <a:latin typeface="Georgia" panose="02040502050405020303" pitchFamily="18" charset="0"/>
                          <a:ea typeface="Verdana" pitchFamily="34" charset="-122"/>
                          <a:cs typeface="Verdana" pitchFamily="34" charset="-120"/>
                        </a:rPr>
                        <a:t>0.724</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0.367</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2E2B"/>
                          </a:solidFill>
                          <a:latin typeface="Georgia" panose="02040502050405020303" pitchFamily="18" charset="0"/>
                          <a:ea typeface="Verdana" pitchFamily="34" charset="-122"/>
                          <a:cs typeface="Verdana" pitchFamily="34" charset="-120"/>
                        </a:rPr>
                        <a:t>0.798</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Selected for deployment</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Random Forest</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0.706</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B2E2B"/>
                          </a:solidFill>
                          <a:latin typeface="Georgia" panose="02040502050405020303" pitchFamily="18" charset="0"/>
                          <a:ea typeface="Verdana" pitchFamily="34" charset="-122"/>
                          <a:cs typeface="Verdana" pitchFamily="34" charset="-120"/>
                        </a:rPr>
                        <a:t>0.390</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0.775</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Strong runner-up; best macro-F1</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Deep MLP</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0.703</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0.385</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0.751</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Competitive, no edge over trees</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TabTransformer</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0.648</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0.384</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0.754</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Best minority-class recall</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Logistic Regression</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0.548</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0.354</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E2B"/>
                          </a:solidFill>
                          <a:latin typeface="Georgia" panose="02040502050405020303" pitchFamily="18" charset="0"/>
                          <a:ea typeface="Verdana" pitchFamily="34" charset="-122"/>
                          <a:cs typeface="Verdana" pitchFamily="34" charset="-120"/>
                        </a:rPr>
                        <a:t>0.764</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tc>
                  <a:txBody>
                    <a:bodyPr/>
                    <a:lstStyle/>
                    <a:p>
                      <a:pPr marL="0" indent="0">
                        <a:buNone/>
                      </a:pPr>
                      <a:r>
                        <a:rPr lang="en-US" sz="1400" dirty="0">
                          <a:solidFill>
                            <a:srgbClr val="1B2E2B"/>
                          </a:solidFill>
                          <a:latin typeface="Georgia" panose="02040502050405020303" pitchFamily="18" charset="0"/>
                          <a:ea typeface="Verdana" pitchFamily="34" charset="-122"/>
                          <a:cs typeface="Verdana" pitchFamily="34" charset="-120"/>
                        </a:rPr>
                        <a:t>Baseline / interpretability</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1984248"/>
            <a:ext cx="11064240" cy="566928"/>
          </a:xfrm>
          <a:prstGeom prst="rect">
            <a:avLst/>
          </a:prstGeom>
          <a:solidFill>
            <a:srgbClr val="E9F3EE"/>
          </a:solidFill>
          <a:ln/>
        </p:spPr>
        <p:txBody>
          <a:bodyPr/>
          <a:lstStyle/>
          <a:p>
            <a:endParaRPr lang="en-US"/>
          </a:p>
        </p:txBody>
      </p:sp>
      <p:sp>
        <p:nvSpPr>
          <p:cNvPr id="6" name="Text 3"/>
          <p:cNvSpPr/>
          <p:nvPr/>
        </p:nvSpPr>
        <p:spPr>
          <a:xfrm>
            <a:off x="548640" y="4709160"/>
            <a:ext cx="10881360" cy="457200"/>
          </a:xfrm>
          <a:prstGeom prst="rect">
            <a:avLst/>
          </a:prstGeom>
          <a:noFill/>
          <a:ln/>
        </p:spPr>
        <p:txBody>
          <a:bodyPr wrap="square" rtlCol="0" anchor="ctr"/>
          <a:lstStyle/>
          <a:p>
            <a:pPr marL="0" indent="0">
              <a:buNone/>
            </a:pPr>
            <a:r>
              <a:rPr lang="en-US" sz="1400" i="1" dirty="0">
                <a:solidFill>
                  <a:srgbClr val="0E3B36"/>
                </a:solidFill>
                <a:latin typeface="Georgia" pitchFamily="34" charset="0"/>
                <a:ea typeface="Georgia" pitchFamily="34" charset="-122"/>
                <a:cs typeface="Georgia" pitchFamily="34" charset="-120"/>
              </a:rPr>
              <a:t>LightGBM wins on AUC and accuracy. Random Forest wins on F1. The ranking held after Optuna tuning.</a:t>
            </a:r>
            <a:endParaRPr lang="en-US" sz="1400" dirty="0"/>
          </a:p>
        </p:txBody>
      </p:sp>
      <p:sp>
        <p:nvSpPr>
          <p:cNvPr id="7" name="Text 4"/>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Georgia" panose="02040502050405020303" pitchFamily="18" charset="0"/>
                <a:ea typeface="Verdana" pitchFamily="34" charset="-122"/>
                <a:cs typeface="Verdana" pitchFamily="34" charset="-120"/>
              </a:rPr>
              <a:t>The Insight Architects — </a:t>
            </a:r>
            <a:r>
              <a:rPr lang="en-US" sz="900">
                <a:solidFill>
                  <a:srgbClr val="5C6E6A"/>
                </a:solidFill>
                <a:latin typeface="Georgia" panose="02040502050405020303" pitchFamily="18" charset="0"/>
                <a:ea typeface="Verdana" pitchFamily="34" charset="-122"/>
                <a:cs typeface="Verdana" pitchFamily="34" charset="-120"/>
              </a:rPr>
              <a:t>KDHS 2022 </a:t>
            </a:r>
            <a:r>
              <a:rPr lang="en-US" sz="900" dirty="0">
                <a:solidFill>
                  <a:srgbClr val="5C6E6A"/>
                </a:solidFill>
                <a:latin typeface="Georgia" panose="02040502050405020303" pitchFamily="18" charset="0"/>
                <a:ea typeface="Verdana" pitchFamily="34" charset="-122"/>
                <a:cs typeface="Verdana" pitchFamily="34" charset="-120"/>
              </a:rPr>
              <a:t>Capstone</a:t>
            </a:r>
            <a:endParaRPr lang="en-US" sz="900" dirty="0">
              <a:latin typeface="Georgia" panose="02040502050405020303" pitchFamily="18" charset="0"/>
            </a:endParaRPr>
          </a:p>
        </p:txBody>
      </p:sp>
      <p:sp>
        <p:nvSpPr>
          <p:cNvPr id="8" name="Text 5"/>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10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MODELLING &amp; EVALUATION</a:t>
            </a:r>
            <a:endParaRPr lang="en-US" sz="1100" dirty="0"/>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Why LightGBM? — A Closer Look</a:t>
            </a:r>
            <a:endParaRPr lang="en-US" sz="3000" dirty="0"/>
          </a:p>
        </p:txBody>
      </p:sp>
      <p:pic>
        <p:nvPicPr>
          <p:cNvPr id="4" name="Image 0" descr="/home/claude/imgs/cell86_13.png"/>
          <p:cNvPicPr>
            <a:picLocks noChangeAspect="1"/>
          </p:cNvPicPr>
          <p:nvPr/>
        </p:nvPicPr>
        <p:blipFill>
          <a:blip r:embed="rId3"/>
          <a:srcRect/>
          <a:stretch/>
        </p:blipFill>
        <p:spPr>
          <a:xfrm>
            <a:off x="457200" y="1097280"/>
            <a:ext cx="11247120" cy="5120640"/>
          </a:xfrm>
          <a:prstGeom prst="rect">
            <a:avLst/>
          </a:prstGeom>
        </p:spPr>
      </p:pic>
      <p:sp>
        <p:nvSpPr>
          <p:cNvPr id="5" name="Text 2"/>
          <p:cNvSpPr/>
          <p:nvPr/>
        </p:nvSpPr>
        <p:spPr>
          <a:xfrm>
            <a:off x="548640" y="6309360"/>
            <a:ext cx="10881360" cy="365760"/>
          </a:xfrm>
          <a:prstGeom prst="rect">
            <a:avLst/>
          </a:prstGeom>
          <a:noFill/>
          <a:ln/>
        </p:spPr>
        <p:txBody>
          <a:bodyPr wrap="square" rtlCol="0" anchor="ctr"/>
          <a:lstStyle/>
          <a:p>
            <a:pPr marL="0" indent="0">
              <a:buNone/>
            </a:pPr>
            <a:r>
              <a:rPr lang="en-US" sz="1200" i="1" dirty="0">
                <a:solidFill>
                  <a:srgbClr val="5C6E6A"/>
                </a:solidFill>
                <a:latin typeface="Georgia" panose="02040502050405020303" pitchFamily="18" charset="0"/>
                <a:ea typeface="Verdana" pitchFamily="34" charset="-122"/>
                <a:cs typeface="Verdana" pitchFamily="34" charset="-120"/>
              </a:rPr>
              <a:t>Validation loss plateaus at </a:t>
            </a:r>
            <a:r>
              <a:rPr lang="en-US" sz="1200" i="1">
                <a:solidFill>
                  <a:srgbClr val="5C6E6A"/>
                </a:solidFill>
                <a:latin typeface="Georgia" panose="02040502050405020303" pitchFamily="18" charset="0"/>
                <a:ea typeface="Verdana" pitchFamily="34" charset="-122"/>
                <a:cs typeface="Verdana" pitchFamily="34" charset="-120"/>
              </a:rPr>
              <a:t>iteration 226 </a:t>
            </a:r>
            <a:r>
              <a:rPr lang="en-US" sz="1200" i="1" dirty="0">
                <a:solidFill>
                  <a:srgbClr val="5C6E6A"/>
                </a:solidFill>
                <a:latin typeface="Georgia" panose="02040502050405020303" pitchFamily="18" charset="0"/>
                <a:ea typeface="Verdana" pitchFamily="34" charset="-122"/>
                <a:cs typeface="Verdana" pitchFamily="34" charset="-120"/>
              </a:rPr>
              <a:t>— the model found a stable solution, not a memorised one.</a:t>
            </a:r>
            <a:endParaRPr lang="en-US" sz="1200" dirty="0">
              <a:latin typeface="Georgia" panose="02040502050405020303" pitchFamily="18" charset="0"/>
            </a:endParaRPr>
          </a:p>
        </p:txBody>
      </p:sp>
      <p:sp>
        <p:nvSpPr>
          <p:cNvPr id="6" name="Text 3"/>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Georgia" panose="02040502050405020303" pitchFamily="18" charset="0"/>
                <a:ea typeface="Verdana" pitchFamily="34" charset="-122"/>
                <a:cs typeface="Verdana" pitchFamily="34" charset="-120"/>
              </a:rPr>
              <a:t>The Insight Architects — </a:t>
            </a:r>
            <a:r>
              <a:rPr lang="en-US" sz="900">
                <a:solidFill>
                  <a:srgbClr val="5C6E6A"/>
                </a:solidFill>
                <a:latin typeface="Georgia" panose="02040502050405020303" pitchFamily="18" charset="0"/>
                <a:ea typeface="Verdana" pitchFamily="34" charset="-122"/>
                <a:cs typeface="Verdana" pitchFamily="34" charset="-120"/>
              </a:rPr>
              <a:t>KDHS 2022 </a:t>
            </a:r>
            <a:r>
              <a:rPr lang="en-US" sz="900" dirty="0">
                <a:solidFill>
                  <a:srgbClr val="5C6E6A"/>
                </a:solidFill>
                <a:latin typeface="Georgia" panose="02040502050405020303" pitchFamily="18" charset="0"/>
                <a:ea typeface="Verdana" pitchFamily="34" charset="-122"/>
                <a:cs typeface="Verdana" pitchFamily="34" charset="-120"/>
              </a:rPr>
              <a:t>Capstone</a:t>
            </a:r>
            <a:endParaRPr lang="en-US" sz="900" dirty="0">
              <a:latin typeface="Georgia" panose="02040502050405020303" pitchFamily="18" charset="0"/>
            </a:endParaRPr>
          </a:p>
        </p:txBody>
      </p:sp>
      <p:sp>
        <p:nvSpPr>
          <p:cNvPr id="7" name="Text 4"/>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11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Georgia" panose="02040502050405020303" pitchFamily="18" charset="0"/>
                <a:ea typeface="Verdana" pitchFamily="34" charset="-122"/>
                <a:cs typeface="Verdana" pitchFamily="34" charset="-120"/>
              </a:rPr>
              <a:t>MODELLING &amp; EVALUATION</a:t>
            </a:r>
            <a:endParaRPr lang="en-US" sz="11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Hyperparameter Tuning with Optuna</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3610666100"/>
              </p:ext>
            </p:extLst>
          </p:nvPr>
        </p:nvGraphicFramePr>
        <p:xfrm>
          <a:off x="548640" y="1463040"/>
          <a:ext cx="5852160" cy="2267712"/>
        </p:xfrm>
        <a:graphic>
          <a:graphicData uri="http://schemas.openxmlformats.org/drawingml/2006/table">
            <a:tbl>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66928">
                <a:tc>
                  <a:txBody>
                    <a:bodyPr/>
                    <a:lstStyle/>
                    <a:p>
                      <a:pPr marL="0" indent="0">
                        <a:buNone/>
                      </a:pPr>
                      <a:r>
                        <a:rPr lang="en-US" sz="1300" b="1" dirty="0">
                          <a:solidFill>
                            <a:srgbClr val="FFFFFF"/>
                          </a:solidFill>
                          <a:latin typeface="Georgia" panose="02040502050405020303" pitchFamily="18" charset="0"/>
                          <a:ea typeface="Verdana" pitchFamily="34" charset="-122"/>
                          <a:cs typeface="Verdana" pitchFamily="34" charset="-120"/>
                        </a:rPr>
                        <a:t>Metric</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300" b="1" dirty="0">
                          <a:solidFill>
                            <a:srgbClr val="FFFFFF"/>
                          </a:solidFill>
                          <a:latin typeface="Georgia" panose="02040502050405020303" pitchFamily="18" charset="0"/>
                          <a:ea typeface="Verdana" pitchFamily="34" charset="-122"/>
                          <a:cs typeface="Verdana" pitchFamily="34" charset="-120"/>
                        </a:rPr>
                        <a:t>Untuned</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300" b="1" dirty="0">
                          <a:solidFill>
                            <a:srgbClr val="FFFFFF"/>
                          </a:solidFill>
                          <a:latin typeface="Georgia" panose="02040502050405020303" pitchFamily="18" charset="0"/>
                          <a:ea typeface="Verdana" pitchFamily="34" charset="-122"/>
                          <a:cs typeface="Verdana" pitchFamily="34" charset="-120"/>
                        </a:rPr>
                        <a:t>Tuned</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300" b="1" dirty="0">
                          <a:solidFill>
                            <a:srgbClr val="FFFFFF"/>
                          </a:solidFill>
                          <a:latin typeface="Georgia" panose="02040502050405020303" pitchFamily="18" charset="0"/>
                          <a:ea typeface="Verdana" pitchFamily="34" charset="-122"/>
                          <a:cs typeface="Verdana" pitchFamily="34" charset="-120"/>
                        </a:rPr>
                        <a:t>Change</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1B2E2B"/>
                          </a:solidFill>
                          <a:latin typeface="Georgia" panose="02040502050405020303" pitchFamily="18" charset="0"/>
                          <a:ea typeface="Verdana" pitchFamily="34" charset="-122"/>
                          <a:cs typeface="Verdana" pitchFamily="34" charset="-120"/>
                        </a:rPr>
                        <a:t>Accuracy</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dirty="0">
                          <a:solidFill>
                            <a:srgbClr val="1B2E2B"/>
                          </a:solidFill>
                          <a:latin typeface="Georgia" panose="02040502050405020303" pitchFamily="18" charset="0"/>
                          <a:ea typeface="Verdana" pitchFamily="34" charset="-122"/>
                          <a:cs typeface="Verdana" pitchFamily="34" charset="-120"/>
                        </a:rPr>
                        <a:t>0.7240</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b="1" dirty="0">
                          <a:solidFill>
                            <a:srgbClr val="1B2E2B"/>
                          </a:solidFill>
                          <a:latin typeface="Georgia" panose="02040502050405020303" pitchFamily="18" charset="0"/>
                          <a:ea typeface="Verdana" pitchFamily="34" charset="-122"/>
                          <a:cs typeface="Verdana" pitchFamily="34" charset="-120"/>
                        </a:rPr>
                        <a:t>0.9590</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dirty="0">
                          <a:solidFill>
                            <a:srgbClr val="3F7D6B"/>
                          </a:solidFill>
                          <a:latin typeface="Georgia" panose="02040502050405020303" pitchFamily="18" charset="0"/>
                          <a:ea typeface="Verdana" pitchFamily="34" charset="-122"/>
                          <a:cs typeface="Verdana" pitchFamily="34" charset="-120"/>
                        </a:rPr>
                        <a:t>+0.2350</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300" dirty="0">
                          <a:solidFill>
                            <a:srgbClr val="1B2E2B"/>
                          </a:solidFill>
                          <a:latin typeface="Georgia" panose="02040502050405020303" pitchFamily="18" charset="0"/>
                          <a:ea typeface="Verdana" pitchFamily="34" charset="-122"/>
                          <a:cs typeface="Verdana" pitchFamily="34" charset="-120"/>
                        </a:rPr>
                        <a:t>Macro-F1</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dirty="0">
                          <a:solidFill>
                            <a:srgbClr val="1B2E2B"/>
                          </a:solidFill>
                          <a:latin typeface="Georgia" panose="02040502050405020303" pitchFamily="18" charset="0"/>
                          <a:ea typeface="Verdana" pitchFamily="34" charset="-122"/>
                          <a:cs typeface="Verdana" pitchFamily="34" charset="-120"/>
                        </a:rPr>
                        <a:t>0.3670</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b="1" dirty="0">
                          <a:solidFill>
                            <a:srgbClr val="1B2E2B"/>
                          </a:solidFill>
                          <a:latin typeface="Georgia" panose="02040502050405020303" pitchFamily="18" charset="0"/>
                          <a:ea typeface="Verdana" pitchFamily="34" charset="-122"/>
                          <a:cs typeface="Verdana" pitchFamily="34" charset="-120"/>
                        </a:rPr>
                        <a:t>0.5099</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dirty="0">
                          <a:solidFill>
                            <a:srgbClr val="3F7D6B"/>
                          </a:solidFill>
                          <a:latin typeface="Georgia" panose="02040502050405020303" pitchFamily="18" charset="0"/>
                          <a:ea typeface="Verdana" pitchFamily="34" charset="-122"/>
                          <a:cs typeface="Verdana" pitchFamily="34" charset="-120"/>
                        </a:rPr>
                        <a:t>+0.1429</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00" dirty="0">
                          <a:solidFill>
                            <a:srgbClr val="1B2E2B"/>
                          </a:solidFill>
                          <a:latin typeface="Georgia" panose="02040502050405020303" pitchFamily="18" charset="0"/>
                          <a:ea typeface="Verdana" pitchFamily="34" charset="-122"/>
                          <a:cs typeface="Verdana" pitchFamily="34" charset="-120"/>
                        </a:rPr>
                        <a:t>Macro-AUC</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dirty="0">
                          <a:solidFill>
                            <a:srgbClr val="1B2E2B"/>
                          </a:solidFill>
                          <a:latin typeface="Georgia" panose="02040502050405020303" pitchFamily="18" charset="0"/>
                          <a:ea typeface="Verdana" pitchFamily="34" charset="-122"/>
                          <a:cs typeface="Verdana" pitchFamily="34" charset="-120"/>
                        </a:rPr>
                        <a:t>0.7980</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b="1" dirty="0">
                          <a:solidFill>
                            <a:srgbClr val="1B2E2B"/>
                          </a:solidFill>
                          <a:latin typeface="Georgia" panose="02040502050405020303" pitchFamily="18" charset="0"/>
                          <a:ea typeface="Verdana" pitchFamily="34" charset="-122"/>
                          <a:cs typeface="Verdana" pitchFamily="34" charset="-120"/>
                        </a:rPr>
                        <a:t>0.9506</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300" dirty="0">
                          <a:solidFill>
                            <a:srgbClr val="3F7D6B"/>
                          </a:solidFill>
                          <a:latin typeface="Georgia" panose="02040502050405020303" pitchFamily="18" charset="0"/>
                          <a:ea typeface="Verdana" pitchFamily="34" charset="-122"/>
                          <a:cs typeface="Verdana" pitchFamily="34" charset="-120"/>
                        </a:rPr>
                        <a:t>+0.1526</a:t>
                      </a:r>
                      <a:endParaRPr lang="en-US" sz="13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548640" y="3840480"/>
            <a:ext cx="5852160" cy="320040"/>
          </a:xfrm>
          <a:prstGeom prst="rect">
            <a:avLst/>
          </a:prstGeom>
          <a:noFill/>
          <a:ln/>
        </p:spPr>
        <p:txBody>
          <a:bodyPr wrap="square" rtlCol="0" anchor="ctr"/>
          <a:lstStyle/>
          <a:p>
            <a:pPr marL="0" indent="0">
              <a:buNone/>
            </a:pPr>
            <a:r>
              <a:rPr lang="en-US" sz="1200" b="1" dirty="0">
                <a:solidFill>
                  <a:srgbClr val="0E3B36"/>
                </a:solidFill>
                <a:latin typeface="Georgia" panose="02040502050405020303" pitchFamily="18" charset="0"/>
                <a:ea typeface="Verdana" pitchFamily="34" charset="-122"/>
                <a:cs typeface="Verdana" pitchFamily="34" charset="-120"/>
              </a:rPr>
              <a:t>Search strategy: Bayesian (Optuna TPE)</a:t>
            </a:r>
            <a:endParaRPr lang="en-US" sz="1200" dirty="0">
              <a:latin typeface="Georgia" panose="02040502050405020303" pitchFamily="18" charset="0"/>
            </a:endParaRPr>
          </a:p>
        </p:txBody>
      </p:sp>
      <p:sp>
        <p:nvSpPr>
          <p:cNvPr id="6" name="Text 3"/>
          <p:cNvSpPr/>
          <p:nvPr/>
        </p:nvSpPr>
        <p:spPr>
          <a:xfrm>
            <a:off x="548640" y="4206240"/>
            <a:ext cx="5852160" cy="914400"/>
          </a:xfrm>
          <a:prstGeom prst="rect">
            <a:avLst/>
          </a:prstGeom>
          <a:noFill/>
          <a:ln/>
        </p:spPr>
        <p:txBody>
          <a:bodyPr wrap="square" rtlCol="0" anchor="ctr"/>
          <a:lstStyle/>
          <a:p>
            <a:pPr marL="0" indent="0">
              <a:buNone/>
            </a:pPr>
            <a:r>
              <a:rPr lang="en-US" sz="1200" dirty="0">
                <a:solidFill>
                  <a:srgbClr val="1B2E2B"/>
                </a:solidFill>
                <a:latin typeface="Georgia" panose="02040502050405020303" pitchFamily="18" charset="0"/>
                <a:ea typeface="Verdana" pitchFamily="34" charset="-122"/>
                <a:cs typeface="Verdana" pitchFamily="34" charset="-120"/>
              </a:rPr>
              <a:t>30 trials · 2-fold CV · 15,000-row balanced subsample — then refit on all 59,820 training rows with the winning parameters.</a:t>
            </a:r>
            <a:endParaRPr lang="en-US" sz="1200" dirty="0">
              <a:latin typeface="Georgia" panose="02040502050405020303" pitchFamily="18" charset="0"/>
            </a:endParaRPr>
          </a:p>
        </p:txBody>
      </p:sp>
      <p:sp>
        <p:nvSpPr>
          <p:cNvPr id="7" name="Text 4"/>
          <p:cNvSpPr/>
          <p:nvPr/>
        </p:nvSpPr>
        <p:spPr>
          <a:xfrm>
            <a:off x="548640" y="5212080"/>
            <a:ext cx="5852160" cy="731520"/>
          </a:xfrm>
          <a:prstGeom prst="rect">
            <a:avLst/>
          </a:prstGeom>
          <a:noFill/>
          <a:ln/>
        </p:spPr>
        <p:txBody>
          <a:bodyPr wrap="square" rtlCol="0" anchor="ctr"/>
          <a:lstStyle/>
          <a:p>
            <a:pPr marL="0" indent="0">
              <a:buNone/>
            </a:pPr>
            <a:r>
              <a:rPr lang="en-US" sz="1300" i="1" dirty="0">
                <a:solidFill>
                  <a:srgbClr val="5C6E6A"/>
                </a:solidFill>
                <a:latin typeface="Georgia" pitchFamily="34" charset="0"/>
                <a:ea typeface="Georgia" pitchFamily="34" charset="-122"/>
                <a:cs typeface="Georgia" pitchFamily="34" charset="-120"/>
              </a:rPr>
              <a:t>"We searched 30 configurations intelligently rather than guessing."</a:t>
            </a:r>
            <a:endParaRPr lang="en-US" sz="1300" dirty="0"/>
          </a:p>
        </p:txBody>
      </p:sp>
      <p:sp>
        <p:nvSpPr>
          <p:cNvPr id="8" name="Shape 5"/>
          <p:cNvSpPr/>
          <p:nvPr/>
        </p:nvSpPr>
        <p:spPr>
          <a:xfrm>
            <a:off x="6766560" y="1463040"/>
            <a:ext cx="4846320" cy="4480560"/>
          </a:xfrm>
          <a:prstGeom prst="roundRect">
            <a:avLst>
              <a:gd name="adj" fmla="val 2041"/>
            </a:avLst>
          </a:prstGeom>
          <a:solidFill>
            <a:srgbClr val="F6F3EC"/>
          </a:solidFill>
          <a:ln/>
        </p:spPr>
        <p:txBody>
          <a:bodyPr/>
          <a:lstStyle/>
          <a:p>
            <a:endParaRPr lang="en-US"/>
          </a:p>
        </p:txBody>
      </p:sp>
      <p:sp>
        <p:nvSpPr>
          <p:cNvPr id="9" name="Shape 6"/>
          <p:cNvSpPr/>
          <p:nvPr/>
        </p:nvSpPr>
        <p:spPr>
          <a:xfrm>
            <a:off x="7040880" y="1691640"/>
            <a:ext cx="4297680" cy="548640"/>
          </a:xfrm>
          <a:prstGeom prst="roundRect">
            <a:avLst>
              <a:gd name="adj" fmla="val 13333"/>
            </a:avLst>
          </a:prstGeom>
          <a:solidFill>
            <a:srgbClr val="FFFFFF"/>
          </a:solidFill>
          <a:ln w="12700">
            <a:solidFill>
              <a:srgbClr val="D8DED9"/>
            </a:solidFill>
            <a:prstDash val="solid"/>
          </a:ln>
        </p:spPr>
        <p:txBody>
          <a:bodyPr/>
          <a:lstStyle/>
          <a:p>
            <a:endParaRPr lang="en-US"/>
          </a:p>
        </p:txBody>
      </p:sp>
      <p:sp>
        <p:nvSpPr>
          <p:cNvPr id="10" name="Text 7"/>
          <p:cNvSpPr/>
          <p:nvPr/>
        </p:nvSpPr>
        <p:spPr>
          <a:xfrm>
            <a:off x="7178040" y="1691640"/>
            <a:ext cx="4023360" cy="548640"/>
          </a:xfrm>
          <a:prstGeom prst="rect">
            <a:avLst/>
          </a:prstGeom>
          <a:noFill/>
          <a:ln/>
        </p:spPr>
        <p:txBody>
          <a:bodyPr wrap="square" rtlCol="0" anchor="ctr"/>
          <a:lstStyle/>
          <a:p>
            <a:pPr marL="0" indent="0">
              <a:buNone/>
            </a:pPr>
            <a:r>
              <a:rPr lang="en-US" sz="1050" dirty="0">
                <a:solidFill>
                  <a:srgbClr val="1B2E2B"/>
                </a:solidFill>
                <a:latin typeface="Georgia" panose="02040502050405020303" pitchFamily="18" charset="0"/>
                <a:ea typeface="Verdana" pitchFamily="34" charset="-122"/>
                <a:cs typeface="Verdana" pitchFamily="34" charset="-120"/>
              </a:rPr>
              <a:t>Sample 15,000 rows (stratified, balanced)</a:t>
            </a:r>
            <a:endParaRPr lang="en-US" sz="1050" dirty="0">
              <a:latin typeface="Georgia" panose="02040502050405020303" pitchFamily="18" charset="0"/>
            </a:endParaRPr>
          </a:p>
        </p:txBody>
      </p:sp>
      <p:sp>
        <p:nvSpPr>
          <p:cNvPr id="11" name="Shape 8"/>
          <p:cNvSpPr/>
          <p:nvPr/>
        </p:nvSpPr>
        <p:spPr>
          <a:xfrm>
            <a:off x="7040880" y="2377440"/>
            <a:ext cx="4297680" cy="548640"/>
          </a:xfrm>
          <a:prstGeom prst="roundRect">
            <a:avLst>
              <a:gd name="adj" fmla="val 13333"/>
            </a:avLst>
          </a:prstGeom>
          <a:solidFill>
            <a:srgbClr val="FFFFFF"/>
          </a:solidFill>
          <a:ln w="12700">
            <a:solidFill>
              <a:srgbClr val="D8DED9"/>
            </a:solidFill>
            <a:prstDash val="solid"/>
          </a:ln>
        </p:spPr>
        <p:txBody>
          <a:bodyPr/>
          <a:lstStyle/>
          <a:p>
            <a:endParaRPr lang="en-US"/>
          </a:p>
        </p:txBody>
      </p:sp>
      <p:sp>
        <p:nvSpPr>
          <p:cNvPr id="4" name="Text 9"/>
          <p:cNvSpPr/>
          <p:nvPr/>
        </p:nvSpPr>
        <p:spPr>
          <a:xfrm>
            <a:off x="7178040" y="2377440"/>
            <a:ext cx="4023360" cy="548640"/>
          </a:xfrm>
          <a:prstGeom prst="rect">
            <a:avLst/>
          </a:prstGeom>
          <a:noFill/>
          <a:ln/>
        </p:spPr>
        <p:txBody>
          <a:bodyPr wrap="square" rtlCol="0" anchor="ctr"/>
          <a:lstStyle/>
          <a:p>
            <a:pPr marL="0" indent="0">
              <a:buNone/>
            </a:pPr>
            <a:r>
              <a:rPr lang="en-US" sz="1050" dirty="0">
                <a:solidFill>
                  <a:srgbClr val="1B2E2B"/>
                </a:solidFill>
                <a:latin typeface="Georgia" panose="02040502050405020303" pitchFamily="18" charset="0"/>
                <a:ea typeface="Verdana" pitchFamily="34" charset="-122"/>
                <a:cs typeface="Verdana" pitchFamily="34" charset="-120"/>
              </a:rPr>
              <a:t>Run trial with suggested params</a:t>
            </a:r>
            <a:endParaRPr lang="en-US" sz="1050" dirty="0">
              <a:latin typeface="Georgia" panose="02040502050405020303" pitchFamily="18" charset="0"/>
            </a:endParaRPr>
          </a:p>
        </p:txBody>
      </p:sp>
      <p:sp>
        <p:nvSpPr>
          <p:cNvPr id="13" name="Shape 10"/>
          <p:cNvSpPr/>
          <p:nvPr/>
        </p:nvSpPr>
        <p:spPr>
          <a:xfrm>
            <a:off x="7040880" y="3063240"/>
            <a:ext cx="4297680" cy="548640"/>
          </a:xfrm>
          <a:prstGeom prst="roundRect">
            <a:avLst>
              <a:gd name="adj" fmla="val 13333"/>
            </a:avLst>
          </a:prstGeom>
          <a:solidFill>
            <a:srgbClr val="FFFFFF"/>
          </a:solidFill>
          <a:ln w="12700">
            <a:solidFill>
              <a:srgbClr val="D8DED9"/>
            </a:solidFill>
            <a:prstDash val="solid"/>
          </a:ln>
        </p:spPr>
        <p:txBody>
          <a:bodyPr/>
          <a:lstStyle/>
          <a:p>
            <a:endParaRPr lang="en-US"/>
          </a:p>
        </p:txBody>
      </p:sp>
      <p:sp>
        <p:nvSpPr>
          <p:cNvPr id="14" name="Text 11"/>
          <p:cNvSpPr/>
          <p:nvPr/>
        </p:nvSpPr>
        <p:spPr>
          <a:xfrm>
            <a:off x="7178040" y="3063240"/>
            <a:ext cx="4023360" cy="548640"/>
          </a:xfrm>
          <a:prstGeom prst="rect">
            <a:avLst/>
          </a:prstGeom>
          <a:noFill/>
          <a:ln/>
        </p:spPr>
        <p:txBody>
          <a:bodyPr wrap="square" rtlCol="0" anchor="ctr"/>
          <a:lstStyle/>
          <a:p>
            <a:pPr marL="0" indent="0">
              <a:buNone/>
            </a:pPr>
            <a:r>
              <a:rPr lang="en-US" sz="1050" dirty="0">
                <a:solidFill>
                  <a:srgbClr val="1B2E2B"/>
                </a:solidFill>
                <a:latin typeface="Georgia" panose="02040502050405020303" pitchFamily="18" charset="0"/>
                <a:ea typeface="Verdana" pitchFamily="34" charset="-122"/>
                <a:cs typeface="Verdana" pitchFamily="34" charset="-120"/>
              </a:rPr>
              <a:t>Score on 2-fold CV</a:t>
            </a:r>
            <a:endParaRPr lang="en-US" sz="1050" dirty="0">
              <a:latin typeface="Georgia" panose="02040502050405020303" pitchFamily="18" charset="0"/>
            </a:endParaRPr>
          </a:p>
        </p:txBody>
      </p:sp>
      <p:sp>
        <p:nvSpPr>
          <p:cNvPr id="15" name="Shape 12"/>
          <p:cNvSpPr/>
          <p:nvPr/>
        </p:nvSpPr>
        <p:spPr>
          <a:xfrm>
            <a:off x="7040880" y="3749040"/>
            <a:ext cx="4297680" cy="548640"/>
          </a:xfrm>
          <a:prstGeom prst="roundRect">
            <a:avLst>
              <a:gd name="adj" fmla="val 13333"/>
            </a:avLst>
          </a:prstGeom>
          <a:solidFill>
            <a:srgbClr val="FFFFFF"/>
          </a:solidFill>
          <a:ln w="12700">
            <a:solidFill>
              <a:srgbClr val="D8DED9"/>
            </a:solidFill>
            <a:prstDash val="solid"/>
          </a:ln>
        </p:spPr>
        <p:txBody>
          <a:bodyPr/>
          <a:lstStyle/>
          <a:p>
            <a:endParaRPr lang="en-US"/>
          </a:p>
        </p:txBody>
      </p:sp>
      <p:sp>
        <p:nvSpPr>
          <p:cNvPr id="16" name="Text 13"/>
          <p:cNvSpPr/>
          <p:nvPr/>
        </p:nvSpPr>
        <p:spPr>
          <a:xfrm>
            <a:off x="7178040" y="3749040"/>
            <a:ext cx="4023360" cy="548640"/>
          </a:xfrm>
          <a:prstGeom prst="rect">
            <a:avLst/>
          </a:prstGeom>
          <a:noFill/>
          <a:ln/>
        </p:spPr>
        <p:txBody>
          <a:bodyPr wrap="square" rtlCol="0" anchor="ctr"/>
          <a:lstStyle/>
          <a:p>
            <a:pPr marL="0" indent="0">
              <a:buNone/>
            </a:pPr>
            <a:r>
              <a:rPr lang="en-US" sz="1050" dirty="0">
                <a:solidFill>
                  <a:srgbClr val="1B2E2B"/>
                </a:solidFill>
                <a:latin typeface="Georgia" panose="02040502050405020303" pitchFamily="18" charset="0"/>
                <a:ea typeface="Verdana" pitchFamily="34" charset="-122"/>
                <a:cs typeface="Verdana" pitchFamily="34" charset="-120"/>
              </a:rPr>
              <a:t>Update belief about promising regions</a:t>
            </a:r>
            <a:endParaRPr lang="en-US" sz="1050" dirty="0">
              <a:latin typeface="Georgia" panose="02040502050405020303" pitchFamily="18" charset="0"/>
            </a:endParaRPr>
          </a:p>
        </p:txBody>
      </p:sp>
      <p:sp>
        <p:nvSpPr>
          <p:cNvPr id="17" name="Shape 14"/>
          <p:cNvSpPr/>
          <p:nvPr/>
        </p:nvSpPr>
        <p:spPr>
          <a:xfrm>
            <a:off x="7040880" y="4434840"/>
            <a:ext cx="4297680" cy="548640"/>
          </a:xfrm>
          <a:prstGeom prst="roundRect">
            <a:avLst>
              <a:gd name="adj" fmla="val 13333"/>
            </a:avLst>
          </a:prstGeom>
          <a:solidFill>
            <a:srgbClr val="FFFFFF"/>
          </a:solidFill>
          <a:ln w="12700">
            <a:solidFill>
              <a:srgbClr val="D8DED9"/>
            </a:solidFill>
            <a:prstDash val="solid"/>
          </a:ln>
        </p:spPr>
        <p:txBody>
          <a:bodyPr/>
          <a:lstStyle/>
          <a:p>
            <a:endParaRPr lang="en-US"/>
          </a:p>
        </p:txBody>
      </p:sp>
      <p:sp>
        <p:nvSpPr>
          <p:cNvPr id="18" name="Text 15"/>
          <p:cNvSpPr/>
          <p:nvPr/>
        </p:nvSpPr>
        <p:spPr>
          <a:xfrm>
            <a:off x="7178040" y="4434840"/>
            <a:ext cx="4023360" cy="548640"/>
          </a:xfrm>
          <a:prstGeom prst="rect">
            <a:avLst/>
          </a:prstGeom>
          <a:noFill/>
          <a:ln/>
        </p:spPr>
        <p:txBody>
          <a:bodyPr wrap="square" rtlCol="0" anchor="ctr"/>
          <a:lstStyle/>
          <a:p>
            <a:pPr marL="0" indent="0">
              <a:buNone/>
            </a:pPr>
            <a:r>
              <a:rPr lang="en-US" sz="1050" dirty="0">
                <a:solidFill>
                  <a:srgbClr val="1B2E2B"/>
                </a:solidFill>
                <a:latin typeface="Georgia" panose="02040502050405020303" pitchFamily="18" charset="0"/>
                <a:ea typeface="Verdana" pitchFamily="34" charset="-122"/>
                <a:cs typeface="Verdana" pitchFamily="34" charset="-120"/>
              </a:rPr>
              <a:t>Repeat 30×</a:t>
            </a:r>
            <a:endParaRPr lang="en-US" sz="1050" dirty="0">
              <a:latin typeface="Georgia" panose="02040502050405020303" pitchFamily="18" charset="0"/>
            </a:endParaRPr>
          </a:p>
        </p:txBody>
      </p:sp>
      <p:sp>
        <p:nvSpPr>
          <p:cNvPr id="19" name="Shape 16"/>
          <p:cNvSpPr/>
          <p:nvPr/>
        </p:nvSpPr>
        <p:spPr>
          <a:xfrm>
            <a:off x="7040880" y="5120640"/>
            <a:ext cx="4297680" cy="548640"/>
          </a:xfrm>
          <a:prstGeom prst="roundRect">
            <a:avLst>
              <a:gd name="adj" fmla="val 13333"/>
            </a:avLst>
          </a:prstGeom>
          <a:solidFill>
            <a:srgbClr val="0E3B36"/>
          </a:solidFill>
          <a:ln w="12700">
            <a:solidFill>
              <a:srgbClr val="D8DED9"/>
            </a:solidFill>
            <a:prstDash val="solid"/>
          </a:ln>
        </p:spPr>
        <p:txBody>
          <a:bodyPr/>
          <a:lstStyle/>
          <a:p>
            <a:endParaRPr lang="en-US"/>
          </a:p>
        </p:txBody>
      </p:sp>
      <p:sp>
        <p:nvSpPr>
          <p:cNvPr id="20" name="Text 17"/>
          <p:cNvSpPr/>
          <p:nvPr/>
        </p:nvSpPr>
        <p:spPr>
          <a:xfrm>
            <a:off x="7178040" y="5120640"/>
            <a:ext cx="4023360" cy="548640"/>
          </a:xfrm>
          <a:prstGeom prst="rect">
            <a:avLst/>
          </a:prstGeom>
          <a:noFill/>
          <a:ln/>
        </p:spPr>
        <p:txBody>
          <a:bodyPr wrap="square" rtlCol="0" anchor="ctr"/>
          <a:lstStyle/>
          <a:p>
            <a:pPr marL="0" indent="0">
              <a:buNone/>
            </a:pPr>
            <a:r>
              <a:rPr lang="en-US" sz="1050" dirty="0">
                <a:solidFill>
                  <a:srgbClr val="FFFFFF"/>
                </a:solidFill>
                <a:latin typeface="Georgia" panose="02040502050405020303" pitchFamily="18" charset="0"/>
                <a:ea typeface="Verdana" pitchFamily="34" charset="-122"/>
                <a:cs typeface="Verdana" pitchFamily="34" charset="-120"/>
              </a:rPr>
              <a:t>Refit best config on full 59,820 rows</a:t>
            </a:r>
            <a:endParaRPr lang="en-US" sz="1050" dirty="0">
              <a:latin typeface="Georgia" panose="02040502050405020303" pitchFamily="18" charset="0"/>
            </a:endParaRPr>
          </a:p>
        </p:txBody>
      </p:sp>
      <p:sp>
        <p:nvSpPr>
          <p:cNvPr id="21" name="Text 18"/>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Georgia" panose="02040502050405020303" pitchFamily="18" charset="0"/>
                <a:ea typeface="Verdana" pitchFamily="34" charset="-122"/>
                <a:cs typeface="Verdana" pitchFamily="34" charset="-120"/>
              </a:rPr>
              <a:t>The Insight Architects — </a:t>
            </a:r>
            <a:r>
              <a:rPr lang="en-US" sz="900">
                <a:solidFill>
                  <a:srgbClr val="5C6E6A"/>
                </a:solidFill>
                <a:latin typeface="Georgia" panose="02040502050405020303" pitchFamily="18" charset="0"/>
                <a:ea typeface="Verdana" pitchFamily="34" charset="-122"/>
                <a:cs typeface="Verdana" pitchFamily="34" charset="-120"/>
              </a:rPr>
              <a:t>KDHS 2022 </a:t>
            </a:r>
            <a:r>
              <a:rPr lang="en-US" sz="900" dirty="0">
                <a:solidFill>
                  <a:srgbClr val="5C6E6A"/>
                </a:solidFill>
                <a:latin typeface="Georgia" panose="02040502050405020303" pitchFamily="18" charset="0"/>
                <a:ea typeface="Verdana" pitchFamily="34" charset="-122"/>
                <a:cs typeface="Verdana" pitchFamily="34" charset="-120"/>
              </a:rPr>
              <a:t>Capstone</a:t>
            </a:r>
            <a:endParaRPr lang="en-US" sz="900" dirty="0">
              <a:latin typeface="Georgia" panose="02040502050405020303" pitchFamily="18" charset="0"/>
            </a:endParaRPr>
          </a:p>
        </p:txBody>
      </p:sp>
      <p:sp>
        <p:nvSpPr>
          <p:cNvPr id="22" name="Text 19"/>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12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 0">
            <a:extLst>
              <a:ext uri="{FF2B5EF4-FFF2-40B4-BE49-F238E27FC236}">
                <a16:creationId xmlns:a16="http://schemas.microsoft.com/office/drawing/2014/main" id="{4E47A257-6F93-2477-BCC8-8ED75A8BFD6E}"/>
              </a:ext>
            </a:extLst>
          </p:cNvPr>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MODELLING &amp; EVALUATION</a:t>
            </a:r>
            <a:endParaRPr lang="en-US" sz="1100" dirty="0"/>
          </a:p>
        </p:txBody>
      </p:sp>
      <p:sp>
        <p:nvSpPr>
          <p:cNvPr id="124" name="Text 1">
            <a:extLst>
              <a:ext uri="{FF2B5EF4-FFF2-40B4-BE49-F238E27FC236}">
                <a16:creationId xmlns:a16="http://schemas.microsoft.com/office/drawing/2014/main" id="{2430ACB4-5BDB-E1CF-26FE-2CCAB617E39C}"/>
              </a:ext>
            </a:extLst>
          </p:cNvPr>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The Tuned Model, In Detail</a:t>
            </a:r>
            <a:endParaRPr lang="en-US" sz="3000" dirty="0"/>
          </a:p>
        </p:txBody>
      </p:sp>
      <p:sp>
        <p:nvSpPr>
          <p:cNvPr id="126" name="Text 2">
            <a:extLst>
              <a:ext uri="{FF2B5EF4-FFF2-40B4-BE49-F238E27FC236}">
                <a16:creationId xmlns:a16="http://schemas.microsoft.com/office/drawing/2014/main" id="{DF8F49DF-82BD-0935-18EF-AB91E29DDC8F}"/>
              </a:ext>
            </a:extLst>
          </p:cNvPr>
          <p:cNvSpPr/>
          <p:nvPr/>
        </p:nvSpPr>
        <p:spPr>
          <a:xfrm>
            <a:off x="548640" y="1051560"/>
            <a:ext cx="10881360" cy="365760"/>
          </a:xfrm>
          <a:prstGeom prst="rect">
            <a:avLst/>
          </a:prstGeom>
          <a:noFill/>
          <a:ln/>
        </p:spPr>
        <p:txBody>
          <a:bodyPr wrap="square" rtlCol="0" anchor="ctr"/>
          <a:lstStyle/>
          <a:p>
            <a:pPr marL="0" indent="0">
              <a:buNone/>
            </a:pPr>
            <a:r>
              <a:rPr lang="en-US" sz="1250" dirty="0">
                <a:solidFill>
                  <a:srgbClr val="5C6E6A"/>
                </a:solidFill>
                <a:latin typeface="Verdana" pitchFamily="34" charset="0"/>
                <a:ea typeface="Verdana" pitchFamily="34" charset="-122"/>
                <a:cs typeface="Verdana" pitchFamily="34" charset="-120"/>
              </a:rPr>
              <a:t>How the final LightGBM configuration actually performs on the held-out test set.</a:t>
            </a:r>
            <a:endParaRPr lang="en-US" sz="1250" dirty="0"/>
          </a:p>
        </p:txBody>
      </p:sp>
      <p:sp>
        <p:nvSpPr>
          <p:cNvPr id="128" name="Shape 3">
            <a:extLst>
              <a:ext uri="{FF2B5EF4-FFF2-40B4-BE49-F238E27FC236}">
                <a16:creationId xmlns:a16="http://schemas.microsoft.com/office/drawing/2014/main" id="{ACE3096E-0E3B-9E4A-3B2A-1DC9A14024A5}"/>
              </a:ext>
            </a:extLst>
          </p:cNvPr>
          <p:cNvSpPr/>
          <p:nvPr/>
        </p:nvSpPr>
        <p:spPr>
          <a:xfrm>
            <a:off x="579120" y="1623060"/>
            <a:ext cx="1965960" cy="1234440"/>
          </a:xfrm>
          <a:prstGeom prst="roundRect">
            <a:avLst>
              <a:gd name="adj" fmla="val 7407"/>
            </a:avLst>
          </a:prstGeom>
          <a:solidFill>
            <a:srgbClr val="0E3B36"/>
          </a:solidFill>
          <a:ln/>
        </p:spPr>
        <p:txBody>
          <a:bodyPr/>
          <a:lstStyle/>
          <a:p>
            <a:endParaRPr lang="en-US"/>
          </a:p>
        </p:txBody>
      </p:sp>
      <p:sp>
        <p:nvSpPr>
          <p:cNvPr id="130" name="Text 4">
            <a:extLst>
              <a:ext uri="{FF2B5EF4-FFF2-40B4-BE49-F238E27FC236}">
                <a16:creationId xmlns:a16="http://schemas.microsoft.com/office/drawing/2014/main" id="{DE4C9A5D-1D2C-4255-BE6C-8D29FEDD40FF}"/>
              </a:ext>
            </a:extLst>
          </p:cNvPr>
          <p:cNvSpPr/>
          <p:nvPr/>
        </p:nvSpPr>
        <p:spPr>
          <a:xfrm>
            <a:off x="548640" y="1627632"/>
            <a:ext cx="1965960" cy="640080"/>
          </a:xfrm>
          <a:prstGeom prst="rect">
            <a:avLst/>
          </a:prstGeom>
          <a:noFill/>
          <a:ln/>
        </p:spPr>
        <p:txBody>
          <a:bodyPr wrap="square" rtlCol="0" anchor="ctr"/>
          <a:lstStyle/>
          <a:p>
            <a:pPr marL="0" indent="0" algn="ctr">
              <a:buNone/>
            </a:pPr>
            <a:r>
              <a:rPr lang="en-US" sz="2600" b="1" dirty="0">
                <a:solidFill>
                  <a:srgbClr val="D9A441"/>
                </a:solidFill>
                <a:latin typeface="Georgia" pitchFamily="34" charset="0"/>
                <a:ea typeface="Georgia" pitchFamily="34" charset="-122"/>
                <a:cs typeface="Georgia" pitchFamily="34" charset="-120"/>
              </a:rPr>
              <a:t>95.9%</a:t>
            </a:r>
            <a:endParaRPr lang="en-US" sz="2600" dirty="0"/>
          </a:p>
        </p:txBody>
      </p:sp>
      <p:sp>
        <p:nvSpPr>
          <p:cNvPr id="132" name="Text 5">
            <a:extLst>
              <a:ext uri="{FF2B5EF4-FFF2-40B4-BE49-F238E27FC236}">
                <a16:creationId xmlns:a16="http://schemas.microsoft.com/office/drawing/2014/main" id="{7238E8DB-02F2-63E1-767D-80810A76AC6E}"/>
              </a:ext>
            </a:extLst>
          </p:cNvPr>
          <p:cNvSpPr/>
          <p:nvPr/>
        </p:nvSpPr>
        <p:spPr>
          <a:xfrm>
            <a:off x="548640" y="2240280"/>
            <a:ext cx="1965960" cy="411480"/>
          </a:xfrm>
          <a:prstGeom prst="rect">
            <a:avLst/>
          </a:prstGeom>
          <a:noFill/>
          <a:ln/>
        </p:spPr>
        <p:txBody>
          <a:bodyPr wrap="square" rtlCol="0" anchor="ctr"/>
          <a:lstStyle/>
          <a:p>
            <a:pPr marL="0" indent="0" algn="ctr">
              <a:buNone/>
            </a:pPr>
            <a:r>
              <a:rPr lang="en-US" sz="1050" dirty="0">
                <a:solidFill>
                  <a:srgbClr val="D7E8E3"/>
                </a:solidFill>
                <a:latin typeface="Verdana" pitchFamily="34" charset="0"/>
                <a:ea typeface="Verdana" pitchFamily="34" charset="-122"/>
                <a:cs typeface="Verdana" pitchFamily="34" charset="-120"/>
              </a:rPr>
              <a:t>Accuracy</a:t>
            </a:r>
            <a:endParaRPr lang="en-US" sz="1050" dirty="0"/>
          </a:p>
        </p:txBody>
      </p:sp>
      <p:sp>
        <p:nvSpPr>
          <p:cNvPr id="134" name="Shape 6">
            <a:extLst>
              <a:ext uri="{FF2B5EF4-FFF2-40B4-BE49-F238E27FC236}">
                <a16:creationId xmlns:a16="http://schemas.microsoft.com/office/drawing/2014/main" id="{AFD67579-E7E1-AB0A-14FB-C07200439EE9}"/>
              </a:ext>
            </a:extLst>
          </p:cNvPr>
          <p:cNvSpPr/>
          <p:nvPr/>
        </p:nvSpPr>
        <p:spPr>
          <a:xfrm>
            <a:off x="2697480" y="1554480"/>
            <a:ext cx="1965960" cy="1234440"/>
          </a:xfrm>
          <a:prstGeom prst="roundRect">
            <a:avLst>
              <a:gd name="adj" fmla="val 7407"/>
            </a:avLst>
          </a:prstGeom>
          <a:solidFill>
            <a:srgbClr val="0E3B36"/>
          </a:solidFill>
          <a:ln/>
        </p:spPr>
        <p:txBody>
          <a:bodyPr/>
          <a:lstStyle/>
          <a:p>
            <a:endParaRPr lang="en-US"/>
          </a:p>
        </p:txBody>
      </p:sp>
      <p:sp>
        <p:nvSpPr>
          <p:cNvPr id="136" name="Text 7">
            <a:extLst>
              <a:ext uri="{FF2B5EF4-FFF2-40B4-BE49-F238E27FC236}">
                <a16:creationId xmlns:a16="http://schemas.microsoft.com/office/drawing/2014/main" id="{DDCAAF6C-675A-D8BA-B949-6F57DA4CA3AC}"/>
              </a:ext>
            </a:extLst>
          </p:cNvPr>
          <p:cNvSpPr/>
          <p:nvPr/>
        </p:nvSpPr>
        <p:spPr>
          <a:xfrm>
            <a:off x="2697480" y="1627632"/>
            <a:ext cx="1965960" cy="640080"/>
          </a:xfrm>
          <a:prstGeom prst="rect">
            <a:avLst/>
          </a:prstGeom>
          <a:noFill/>
          <a:ln/>
        </p:spPr>
        <p:txBody>
          <a:bodyPr wrap="square" rtlCol="0" anchor="ctr"/>
          <a:lstStyle/>
          <a:p>
            <a:pPr marL="0" indent="0" algn="ctr">
              <a:buNone/>
            </a:pPr>
            <a:r>
              <a:rPr lang="en-US" sz="2600" b="1" dirty="0">
                <a:solidFill>
                  <a:srgbClr val="D9A441"/>
                </a:solidFill>
                <a:latin typeface="Georgia" pitchFamily="34" charset="0"/>
                <a:ea typeface="Georgia" pitchFamily="34" charset="-122"/>
                <a:cs typeface="Georgia" pitchFamily="34" charset="-120"/>
              </a:rPr>
              <a:t>0.951</a:t>
            </a:r>
            <a:endParaRPr lang="en-US" sz="2600" dirty="0"/>
          </a:p>
        </p:txBody>
      </p:sp>
      <p:sp>
        <p:nvSpPr>
          <p:cNvPr id="138" name="Text 8">
            <a:extLst>
              <a:ext uri="{FF2B5EF4-FFF2-40B4-BE49-F238E27FC236}">
                <a16:creationId xmlns:a16="http://schemas.microsoft.com/office/drawing/2014/main" id="{7B2CF9E1-161C-9D8F-DDDE-06DE709BEF39}"/>
              </a:ext>
            </a:extLst>
          </p:cNvPr>
          <p:cNvSpPr/>
          <p:nvPr/>
        </p:nvSpPr>
        <p:spPr>
          <a:xfrm>
            <a:off x="2697480" y="2240280"/>
            <a:ext cx="1965960" cy="411480"/>
          </a:xfrm>
          <a:prstGeom prst="rect">
            <a:avLst/>
          </a:prstGeom>
          <a:noFill/>
          <a:ln/>
        </p:spPr>
        <p:txBody>
          <a:bodyPr wrap="square" rtlCol="0" anchor="ctr"/>
          <a:lstStyle/>
          <a:p>
            <a:pPr marL="0" indent="0" algn="ctr">
              <a:buNone/>
            </a:pPr>
            <a:r>
              <a:rPr lang="en-US" sz="1050" dirty="0">
                <a:solidFill>
                  <a:srgbClr val="D7E8E3"/>
                </a:solidFill>
                <a:latin typeface="Verdana" pitchFamily="34" charset="0"/>
                <a:ea typeface="Verdana" pitchFamily="34" charset="-122"/>
                <a:cs typeface="Verdana" pitchFamily="34" charset="-120"/>
              </a:rPr>
              <a:t>Macro AUC</a:t>
            </a:r>
            <a:endParaRPr lang="en-US" sz="1050" dirty="0"/>
          </a:p>
        </p:txBody>
      </p:sp>
      <p:sp>
        <p:nvSpPr>
          <p:cNvPr id="140" name="Shape 9">
            <a:extLst>
              <a:ext uri="{FF2B5EF4-FFF2-40B4-BE49-F238E27FC236}">
                <a16:creationId xmlns:a16="http://schemas.microsoft.com/office/drawing/2014/main" id="{102F5CFD-89EA-D1EE-9FBC-9A0D2C5149A1}"/>
              </a:ext>
            </a:extLst>
          </p:cNvPr>
          <p:cNvSpPr/>
          <p:nvPr/>
        </p:nvSpPr>
        <p:spPr>
          <a:xfrm>
            <a:off x="4846320" y="1554480"/>
            <a:ext cx="1965960" cy="1234440"/>
          </a:xfrm>
          <a:prstGeom prst="roundRect">
            <a:avLst>
              <a:gd name="adj" fmla="val 7407"/>
            </a:avLst>
          </a:prstGeom>
          <a:solidFill>
            <a:srgbClr val="0E3B36"/>
          </a:solidFill>
          <a:ln/>
        </p:spPr>
        <p:txBody>
          <a:bodyPr/>
          <a:lstStyle/>
          <a:p>
            <a:endParaRPr lang="en-US"/>
          </a:p>
        </p:txBody>
      </p:sp>
      <p:sp>
        <p:nvSpPr>
          <p:cNvPr id="142" name="Text 10">
            <a:extLst>
              <a:ext uri="{FF2B5EF4-FFF2-40B4-BE49-F238E27FC236}">
                <a16:creationId xmlns:a16="http://schemas.microsoft.com/office/drawing/2014/main" id="{E47FC9D4-A78F-A175-3DD7-D277A49536D0}"/>
              </a:ext>
            </a:extLst>
          </p:cNvPr>
          <p:cNvSpPr/>
          <p:nvPr/>
        </p:nvSpPr>
        <p:spPr>
          <a:xfrm>
            <a:off x="4846320" y="1627632"/>
            <a:ext cx="1965960" cy="640080"/>
          </a:xfrm>
          <a:prstGeom prst="rect">
            <a:avLst/>
          </a:prstGeom>
          <a:noFill/>
          <a:ln/>
        </p:spPr>
        <p:txBody>
          <a:bodyPr wrap="square" rtlCol="0" anchor="ctr"/>
          <a:lstStyle/>
          <a:p>
            <a:pPr marL="0" indent="0" algn="ctr">
              <a:buNone/>
            </a:pPr>
            <a:r>
              <a:rPr lang="en-US" sz="2600" b="1" dirty="0">
                <a:solidFill>
                  <a:srgbClr val="D9A441"/>
                </a:solidFill>
                <a:latin typeface="Georgia" pitchFamily="34" charset="0"/>
                <a:ea typeface="Georgia" pitchFamily="34" charset="-122"/>
                <a:cs typeface="Georgia" pitchFamily="34" charset="-120"/>
              </a:rPr>
              <a:t>0.510</a:t>
            </a:r>
            <a:endParaRPr lang="en-US" sz="2600" dirty="0"/>
          </a:p>
        </p:txBody>
      </p:sp>
      <p:sp>
        <p:nvSpPr>
          <p:cNvPr id="144" name="Text 11">
            <a:extLst>
              <a:ext uri="{FF2B5EF4-FFF2-40B4-BE49-F238E27FC236}">
                <a16:creationId xmlns:a16="http://schemas.microsoft.com/office/drawing/2014/main" id="{A5457985-1D02-7176-01AF-465C256946EB}"/>
              </a:ext>
            </a:extLst>
          </p:cNvPr>
          <p:cNvSpPr/>
          <p:nvPr/>
        </p:nvSpPr>
        <p:spPr>
          <a:xfrm>
            <a:off x="4846320" y="2240280"/>
            <a:ext cx="1965960" cy="411480"/>
          </a:xfrm>
          <a:prstGeom prst="rect">
            <a:avLst/>
          </a:prstGeom>
          <a:noFill/>
          <a:ln/>
        </p:spPr>
        <p:txBody>
          <a:bodyPr wrap="square" rtlCol="0" anchor="ctr"/>
          <a:lstStyle/>
          <a:p>
            <a:pPr marL="0" indent="0" algn="ctr">
              <a:buNone/>
            </a:pPr>
            <a:r>
              <a:rPr lang="en-US" sz="1050" dirty="0">
                <a:solidFill>
                  <a:srgbClr val="D7E8E3"/>
                </a:solidFill>
                <a:latin typeface="Verdana" pitchFamily="34" charset="0"/>
                <a:ea typeface="Verdana" pitchFamily="34" charset="-122"/>
                <a:cs typeface="Verdana" pitchFamily="34" charset="-120"/>
              </a:rPr>
              <a:t>Macro F1</a:t>
            </a:r>
            <a:endParaRPr lang="en-US" sz="1050" dirty="0"/>
          </a:p>
        </p:txBody>
      </p:sp>
      <p:sp>
        <p:nvSpPr>
          <p:cNvPr id="146" name="Text 12">
            <a:extLst>
              <a:ext uri="{FF2B5EF4-FFF2-40B4-BE49-F238E27FC236}">
                <a16:creationId xmlns:a16="http://schemas.microsoft.com/office/drawing/2014/main" id="{4DD694CB-0887-E395-6A44-A943FECD1D76}"/>
              </a:ext>
            </a:extLst>
          </p:cNvPr>
          <p:cNvSpPr/>
          <p:nvPr/>
        </p:nvSpPr>
        <p:spPr>
          <a:xfrm>
            <a:off x="548640" y="2926080"/>
            <a:ext cx="6263640" cy="365760"/>
          </a:xfrm>
          <a:prstGeom prst="rect">
            <a:avLst/>
          </a:prstGeom>
          <a:noFill/>
          <a:ln/>
        </p:spPr>
        <p:txBody>
          <a:bodyPr wrap="square" rtlCol="0" anchor="ctr"/>
          <a:lstStyle/>
          <a:p>
            <a:pPr marL="0" indent="0">
              <a:buNone/>
            </a:pPr>
            <a:r>
              <a:rPr lang="en-US" sz="1050" i="1" dirty="0">
                <a:solidFill>
                  <a:srgbClr val="5C6E6A"/>
                </a:solidFill>
                <a:latin typeface="Verdana" pitchFamily="34" charset="0"/>
                <a:ea typeface="Verdana" pitchFamily="34" charset="-122"/>
                <a:cs typeface="Verdana" pitchFamily="34" charset="-120"/>
              </a:rPr>
              <a:t>Best iteration: 206  ·  400 boosting rounds searched, early stopping applied</a:t>
            </a:r>
            <a:endParaRPr lang="en-US" sz="1050" dirty="0"/>
          </a:p>
        </p:txBody>
      </p:sp>
      <p:sp>
        <p:nvSpPr>
          <p:cNvPr id="148" name="Text 13">
            <a:extLst>
              <a:ext uri="{FF2B5EF4-FFF2-40B4-BE49-F238E27FC236}">
                <a16:creationId xmlns:a16="http://schemas.microsoft.com/office/drawing/2014/main" id="{80EC1BB8-1971-B019-A225-2D56ACAC2F54}"/>
              </a:ext>
            </a:extLst>
          </p:cNvPr>
          <p:cNvSpPr/>
          <p:nvPr/>
        </p:nvSpPr>
        <p:spPr>
          <a:xfrm>
            <a:off x="548640" y="3337560"/>
            <a:ext cx="6263640" cy="320040"/>
          </a:xfrm>
          <a:prstGeom prst="rect">
            <a:avLst/>
          </a:prstGeom>
          <a:noFill/>
          <a:ln/>
        </p:spPr>
        <p:txBody>
          <a:bodyPr wrap="square" rtlCol="0" anchor="ctr"/>
          <a:lstStyle/>
          <a:p>
            <a:pPr marL="0" indent="0">
              <a:buNone/>
            </a:pPr>
            <a:r>
              <a:rPr lang="en-US" sz="1150" b="1" dirty="0">
                <a:solidFill>
                  <a:srgbClr val="0E3B36"/>
                </a:solidFill>
                <a:latin typeface="Verdana" pitchFamily="34" charset="0"/>
                <a:ea typeface="Verdana" pitchFamily="34" charset="-122"/>
                <a:cs typeface="Verdana" pitchFamily="34" charset="-120"/>
              </a:rPr>
              <a:t>Recall by class (test set)</a:t>
            </a:r>
            <a:endParaRPr lang="en-US" sz="1150" dirty="0"/>
          </a:p>
        </p:txBody>
      </p:sp>
      <p:sp>
        <p:nvSpPr>
          <p:cNvPr id="150" name="Text 14">
            <a:extLst>
              <a:ext uri="{FF2B5EF4-FFF2-40B4-BE49-F238E27FC236}">
                <a16:creationId xmlns:a16="http://schemas.microsoft.com/office/drawing/2014/main" id="{5EC8143C-0CB1-AC4E-397C-60F2939E2626}"/>
              </a:ext>
            </a:extLst>
          </p:cNvPr>
          <p:cNvSpPr/>
          <p:nvPr/>
        </p:nvSpPr>
        <p:spPr>
          <a:xfrm>
            <a:off x="548640" y="3703320"/>
            <a:ext cx="1554480" cy="320040"/>
          </a:xfrm>
          <a:prstGeom prst="rect">
            <a:avLst/>
          </a:prstGeom>
          <a:noFill/>
          <a:ln/>
        </p:spPr>
        <p:txBody>
          <a:bodyPr wrap="square" rtlCol="0" anchor="ctr"/>
          <a:lstStyle/>
          <a:p>
            <a:pPr marL="0" indent="0">
              <a:buNone/>
            </a:pPr>
            <a:r>
              <a:rPr lang="en-US" sz="1100" dirty="0">
                <a:solidFill>
                  <a:srgbClr val="1B2E2B"/>
                </a:solidFill>
                <a:latin typeface="Verdana" pitchFamily="34" charset="0"/>
                <a:ea typeface="Verdana" pitchFamily="34" charset="-122"/>
                <a:cs typeface="Verdana" pitchFamily="34" charset="-120"/>
              </a:rPr>
              <a:t>Modern</a:t>
            </a:r>
            <a:endParaRPr lang="en-US" sz="1100" dirty="0"/>
          </a:p>
        </p:txBody>
      </p:sp>
      <p:sp>
        <p:nvSpPr>
          <p:cNvPr id="152" name="Shape 15">
            <a:extLst>
              <a:ext uri="{FF2B5EF4-FFF2-40B4-BE49-F238E27FC236}">
                <a16:creationId xmlns:a16="http://schemas.microsoft.com/office/drawing/2014/main" id="{1F78338E-67F5-7675-4AC6-CC0E3E698E9F}"/>
              </a:ext>
            </a:extLst>
          </p:cNvPr>
          <p:cNvSpPr/>
          <p:nvPr/>
        </p:nvSpPr>
        <p:spPr>
          <a:xfrm>
            <a:off x="2194560" y="3739896"/>
            <a:ext cx="3566160" cy="201168"/>
          </a:xfrm>
          <a:prstGeom prst="rect">
            <a:avLst/>
          </a:prstGeom>
          <a:solidFill>
            <a:srgbClr val="EDEDED"/>
          </a:solidFill>
          <a:ln/>
        </p:spPr>
        <p:txBody>
          <a:bodyPr/>
          <a:lstStyle/>
          <a:p>
            <a:endParaRPr lang="en-US"/>
          </a:p>
        </p:txBody>
      </p:sp>
      <p:sp>
        <p:nvSpPr>
          <p:cNvPr id="154" name="Shape 16">
            <a:extLst>
              <a:ext uri="{FF2B5EF4-FFF2-40B4-BE49-F238E27FC236}">
                <a16:creationId xmlns:a16="http://schemas.microsoft.com/office/drawing/2014/main" id="{7E090007-0EDF-126B-5617-A58ED1BA61DF}"/>
              </a:ext>
            </a:extLst>
          </p:cNvPr>
          <p:cNvSpPr/>
          <p:nvPr/>
        </p:nvSpPr>
        <p:spPr>
          <a:xfrm>
            <a:off x="2194560" y="3739896"/>
            <a:ext cx="3566160" cy="201168"/>
          </a:xfrm>
          <a:prstGeom prst="rect">
            <a:avLst/>
          </a:prstGeom>
          <a:solidFill>
            <a:srgbClr val="3F7D6B"/>
          </a:solidFill>
          <a:ln/>
        </p:spPr>
        <p:txBody>
          <a:bodyPr/>
          <a:lstStyle/>
          <a:p>
            <a:endParaRPr lang="en-US"/>
          </a:p>
        </p:txBody>
      </p:sp>
      <p:sp>
        <p:nvSpPr>
          <p:cNvPr id="156" name="Text 17">
            <a:extLst>
              <a:ext uri="{FF2B5EF4-FFF2-40B4-BE49-F238E27FC236}">
                <a16:creationId xmlns:a16="http://schemas.microsoft.com/office/drawing/2014/main" id="{912C7E05-9926-F2EF-F98A-8FD3BEA3D80C}"/>
              </a:ext>
            </a:extLst>
          </p:cNvPr>
          <p:cNvSpPr/>
          <p:nvPr/>
        </p:nvSpPr>
        <p:spPr>
          <a:xfrm>
            <a:off x="5897880" y="3703320"/>
            <a:ext cx="822960" cy="320040"/>
          </a:xfrm>
          <a:prstGeom prst="rect">
            <a:avLst/>
          </a:prstGeom>
          <a:noFill/>
          <a:ln/>
        </p:spPr>
        <p:txBody>
          <a:bodyPr wrap="square" rtlCol="0" anchor="ctr"/>
          <a:lstStyle/>
          <a:p>
            <a:pPr marL="0" indent="0">
              <a:buNone/>
            </a:pPr>
            <a:r>
              <a:rPr lang="en-US" sz="1100" b="1" dirty="0">
                <a:solidFill>
                  <a:srgbClr val="1B2E2B"/>
                </a:solidFill>
                <a:latin typeface="Verdana" pitchFamily="34" charset="0"/>
                <a:ea typeface="Verdana" pitchFamily="34" charset="-122"/>
                <a:cs typeface="Verdana" pitchFamily="34" charset="-120"/>
              </a:rPr>
              <a:t>100%</a:t>
            </a:r>
            <a:endParaRPr lang="en-US" sz="1100" dirty="0"/>
          </a:p>
        </p:txBody>
      </p:sp>
      <p:sp>
        <p:nvSpPr>
          <p:cNvPr id="158" name="Text 18">
            <a:extLst>
              <a:ext uri="{FF2B5EF4-FFF2-40B4-BE49-F238E27FC236}">
                <a16:creationId xmlns:a16="http://schemas.microsoft.com/office/drawing/2014/main" id="{2004C125-D04F-2A94-D8C4-7B37F0734129}"/>
              </a:ext>
            </a:extLst>
          </p:cNvPr>
          <p:cNvSpPr/>
          <p:nvPr/>
        </p:nvSpPr>
        <p:spPr>
          <a:xfrm>
            <a:off x="548640" y="4087368"/>
            <a:ext cx="1554480" cy="320040"/>
          </a:xfrm>
          <a:prstGeom prst="rect">
            <a:avLst/>
          </a:prstGeom>
          <a:noFill/>
          <a:ln/>
        </p:spPr>
        <p:txBody>
          <a:bodyPr wrap="square" rtlCol="0" anchor="ctr"/>
          <a:lstStyle/>
          <a:p>
            <a:pPr marL="0" indent="0">
              <a:buNone/>
            </a:pPr>
            <a:r>
              <a:rPr lang="en-US" sz="1100" dirty="0">
                <a:solidFill>
                  <a:srgbClr val="1B2E2B"/>
                </a:solidFill>
                <a:latin typeface="Verdana" pitchFamily="34" charset="0"/>
                <a:ea typeface="Verdana" pitchFamily="34" charset="-122"/>
                <a:cs typeface="Verdana" pitchFamily="34" charset="-120"/>
              </a:rPr>
              <a:t>No method</a:t>
            </a:r>
            <a:endParaRPr lang="en-US" sz="1100" dirty="0"/>
          </a:p>
        </p:txBody>
      </p:sp>
      <p:sp>
        <p:nvSpPr>
          <p:cNvPr id="160" name="Shape 19">
            <a:extLst>
              <a:ext uri="{FF2B5EF4-FFF2-40B4-BE49-F238E27FC236}">
                <a16:creationId xmlns:a16="http://schemas.microsoft.com/office/drawing/2014/main" id="{1A18758D-95C0-1822-CA2D-B0FFD0FE725D}"/>
              </a:ext>
            </a:extLst>
          </p:cNvPr>
          <p:cNvSpPr/>
          <p:nvPr/>
        </p:nvSpPr>
        <p:spPr>
          <a:xfrm>
            <a:off x="2194560" y="4123944"/>
            <a:ext cx="3566160" cy="201168"/>
          </a:xfrm>
          <a:prstGeom prst="rect">
            <a:avLst/>
          </a:prstGeom>
          <a:solidFill>
            <a:srgbClr val="EDEDED"/>
          </a:solidFill>
          <a:ln/>
        </p:spPr>
        <p:txBody>
          <a:bodyPr/>
          <a:lstStyle/>
          <a:p>
            <a:endParaRPr lang="en-US"/>
          </a:p>
        </p:txBody>
      </p:sp>
      <p:sp>
        <p:nvSpPr>
          <p:cNvPr id="162" name="Shape 20">
            <a:extLst>
              <a:ext uri="{FF2B5EF4-FFF2-40B4-BE49-F238E27FC236}">
                <a16:creationId xmlns:a16="http://schemas.microsoft.com/office/drawing/2014/main" id="{BA4B0D30-0DC2-4D8F-43B5-55C7C453BBF5}"/>
              </a:ext>
            </a:extLst>
          </p:cNvPr>
          <p:cNvSpPr/>
          <p:nvPr/>
        </p:nvSpPr>
        <p:spPr>
          <a:xfrm>
            <a:off x="2194560" y="4123944"/>
            <a:ext cx="3530498" cy="201168"/>
          </a:xfrm>
          <a:prstGeom prst="rect">
            <a:avLst/>
          </a:prstGeom>
          <a:solidFill>
            <a:srgbClr val="3F7D6B"/>
          </a:solidFill>
          <a:ln/>
        </p:spPr>
        <p:txBody>
          <a:bodyPr/>
          <a:lstStyle/>
          <a:p>
            <a:endParaRPr lang="en-US"/>
          </a:p>
        </p:txBody>
      </p:sp>
      <p:sp>
        <p:nvSpPr>
          <p:cNvPr id="164" name="Text 21">
            <a:extLst>
              <a:ext uri="{FF2B5EF4-FFF2-40B4-BE49-F238E27FC236}">
                <a16:creationId xmlns:a16="http://schemas.microsoft.com/office/drawing/2014/main" id="{2698D202-4FF8-5690-A95A-BBC2C24E5901}"/>
              </a:ext>
            </a:extLst>
          </p:cNvPr>
          <p:cNvSpPr/>
          <p:nvPr/>
        </p:nvSpPr>
        <p:spPr>
          <a:xfrm>
            <a:off x="5897880" y="4087368"/>
            <a:ext cx="822960" cy="320040"/>
          </a:xfrm>
          <a:prstGeom prst="rect">
            <a:avLst/>
          </a:prstGeom>
          <a:noFill/>
          <a:ln/>
        </p:spPr>
        <p:txBody>
          <a:bodyPr wrap="square" rtlCol="0" anchor="ctr"/>
          <a:lstStyle/>
          <a:p>
            <a:pPr marL="0" indent="0">
              <a:buNone/>
            </a:pPr>
            <a:r>
              <a:rPr lang="en-US" sz="1100" b="1" dirty="0">
                <a:solidFill>
                  <a:srgbClr val="1B2E2B"/>
                </a:solidFill>
                <a:latin typeface="Verdana" pitchFamily="34" charset="0"/>
                <a:ea typeface="Verdana" pitchFamily="34" charset="-122"/>
                <a:cs typeface="Verdana" pitchFamily="34" charset="-120"/>
              </a:rPr>
              <a:t>99%</a:t>
            </a:r>
            <a:endParaRPr lang="en-US" sz="1100" dirty="0"/>
          </a:p>
        </p:txBody>
      </p:sp>
      <p:sp>
        <p:nvSpPr>
          <p:cNvPr id="166" name="Text 22">
            <a:extLst>
              <a:ext uri="{FF2B5EF4-FFF2-40B4-BE49-F238E27FC236}">
                <a16:creationId xmlns:a16="http://schemas.microsoft.com/office/drawing/2014/main" id="{1B77FF5B-4508-DD4E-A792-3B943CFC824D}"/>
              </a:ext>
            </a:extLst>
          </p:cNvPr>
          <p:cNvSpPr/>
          <p:nvPr/>
        </p:nvSpPr>
        <p:spPr>
          <a:xfrm>
            <a:off x="548640" y="4471416"/>
            <a:ext cx="1554480" cy="320040"/>
          </a:xfrm>
          <a:prstGeom prst="rect">
            <a:avLst/>
          </a:prstGeom>
          <a:noFill/>
          <a:ln/>
        </p:spPr>
        <p:txBody>
          <a:bodyPr wrap="square" rtlCol="0" anchor="ctr"/>
          <a:lstStyle/>
          <a:p>
            <a:pPr marL="0" indent="0">
              <a:buNone/>
            </a:pPr>
            <a:r>
              <a:rPr lang="en-US" sz="1100" dirty="0">
                <a:solidFill>
                  <a:srgbClr val="1B2E2B"/>
                </a:solidFill>
                <a:latin typeface="Verdana" pitchFamily="34" charset="0"/>
                <a:ea typeface="Verdana" pitchFamily="34" charset="-122"/>
                <a:cs typeface="Verdana" pitchFamily="34" charset="-120"/>
              </a:rPr>
              <a:t>Traditional</a:t>
            </a:r>
            <a:endParaRPr lang="en-US" sz="1100" dirty="0"/>
          </a:p>
        </p:txBody>
      </p:sp>
      <p:sp>
        <p:nvSpPr>
          <p:cNvPr id="168" name="Shape 23">
            <a:extLst>
              <a:ext uri="{FF2B5EF4-FFF2-40B4-BE49-F238E27FC236}">
                <a16:creationId xmlns:a16="http://schemas.microsoft.com/office/drawing/2014/main" id="{3C2E6F64-0430-D587-4983-150667A2BB89}"/>
              </a:ext>
            </a:extLst>
          </p:cNvPr>
          <p:cNvSpPr/>
          <p:nvPr/>
        </p:nvSpPr>
        <p:spPr>
          <a:xfrm>
            <a:off x="2194560" y="4507992"/>
            <a:ext cx="3566160" cy="201168"/>
          </a:xfrm>
          <a:prstGeom prst="rect">
            <a:avLst/>
          </a:prstGeom>
          <a:solidFill>
            <a:srgbClr val="EDEDED"/>
          </a:solidFill>
          <a:ln/>
        </p:spPr>
        <p:txBody>
          <a:bodyPr/>
          <a:lstStyle/>
          <a:p>
            <a:endParaRPr lang="en-US"/>
          </a:p>
        </p:txBody>
      </p:sp>
      <p:sp>
        <p:nvSpPr>
          <p:cNvPr id="170" name="Shape 24">
            <a:extLst>
              <a:ext uri="{FF2B5EF4-FFF2-40B4-BE49-F238E27FC236}">
                <a16:creationId xmlns:a16="http://schemas.microsoft.com/office/drawing/2014/main" id="{11DF2C8C-6E18-8422-46E2-7A1686A684F6}"/>
              </a:ext>
            </a:extLst>
          </p:cNvPr>
          <p:cNvSpPr/>
          <p:nvPr/>
        </p:nvSpPr>
        <p:spPr>
          <a:xfrm>
            <a:off x="2194560" y="4507992"/>
            <a:ext cx="178308" cy="201168"/>
          </a:xfrm>
          <a:prstGeom prst="rect">
            <a:avLst/>
          </a:prstGeom>
          <a:solidFill>
            <a:srgbClr val="E2683F"/>
          </a:solidFill>
          <a:ln/>
        </p:spPr>
        <p:txBody>
          <a:bodyPr/>
          <a:lstStyle/>
          <a:p>
            <a:endParaRPr lang="en-US"/>
          </a:p>
        </p:txBody>
      </p:sp>
      <p:sp>
        <p:nvSpPr>
          <p:cNvPr id="172" name="Text 25">
            <a:extLst>
              <a:ext uri="{FF2B5EF4-FFF2-40B4-BE49-F238E27FC236}">
                <a16:creationId xmlns:a16="http://schemas.microsoft.com/office/drawing/2014/main" id="{C0DA5EDF-EA3D-870F-C7EF-4CDA1B77DB7A}"/>
              </a:ext>
            </a:extLst>
          </p:cNvPr>
          <p:cNvSpPr/>
          <p:nvPr/>
        </p:nvSpPr>
        <p:spPr>
          <a:xfrm>
            <a:off x="5897880" y="4471416"/>
            <a:ext cx="822960" cy="320040"/>
          </a:xfrm>
          <a:prstGeom prst="rect">
            <a:avLst/>
          </a:prstGeom>
          <a:noFill/>
          <a:ln/>
        </p:spPr>
        <p:txBody>
          <a:bodyPr wrap="square" rtlCol="0" anchor="ctr"/>
          <a:lstStyle/>
          <a:p>
            <a:pPr marL="0" indent="0">
              <a:buNone/>
            </a:pPr>
            <a:r>
              <a:rPr lang="en-US" sz="1100" b="1" dirty="0">
                <a:solidFill>
                  <a:srgbClr val="1B2E2B"/>
                </a:solidFill>
                <a:latin typeface="Verdana" pitchFamily="34" charset="0"/>
                <a:ea typeface="Verdana" pitchFamily="34" charset="-122"/>
                <a:cs typeface="Verdana" pitchFamily="34" charset="-120"/>
              </a:rPr>
              <a:t>5%</a:t>
            </a:r>
            <a:endParaRPr lang="en-US" sz="1100" dirty="0"/>
          </a:p>
        </p:txBody>
      </p:sp>
      <p:sp>
        <p:nvSpPr>
          <p:cNvPr id="174" name="Text 26">
            <a:extLst>
              <a:ext uri="{FF2B5EF4-FFF2-40B4-BE49-F238E27FC236}">
                <a16:creationId xmlns:a16="http://schemas.microsoft.com/office/drawing/2014/main" id="{9EA22D84-257E-AC8E-CED9-52C282BD76D4}"/>
              </a:ext>
            </a:extLst>
          </p:cNvPr>
          <p:cNvSpPr/>
          <p:nvPr/>
        </p:nvSpPr>
        <p:spPr>
          <a:xfrm>
            <a:off x="548640" y="4855464"/>
            <a:ext cx="1554480" cy="320040"/>
          </a:xfrm>
          <a:prstGeom prst="rect">
            <a:avLst/>
          </a:prstGeom>
          <a:noFill/>
          <a:ln/>
        </p:spPr>
        <p:txBody>
          <a:bodyPr wrap="square" rtlCol="0" anchor="ctr"/>
          <a:lstStyle/>
          <a:p>
            <a:pPr marL="0" indent="0">
              <a:buNone/>
            </a:pPr>
            <a:r>
              <a:rPr lang="en-US" sz="1100" dirty="0">
                <a:solidFill>
                  <a:srgbClr val="1B2E2B"/>
                </a:solidFill>
                <a:latin typeface="Verdana" pitchFamily="34" charset="0"/>
                <a:ea typeface="Verdana" pitchFamily="34" charset="-122"/>
                <a:cs typeface="Verdana" pitchFamily="34" charset="-120"/>
              </a:rPr>
              <a:t>Folkloric</a:t>
            </a:r>
            <a:endParaRPr lang="en-US" sz="1100" dirty="0"/>
          </a:p>
        </p:txBody>
      </p:sp>
      <p:sp>
        <p:nvSpPr>
          <p:cNvPr id="176" name="Shape 27">
            <a:extLst>
              <a:ext uri="{FF2B5EF4-FFF2-40B4-BE49-F238E27FC236}">
                <a16:creationId xmlns:a16="http://schemas.microsoft.com/office/drawing/2014/main" id="{EAA3BED2-2B34-A05C-91C9-4F9EE1E4EE29}"/>
              </a:ext>
            </a:extLst>
          </p:cNvPr>
          <p:cNvSpPr/>
          <p:nvPr/>
        </p:nvSpPr>
        <p:spPr>
          <a:xfrm>
            <a:off x="2194560" y="4892040"/>
            <a:ext cx="3566160" cy="201168"/>
          </a:xfrm>
          <a:prstGeom prst="rect">
            <a:avLst/>
          </a:prstGeom>
          <a:solidFill>
            <a:srgbClr val="EDEDED"/>
          </a:solidFill>
          <a:ln/>
        </p:spPr>
        <p:txBody>
          <a:bodyPr/>
          <a:lstStyle/>
          <a:p>
            <a:endParaRPr lang="en-US"/>
          </a:p>
        </p:txBody>
      </p:sp>
      <p:sp>
        <p:nvSpPr>
          <p:cNvPr id="178" name="Shape 28">
            <a:extLst>
              <a:ext uri="{FF2B5EF4-FFF2-40B4-BE49-F238E27FC236}">
                <a16:creationId xmlns:a16="http://schemas.microsoft.com/office/drawing/2014/main" id="{BFDB7AEA-1257-8779-1247-A7F21AD6AF48}"/>
              </a:ext>
            </a:extLst>
          </p:cNvPr>
          <p:cNvSpPr/>
          <p:nvPr/>
        </p:nvSpPr>
        <p:spPr>
          <a:xfrm>
            <a:off x="2194560" y="4892040"/>
            <a:ext cx="27432" cy="201168"/>
          </a:xfrm>
          <a:prstGeom prst="rect">
            <a:avLst/>
          </a:prstGeom>
          <a:solidFill>
            <a:srgbClr val="C1443A"/>
          </a:solidFill>
          <a:ln/>
        </p:spPr>
        <p:txBody>
          <a:bodyPr/>
          <a:lstStyle/>
          <a:p>
            <a:endParaRPr lang="en-US"/>
          </a:p>
        </p:txBody>
      </p:sp>
      <p:sp>
        <p:nvSpPr>
          <p:cNvPr id="180" name="Text 29">
            <a:extLst>
              <a:ext uri="{FF2B5EF4-FFF2-40B4-BE49-F238E27FC236}">
                <a16:creationId xmlns:a16="http://schemas.microsoft.com/office/drawing/2014/main" id="{6593F352-40B2-55BD-CA8A-ED1BE4276B29}"/>
              </a:ext>
            </a:extLst>
          </p:cNvPr>
          <p:cNvSpPr/>
          <p:nvPr/>
        </p:nvSpPr>
        <p:spPr>
          <a:xfrm>
            <a:off x="5897880" y="4855464"/>
            <a:ext cx="822960" cy="320040"/>
          </a:xfrm>
          <a:prstGeom prst="rect">
            <a:avLst/>
          </a:prstGeom>
          <a:noFill/>
          <a:ln/>
        </p:spPr>
        <p:txBody>
          <a:bodyPr wrap="square" rtlCol="0" anchor="ctr"/>
          <a:lstStyle/>
          <a:p>
            <a:pPr marL="0" indent="0">
              <a:buNone/>
            </a:pPr>
            <a:r>
              <a:rPr lang="en-US" sz="1100" b="1" dirty="0">
                <a:solidFill>
                  <a:srgbClr val="1B2E2B"/>
                </a:solidFill>
                <a:latin typeface="Verdana" pitchFamily="34" charset="0"/>
                <a:ea typeface="Verdana" pitchFamily="34" charset="-122"/>
                <a:cs typeface="Verdana" pitchFamily="34" charset="-120"/>
              </a:rPr>
              <a:t>0%</a:t>
            </a:r>
            <a:endParaRPr lang="en-US" sz="1100" dirty="0"/>
          </a:p>
        </p:txBody>
      </p:sp>
      <p:sp>
        <p:nvSpPr>
          <p:cNvPr id="182" name="Text 30">
            <a:extLst>
              <a:ext uri="{FF2B5EF4-FFF2-40B4-BE49-F238E27FC236}">
                <a16:creationId xmlns:a16="http://schemas.microsoft.com/office/drawing/2014/main" id="{C0E25F57-5348-BE9D-D23F-82C846BCCEE8}"/>
              </a:ext>
            </a:extLst>
          </p:cNvPr>
          <p:cNvSpPr/>
          <p:nvPr/>
        </p:nvSpPr>
        <p:spPr>
          <a:xfrm>
            <a:off x="548640" y="5303520"/>
            <a:ext cx="6263640" cy="548640"/>
          </a:xfrm>
          <a:prstGeom prst="rect">
            <a:avLst/>
          </a:prstGeom>
          <a:noFill/>
          <a:ln/>
        </p:spPr>
        <p:txBody>
          <a:bodyPr wrap="square" rtlCol="0" anchor="ctr"/>
          <a:lstStyle/>
          <a:p>
            <a:pPr marL="0" indent="0">
              <a:buNone/>
            </a:pPr>
            <a:r>
              <a:rPr lang="en-US" sz="1050" dirty="0">
                <a:solidFill>
                  <a:srgbClr val="1B2E2B"/>
                </a:solidFill>
                <a:latin typeface="Verdana" pitchFamily="34" charset="0"/>
                <a:ea typeface="Verdana" pitchFamily="34" charset="-122"/>
                <a:cs typeface="Verdana" pitchFamily="34" charset="-120"/>
              </a:rPr>
              <a:t>ROC-AUC by class: Modern 1.000 · No method 0.984 · Folkloric 0.923 · Traditional 0.898</a:t>
            </a:r>
            <a:endParaRPr lang="en-US" sz="1050" dirty="0"/>
          </a:p>
        </p:txBody>
      </p:sp>
      <p:sp>
        <p:nvSpPr>
          <p:cNvPr id="184" name="Shape 31">
            <a:extLst>
              <a:ext uri="{FF2B5EF4-FFF2-40B4-BE49-F238E27FC236}">
                <a16:creationId xmlns:a16="http://schemas.microsoft.com/office/drawing/2014/main" id="{CF52FCD8-75EA-B1DD-81C6-D858E889483F}"/>
              </a:ext>
            </a:extLst>
          </p:cNvPr>
          <p:cNvSpPr/>
          <p:nvPr/>
        </p:nvSpPr>
        <p:spPr>
          <a:xfrm>
            <a:off x="6995160" y="1554480"/>
            <a:ext cx="4617720" cy="1234440"/>
          </a:xfrm>
          <a:prstGeom prst="roundRect">
            <a:avLst>
              <a:gd name="adj" fmla="val 7407"/>
            </a:avLst>
          </a:prstGeom>
          <a:solidFill>
            <a:srgbClr val="F6F3EC"/>
          </a:solidFill>
          <a:ln/>
        </p:spPr>
        <p:txBody>
          <a:bodyPr/>
          <a:lstStyle/>
          <a:p>
            <a:endParaRPr lang="en-US"/>
          </a:p>
        </p:txBody>
      </p:sp>
      <p:sp>
        <p:nvSpPr>
          <p:cNvPr id="186" name="Text 32">
            <a:extLst>
              <a:ext uri="{FF2B5EF4-FFF2-40B4-BE49-F238E27FC236}">
                <a16:creationId xmlns:a16="http://schemas.microsoft.com/office/drawing/2014/main" id="{14B04405-B9FB-9B60-0CAA-7A383DE37975}"/>
              </a:ext>
            </a:extLst>
          </p:cNvPr>
          <p:cNvSpPr/>
          <p:nvPr/>
        </p:nvSpPr>
        <p:spPr>
          <a:xfrm>
            <a:off x="7178040" y="1645920"/>
            <a:ext cx="4251960" cy="274320"/>
          </a:xfrm>
          <a:prstGeom prst="rect">
            <a:avLst/>
          </a:prstGeom>
          <a:noFill/>
          <a:ln/>
        </p:spPr>
        <p:txBody>
          <a:bodyPr wrap="square" rtlCol="0" anchor="ctr"/>
          <a:lstStyle/>
          <a:p>
            <a:pPr marL="0" indent="0">
              <a:buNone/>
            </a:pPr>
            <a:r>
              <a:rPr lang="en-US" sz="1200" b="1" dirty="0">
                <a:solidFill>
                  <a:srgbClr val="E2683F"/>
                </a:solidFill>
                <a:latin typeface="Georgia" panose="02040502050405020303" pitchFamily="18" charset="0"/>
                <a:ea typeface="Verdana" pitchFamily="34" charset="-122"/>
                <a:cs typeface="Verdana" pitchFamily="34" charset="-120"/>
              </a:rPr>
              <a:t>Learning curve</a:t>
            </a:r>
            <a:endParaRPr lang="en-US" sz="1200" dirty="0">
              <a:latin typeface="Georgia" panose="02040502050405020303" pitchFamily="18" charset="0"/>
            </a:endParaRPr>
          </a:p>
        </p:txBody>
      </p:sp>
      <p:sp>
        <p:nvSpPr>
          <p:cNvPr id="188" name="Text 33">
            <a:extLst>
              <a:ext uri="{FF2B5EF4-FFF2-40B4-BE49-F238E27FC236}">
                <a16:creationId xmlns:a16="http://schemas.microsoft.com/office/drawing/2014/main" id="{EF7A35E3-9B48-71AA-8C45-57FAD876B8A9}"/>
              </a:ext>
            </a:extLst>
          </p:cNvPr>
          <p:cNvSpPr/>
          <p:nvPr/>
        </p:nvSpPr>
        <p:spPr>
          <a:xfrm>
            <a:off x="7178040" y="1920240"/>
            <a:ext cx="4251960" cy="822960"/>
          </a:xfrm>
          <a:prstGeom prst="rect">
            <a:avLst/>
          </a:prstGeom>
          <a:noFill/>
          <a:ln/>
        </p:spPr>
        <p:txBody>
          <a:bodyPr wrap="square" rtlCol="0" anchor="ctr"/>
          <a:lstStyle/>
          <a:p>
            <a:pPr marL="0" indent="0">
              <a:buNone/>
            </a:pPr>
            <a:r>
              <a:rPr lang="en-US" sz="1100" dirty="0">
                <a:solidFill>
                  <a:srgbClr val="1B2E2B"/>
                </a:solidFill>
                <a:latin typeface="Georgia" panose="02040502050405020303" pitchFamily="18" charset="0"/>
                <a:ea typeface="Verdana" pitchFamily="34" charset="-122"/>
                <a:cs typeface="Verdana" pitchFamily="34" charset="-120"/>
              </a:rPr>
              <a:t>Training and validation loss fall together and flatten out — validation loss never turns back up, so the model is not overfitting. It settled on its best iteration around round 206 of 400 searched.</a:t>
            </a:r>
            <a:endParaRPr lang="en-US" sz="1100" dirty="0">
              <a:latin typeface="Georgia" panose="02040502050405020303" pitchFamily="18" charset="0"/>
            </a:endParaRPr>
          </a:p>
        </p:txBody>
      </p:sp>
      <p:sp>
        <p:nvSpPr>
          <p:cNvPr id="190" name="Shape 34">
            <a:extLst>
              <a:ext uri="{FF2B5EF4-FFF2-40B4-BE49-F238E27FC236}">
                <a16:creationId xmlns:a16="http://schemas.microsoft.com/office/drawing/2014/main" id="{2651D95C-E8CB-65D9-2934-FA1805345F64}"/>
              </a:ext>
            </a:extLst>
          </p:cNvPr>
          <p:cNvSpPr/>
          <p:nvPr/>
        </p:nvSpPr>
        <p:spPr>
          <a:xfrm>
            <a:off x="6995160" y="2926080"/>
            <a:ext cx="4617720" cy="1417320"/>
          </a:xfrm>
          <a:prstGeom prst="roundRect">
            <a:avLst>
              <a:gd name="adj" fmla="val 6452"/>
            </a:avLst>
          </a:prstGeom>
          <a:solidFill>
            <a:srgbClr val="F6F3EC"/>
          </a:solidFill>
          <a:ln/>
        </p:spPr>
        <p:txBody>
          <a:bodyPr/>
          <a:lstStyle/>
          <a:p>
            <a:endParaRPr lang="en-US"/>
          </a:p>
        </p:txBody>
      </p:sp>
      <p:sp>
        <p:nvSpPr>
          <p:cNvPr id="192" name="Text 35">
            <a:extLst>
              <a:ext uri="{FF2B5EF4-FFF2-40B4-BE49-F238E27FC236}">
                <a16:creationId xmlns:a16="http://schemas.microsoft.com/office/drawing/2014/main" id="{4D1AE818-A845-2E2D-A159-4F75BE7BDE0F}"/>
              </a:ext>
            </a:extLst>
          </p:cNvPr>
          <p:cNvSpPr/>
          <p:nvPr/>
        </p:nvSpPr>
        <p:spPr>
          <a:xfrm>
            <a:off x="7178040" y="3017520"/>
            <a:ext cx="4251960" cy="274320"/>
          </a:xfrm>
          <a:prstGeom prst="rect">
            <a:avLst/>
          </a:prstGeom>
          <a:noFill/>
          <a:ln/>
        </p:spPr>
        <p:txBody>
          <a:bodyPr wrap="square" rtlCol="0" anchor="ctr"/>
          <a:lstStyle/>
          <a:p>
            <a:pPr marL="0" indent="0">
              <a:buNone/>
            </a:pPr>
            <a:r>
              <a:rPr lang="en-US" sz="1200" b="1" dirty="0">
                <a:solidFill>
                  <a:srgbClr val="E2683F"/>
                </a:solidFill>
                <a:latin typeface="Georgia" panose="02040502050405020303" pitchFamily="18" charset="0"/>
                <a:ea typeface="Verdana" pitchFamily="34" charset="-122"/>
                <a:cs typeface="Verdana" pitchFamily="34" charset="-120"/>
              </a:rPr>
              <a:t>Confusion matrix</a:t>
            </a:r>
            <a:endParaRPr lang="en-US" sz="1200" dirty="0">
              <a:latin typeface="Georgia" panose="02040502050405020303" pitchFamily="18" charset="0"/>
            </a:endParaRPr>
          </a:p>
        </p:txBody>
      </p:sp>
      <p:sp>
        <p:nvSpPr>
          <p:cNvPr id="194" name="Text 36">
            <a:extLst>
              <a:ext uri="{FF2B5EF4-FFF2-40B4-BE49-F238E27FC236}">
                <a16:creationId xmlns:a16="http://schemas.microsoft.com/office/drawing/2014/main" id="{771CF4A7-AFFA-B114-C897-49B1F1D9839F}"/>
              </a:ext>
            </a:extLst>
          </p:cNvPr>
          <p:cNvSpPr/>
          <p:nvPr/>
        </p:nvSpPr>
        <p:spPr>
          <a:xfrm>
            <a:off x="7178040" y="3291840"/>
            <a:ext cx="4251960" cy="1005840"/>
          </a:xfrm>
          <a:prstGeom prst="rect">
            <a:avLst/>
          </a:prstGeom>
          <a:noFill/>
          <a:ln/>
        </p:spPr>
        <p:txBody>
          <a:bodyPr wrap="square" rtlCol="0" anchor="ctr"/>
          <a:lstStyle/>
          <a:p>
            <a:pPr marL="0" indent="0">
              <a:buNone/>
            </a:pPr>
            <a:r>
              <a:rPr lang="en-US" sz="1100" dirty="0">
                <a:solidFill>
                  <a:srgbClr val="1B2E2B"/>
                </a:solidFill>
                <a:latin typeface="Georgia" panose="02040502050405020303" pitchFamily="18" charset="0"/>
                <a:ea typeface="Verdana" pitchFamily="34" charset="-122"/>
                <a:cs typeface="Verdana" pitchFamily="34" charset="-120"/>
              </a:rPr>
              <a:t>Modern and No-method — 96% of all respondents — are classified almost perfectly. Folkloric cases are entirely absorbed into the No-method prediction; Traditional cases mostly are too. The model essentially collapses the two rare classes into 'not modern.'</a:t>
            </a:r>
            <a:endParaRPr lang="en-US" sz="1100" dirty="0">
              <a:latin typeface="Georgia" panose="02040502050405020303" pitchFamily="18" charset="0"/>
            </a:endParaRPr>
          </a:p>
        </p:txBody>
      </p:sp>
      <p:sp>
        <p:nvSpPr>
          <p:cNvPr id="196" name="Shape 37">
            <a:extLst>
              <a:ext uri="{FF2B5EF4-FFF2-40B4-BE49-F238E27FC236}">
                <a16:creationId xmlns:a16="http://schemas.microsoft.com/office/drawing/2014/main" id="{004CFDB2-4034-3817-049D-2C5E34C8CF89}"/>
              </a:ext>
            </a:extLst>
          </p:cNvPr>
          <p:cNvSpPr/>
          <p:nvPr/>
        </p:nvSpPr>
        <p:spPr>
          <a:xfrm>
            <a:off x="6995160" y="4480560"/>
            <a:ext cx="4617720" cy="1554480"/>
          </a:xfrm>
          <a:prstGeom prst="roundRect">
            <a:avLst>
              <a:gd name="adj" fmla="val 5882"/>
            </a:avLst>
          </a:prstGeom>
          <a:solidFill>
            <a:srgbClr val="F6F3EC"/>
          </a:solidFill>
          <a:ln/>
        </p:spPr>
        <p:txBody>
          <a:bodyPr/>
          <a:lstStyle/>
          <a:p>
            <a:endParaRPr lang="en-US"/>
          </a:p>
        </p:txBody>
      </p:sp>
      <p:sp>
        <p:nvSpPr>
          <p:cNvPr id="198" name="Text 38">
            <a:extLst>
              <a:ext uri="{FF2B5EF4-FFF2-40B4-BE49-F238E27FC236}">
                <a16:creationId xmlns:a16="http://schemas.microsoft.com/office/drawing/2014/main" id="{879CCF08-CF6B-E5FF-C917-61AEE23ABEE2}"/>
              </a:ext>
            </a:extLst>
          </p:cNvPr>
          <p:cNvSpPr/>
          <p:nvPr/>
        </p:nvSpPr>
        <p:spPr>
          <a:xfrm>
            <a:off x="7178040" y="4572000"/>
            <a:ext cx="4251960" cy="274320"/>
          </a:xfrm>
          <a:prstGeom prst="rect">
            <a:avLst/>
          </a:prstGeom>
          <a:noFill/>
          <a:ln/>
        </p:spPr>
        <p:txBody>
          <a:bodyPr wrap="square" rtlCol="0" anchor="ctr"/>
          <a:lstStyle/>
          <a:p>
            <a:pPr marL="0" indent="0">
              <a:buNone/>
            </a:pPr>
            <a:r>
              <a:rPr lang="en-US" sz="1200" b="1" dirty="0">
                <a:solidFill>
                  <a:srgbClr val="E2683F"/>
                </a:solidFill>
                <a:latin typeface="Georgia" panose="02040502050405020303" pitchFamily="18" charset="0"/>
                <a:ea typeface="Verdana" pitchFamily="34" charset="-122"/>
                <a:cs typeface="Verdana" pitchFamily="34" charset="-120"/>
              </a:rPr>
              <a:t>ROC &amp; precision-recall</a:t>
            </a:r>
            <a:endParaRPr lang="en-US" sz="1200" dirty="0">
              <a:latin typeface="Georgia" panose="02040502050405020303" pitchFamily="18" charset="0"/>
            </a:endParaRPr>
          </a:p>
        </p:txBody>
      </p:sp>
      <p:sp>
        <p:nvSpPr>
          <p:cNvPr id="200" name="Text 39">
            <a:extLst>
              <a:ext uri="{FF2B5EF4-FFF2-40B4-BE49-F238E27FC236}">
                <a16:creationId xmlns:a16="http://schemas.microsoft.com/office/drawing/2014/main" id="{2684C27E-CEDD-C0E4-19FB-83468D050B28}"/>
              </a:ext>
            </a:extLst>
          </p:cNvPr>
          <p:cNvSpPr/>
          <p:nvPr/>
        </p:nvSpPr>
        <p:spPr>
          <a:xfrm>
            <a:off x="7178040" y="4846320"/>
            <a:ext cx="4251960" cy="1143000"/>
          </a:xfrm>
          <a:prstGeom prst="rect">
            <a:avLst/>
          </a:prstGeom>
          <a:noFill/>
          <a:ln/>
        </p:spPr>
        <p:txBody>
          <a:bodyPr wrap="square" rtlCol="0" anchor="ctr"/>
          <a:lstStyle/>
          <a:p>
            <a:pPr marL="0" indent="0">
              <a:buNone/>
            </a:pPr>
            <a:r>
              <a:rPr lang="en-US" sz="1100" dirty="0">
                <a:solidFill>
                  <a:srgbClr val="1B2E2B"/>
                </a:solidFill>
                <a:latin typeface="Georgia" panose="02040502050405020303" pitchFamily="18" charset="0"/>
                <a:ea typeface="Verdana" pitchFamily="34" charset="-122"/>
                <a:cs typeface="Verdana" pitchFamily="34" charset="-120"/>
              </a:rPr>
              <a:t>ROC-AUC stays strong even for the rare classes (0.90–0.92) — the model ranks them sensibly, it just rarely predicts them as the top class. Precision-recall tells the honest story: average precision collapses to 0.03 for Folkloric and 0.23 for Traditional, confirming this is a genuine rarity problem, not a ranking failure.</a:t>
            </a:r>
            <a:endParaRPr lang="en-US" sz="1100" dirty="0">
              <a:latin typeface="Georgia" panose="02040502050405020303" pitchFamily="18" charset="0"/>
            </a:endParaRPr>
          </a:p>
        </p:txBody>
      </p:sp>
      <p:sp>
        <p:nvSpPr>
          <p:cNvPr id="202" name="Text 40">
            <a:extLst>
              <a:ext uri="{FF2B5EF4-FFF2-40B4-BE49-F238E27FC236}">
                <a16:creationId xmlns:a16="http://schemas.microsoft.com/office/drawing/2014/main" id="{ED5D678D-C918-C2BF-0043-A025637826C8}"/>
              </a:ext>
            </a:extLst>
          </p:cNvPr>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Verdana" pitchFamily="34" charset="0"/>
                <a:ea typeface="Verdana" pitchFamily="34" charset="-122"/>
                <a:cs typeface="Verdana" pitchFamily="34" charset="-120"/>
              </a:rPr>
              <a:t>The Insight Architects — </a:t>
            </a:r>
            <a:r>
              <a:rPr lang="en-US" sz="900">
                <a:solidFill>
                  <a:srgbClr val="5C6E6A"/>
                </a:solidFill>
                <a:latin typeface="Verdana" pitchFamily="34" charset="0"/>
                <a:ea typeface="Verdana" pitchFamily="34" charset="-122"/>
                <a:cs typeface="Verdana" pitchFamily="34" charset="-120"/>
              </a:rPr>
              <a:t>KDHS 2022 </a:t>
            </a:r>
            <a:r>
              <a:rPr lang="en-US" sz="900" dirty="0">
                <a:solidFill>
                  <a:srgbClr val="5C6E6A"/>
                </a:solidFill>
                <a:latin typeface="Verdana" pitchFamily="34" charset="0"/>
                <a:ea typeface="Verdana" pitchFamily="34" charset="-122"/>
                <a:cs typeface="Verdana" pitchFamily="34" charset="-120"/>
              </a:rPr>
              <a:t>Capstone</a:t>
            </a:r>
            <a:endParaRPr lang="en-US" sz="900" dirty="0"/>
          </a:p>
        </p:txBody>
      </p:sp>
      <p:sp>
        <p:nvSpPr>
          <p:cNvPr id="204" name="Text 41">
            <a:extLst>
              <a:ext uri="{FF2B5EF4-FFF2-40B4-BE49-F238E27FC236}">
                <a16:creationId xmlns:a16="http://schemas.microsoft.com/office/drawing/2014/main" id="{9DFD89BF-BE0A-41B0-1386-3F0AD23B069E}"/>
              </a:ext>
            </a:extLst>
          </p:cNvPr>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13 / 23</a:t>
            </a:r>
            <a:endParaRPr lang="en-US" sz="900" dirty="0">
              <a:latin typeface="Georgia" panose="02040502050405020303" pitchFamily="18" charset="0"/>
            </a:endParaRPr>
          </a:p>
        </p:txBody>
      </p:sp>
    </p:spTree>
    <p:extLst>
      <p:ext uri="{BB962C8B-B14F-4D97-AF65-F5344CB8AC3E}">
        <p14:creationId xmlns:p14="http://schemas.microsoft.com/office/powerpoint/2010/main" val="4514869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E3B36"/>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D9A441"/>
                </a:solidFill>
                <a:latin typeface="Georgia" panose="02040502050405020303" pitchFamily="18" charset="0"/>
                <a:ea typeface="Verdana" pitchFamily="34" charset="-122"/>
                <a:cs typeface="Verdana" pitchFamily="34" charset="-120"/>
              </a:rPr>
              <a:t>HONESTY BUILDS TRUST</a:t>
            </a:r>
            <a:endParaRPr lang="en-US" sz="1100" dirty="0">
              <a:latin typeface="Georgia" panose="02040502050405020303" pitchFamily="18" charset="0"/>
            </a:endParaRPr>
          </a:p>
        </p:txBody>
      </p:sp>
      <p:sp>
        <p:nvSpPr>
          <p:cNvPr id="3" name="Text 1"/>
          <p:cNvSpPr/>
          <p:nvPr/>
        </p:nvSpPr>
        <p:spPr>
          <a:xfrm>
            <a:off x="548640" y="502920"/>
            <a:ext cx="10515600" cy="8229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What the Model Cannot Do</a:t>
            </a:r>
            <a:endParaRPr lang="en-US" sz="3200" dirty="0"/>
          </a:p>
        </p:txBody>
      </p:sp>
      <p:sp>
        <p:nvSpPr>
          <p:cNvPr id="4" name="Shape 2"/>
          <p:cNvSpPr/>
          <p:nvPr/>
        </p:nvSpPr>
        <p:spPr>
          <a:xfrm>
            <a:off x="822960" y="1737360"/>
            <a:ext cx="4937760" cy="2468880"/>
          </a:xfrm>
          <a:prstGeom prst="roundRect">
            <a:avLst>
              <a:gd name="adj" fmla="val 3704"/>
            </a:avLst>
          </a:prstGeom>
          <a:solidFill>
            <a:srgbClr val="144742"/>
          </a:solidFill>
          <a:ln/>
        </p:spPr>
        <p:txBody>
          <a:bodyPr/>
          <a:lstStyle/>
          <a:p>
            <a:endParaRPr lang="en-US"/>
          </a:p>
        </p:txBody>
      </p:sp>
      <p:sp>
        <p:nvSpPr>
          <p:cNvPr id="5" name="Text 3"/>
          <p:cNvSpPr/>
          <p:nvPr/>
        </p:nvSpPr>
        <p:spPr>
          <a:xfrm>
            <a:off x="822960" y="1874520"/>
            <a:ext cx="4937760" cy="1005840"/>
          </a:xfrm>
          <a:prstGeom prst="rect">
            <a:avLst/>
          </a:prstGeom>
          <a:noFill/>
          <a:ln/>
        </p:spPr>
        <p:txBody>
          <a:bodyPr wrap="square" rtlCol="0" anchor="ctr"/>
          <a:lstStyle/>
          <a:p>
            <a:pPr marL="0" indent="0" algn="ctr">
              <a:buNone/>
            </a:pPr>
            <a:r>
              <a:rPr lang="en-US" sz="5600" b="1" dirty="0">
                <a:solidFill>
                  <a:srgbClr val="E2683F"/>
                </a:solidFill>
                <a:latin typeface="Georgia" pitchFamily="34" charset="0"/>
                <a:ea typeface="Georgia" pitchFamily="34" charset="-122"/>
                <a:cs typeface="Georgia" pitchFamily="34" charset="-120"/>
              </a:rPr>
              <a:t>0%</a:t>
            </a:r>
            <a:endParaRPr lang="en-US" sz="5600" dirty="0"/>
          </a:p>
        </p:txBody>
      </p:sp>
      <p:sp>
        <p:nvSpPr>
          <p:cNvPr id="6" name="Text 4"/>
          <p:cNvSpPr/>
          <p:nvPr/>
        </p:nvSpPr>
        <p:spPr>
          <a:xfrm>
            <a:off x="822960" y="2788920"/>
            <a:ext cx="4937760" cy="320040"/>
          </a:xfrm>
          <a:prstGeom prst="rect">
            <a:avLst/>
          </a:prstGeom>
          <a:noFill/>
          <a:ln/>
        </p:spPr>
        <p:txBody>
          <a:bodyPr wrap="square" rtlCol="0" anchor="ctr"/>
          <a:lstStyle/>
          <a:p>
            <a:pPr marL="0" indent="0" algn="ctr">
              <a:buNone/>
            </a:pPr>
            <a:r>
              <a:rPr lang="en-US" sz="1200" b="1" kern="0" spc="100" dirty="0">
                <a:solidFill>
                  <a:srgbClr val="D9A441"/>
                </a:solidFill>
                <a:latin typeface="Georgia" panose="02040502050405020303" pitchFamily="18" charset="0"/>
                <a:ea typeface="Verdana" pitchFamily="34" charset="-122"/>
                <a:cs typeface="Verdana" pitchFamily="34" charset="-120"/>
              </a:rPr>
              <a:t>FOLKLORIC METHOD RECALL</a:t>
            </a:r>
            <a:endParaRPr lang="en-US" sz="1200" dirty="0">
              <a:latin typeface="Georgia" panose="02040502050405020303" pitchFamily="18" charset="0"/>
            </a:endParaRPr>
          </a:p>
        </p:txBody>
      </p:sp>
      <p:sp>
        <p:nvSpPr>
          <p:cNvPr id="7" name="Text 5"/>
          <p:cNvSpPr/>
          <p:nvPr/>
        </p:nvSpPr>
        <p:spPr>
          <a:xfrm>
            <a:off x="1188720" y="3154680"/>
            <a:ext cx="4206240" cy="822960"/>
          </a:xfrm>
          <a:prstGeom prst="rect">
            <a:avLst/>
          </a:prstGeom>
          <a:noFill/>
          <a:ln/>
        </p:spPr>
        <p:txBody>
          <a:bodyPr wrap="square" rtlCol="0" anchor="ctr"/>
          <a:lstStyle/>
          <a:p>
            <a:pPr marL="0" indent="0" algn="ctr">
              <a:buNone/>
            </a:pPr>
            <a:r>
              <a:rPr lang="en-US" sz="1150" dirty="0">
                <a:solidFill>
                  <a:srgbClr val="D7E8E3"/>
                </a:solidFill>
                <a:latin typeface="Georgia" panose="02040502050405020303" pitchFamily="18" charset="0"/>
                <a:ea typeface="Verdana" pitchFamily="34" charset="-122"/>
                <a:cs typeface="Verdana" pitchFamily="34" charset="-120"/>
              </a:rPr>
              <a:t>53 training examples nationwide — no model can reliably generalise from that</a:t>
            </a:r>
            <a:endParaRPr lang="en-US" sz="1150" dirty="0">
              <a:latin typeface="Georgia" panose="02040502050405020303" pitchFamily="18" charset="0"/>
            </a:endParaRPr>
          </a:p>
        </p:txBody>
      </p:sp>
      <p:sp>
        <p:nvSpPr>
          <p:cNvPr id="8" name="Shape 6"/>
          <p:cNvSpPr/>
          <p:nvPr/>
        </p:nvSpPr>
        <p:spPr>
          <a:xfrm>
            <a:off x="6035040" y="1737360"/>
            <a:ext cx="4937760" cy="2468880"/>
          </a:xfrm>
          <a:prstGeom prst="roundRect">
            <a:avLst>
              <a:gd name="adj" fmla="val 3704"/>
            </a:avLst>
          </a:prstGeom>
          <a:solidFill>
            <a:srgbClr val="144742"/>
          </a:solidFill>
          <a:ln/>
        </p:spPr>
        <p:txBody>
          <a:bodyPr/>
          <a:lstStyle/>
          <a:p>
            <a:endParaRPr lang="en-US"/>
          </a:p>
        </p:txBody>
      </p:sp>
      <p:sp>
        <p:nvSpPr>
          <p:cNvPr id="9" name="Text 7"/>
          <p:cNvSpPr/>
          <p:nvPr/>
        </p:nvSpPr>
        <p:spPr>
          <a:xfrm>
            <a:off x="6035040" y="1874520"/>
            <a:ext cx="4937760" cy="1005840"/>
          </a:xfrm>
          <a:prstGeom prst="rect">
            <a:avLst/>
          </a:prstGeom>
          <a:noFill/>
          <a:ln/>
        </p:spPr>
        <p:txBody>
          <a:bodyPr wrap="square" rtlCol="0" anchor="ctr"/>
          <a:lstStyle/>
          <a:p>
            <a:pPr marL="0" indent="0" algn="ctr">
              <a:buNone/>
            </a:pPr>
            <a:r>
              <a:rPr lang="en-US" sz="5600" b="1" dirty="0">
                <a:solidFill>
                  <a:srgbClr val="E2683F"/>
                </a:solidFill>
                <a:latin typeface="Georgia" pitchFamily="34" charset="0"/>
                <a:ea typeface="Georgia" pitchFamily="34" charset="-122"/>
                <a:cs typeface="Georgia" pitchFamily="34" charset="-120"/>
              </a:rPr>
              <a:t>~0%</a:t>
            </a:r>
            <a:endParaRPr lang="en-US" sz="5600" dirty="0"/>
          </a:p>
        </p:txBody>
      </p:sp>
      <p:sp>
        <p:nvSpPr>
          <p:cNvPr id="10" name="Text 8"/>
          <p:cNvSpPr/>
          <p:nvPr/>
        </p:nvSpPr>
        <p:spPr>
          <a:xfrm>
            <a:off x="6035040" y="2788920"/>
            <a:ext cx="4937760" cy="320040"/>
          </a:xfrm>
          <a:prstGeom prst="rect">
            <a:avLst/>
          </a:prstGeom>
          <a:noFill/>
          <a:ln/>
        </p:spPr>
        <p:txBody>
          <a:bodyPr wrap="square" rtlCol="0" anchor="ctr"/>
          <a:lstStyle/>
          <a:p>
            <a:pPr marL="0" indent="0" algn="ctr">
              <a:buNone/>
            </a:pPr>
            <a:r>
              <a:rPr lang="en-US" sz="1200" b="1" kern="0" spc="100" dirty="0">
                <a:solidFill>
                  <a:srgbClr val="D9A441"/>
                </a:solidFill>
                <a:latin typeface="Georgia" panose="02040502050405020303" pitchFamily="18" charset="0"/>
                <a:ea typeface="Verdana" pitchFamily="34" charset="-122"/>
                <a:cs typeface="Verdana" pitchFamily="34" charset="-120"/>
              </a:rPr>
              <a:t>TRADITIONAL METHOD RECALL</a:t>
            </a:r>
            <a:endParaRPr lang="en-US" sz="1200" dirty="0">
              <a:latin typeface="Georgia" panose="02040502050405020303" pitchFamily="18" charset="0"/>
            </a:endParaRPr>
          </a:p>
        </p:txBody>
      </p:sp>
      <p:sp>
        <p:nvSpPr>
          <p:cNvPr id="11" name="Text 9"/>
          <p:cNvSpPr/>
          <p:nvPr/>
        </p:nvSpPr>
        <p:spPr>
          <a:xfrm>
            <a:off x="6400800" y="3154680"/>
            <a:ext cx="4206240" cy="822960"/>
          </a:xfrm>
          <a:prstGeom prst="rect">
            <a:avLst/>
          </a:prstGeom>
          <a:noFill/>
          <a:ln/>
        </p:spPr>
        <p:txBody>
          <a:bodyPr wrap="square" rtlCol="0" anchor="ctr"/>
          <a:lstStyle/>
          <a:p>
            <a:pPr marL="0" indent="0" algn="ctr">
              <a:buNone/>
            </a:pPr>
            <a:r>
              <a:rPr lang="en-US" sz="1150" dirty="0">
                <a:solidFill>
                  <a:srgbClr val="D7E8E3"/>
                </a:solidFill>
                <a:latin typeface="Georgia" panose="02040502050405020303" pitchFamily="18" charset="0"/>
                <a:ea typeface="Verdana" pitchFamily="34" charset="-122"/>
                <a:cs typeface="Verdana" pitchFamily="34" charset="-120"/>
              </a:rPr>
              <a:t>(LightGBM specifically — TabTransformer reaches 34% via attention)</a:t>
            </a:r>
            <a:endParaRPr lang="en-US" sz="1150" dirty="0">
              <a:latin typeface="Georgia" panose="02040502050405020303" pitchFamily="18" charset="0"/>
            </a:endParaRPr>
          </a:p>
        </p:txBody>
      </p:sp>
      <p:sp>
        <p:nvSpPr>
          <p:cNvPr id="12" name="Text 10"/>
          <p:cNvSpPr/>
          <p:nvPr/>
        </p:nvSpPr>
        <p:spPr>
          <a:xfrm>
            <a:off x="822960" y="4480560"/>
            <a:ext cx="10149840" cy="457200"/>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This is not a failure — it is a data constraint.</a:t>
            </a:r>
            <a:endParaRPr lang="en-US" sz="1700" dirty="0"/>
          </a:p>
        </p:txBody>
      </p:sp>
      <p:sp>
        <p:nvSpPr>
          <p:cNvPr id="13" name="Text 11"/>
          <p:cNvSpPr/>
          <p:nvPr/>
        </p:nvSpPr>
        <p:spPr>
          <a:xfrm>
            <a:off x="822960" y="4983480"/>
            <a:ext cx="10149840" cy="1463040"/>
          </a:xfrm>
          <a:prstGeom prst="rect">
            <a:avLst/>
          </a:prstGeom>
          <a:noFill/>
          <a:ln/>
        </p:spPr>
        <p:txBody>
          <a:bodyPr wrap="square" rtlCol="0" anchor="ctr"/>
          <a:lstStyle/>
          <a:p>
            <a:pPr marL="0" indent="0">
              <a:buNone/>
            </a:pPr>
            <a:r>
              <a:rPr lang="en-US" sz="1300" dirty="0">
                <a:solidFill>
                  <a:srgbClr val="D7E8E3"/>
                </a:solidFill>
                <a:latin typeface="Georgia" panose="02040502050405020303" pitchFamily="18" charset="0"/>
                <a:ea typeface="Verdana" pitchFamily="34" charset="-122"/>
                <a:cs typeface="Verdana" pitchFamily="34" charset="-120"/>
              </a:rPr>
              <a:t>Every architecture tried — linear, ensemble, two flavours of deep learning — converges on the same ceiling for these two long-tail classes. Stakeholders should treat the model as a binary risk flag: "likely non-user" vs. "likely modern user." Saying this before anyone asks builds trust.</a:t>
            </a:r>
            <a:endParaRPr lang="en-US" sz="1300" dirty="0">
              <a:latin typeface="Georgia" panose="02040502050405020303" pitchFamily="18" charset="0"/>
            </a:endParaRPr>
          </a:p>
        </p:txBody>
      </p:sp>
      <p:sp>
        <p:nvSpPr>
          <p:cNvPr id="14" name="Text 12"/>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14/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1887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MODELLING &amp; EVALUATION</a:t>
            </a:r>
            <a:endParaRPr lang="en-US" sz="1100" dirty="0"/>
          </a:p>
        </p:txBody>
      </p:sp>
      <p:sp>
        <p:nvSpPr>
          <p:cNvPr id="3" name="Text 1"/>
          <p:cNvSpPr/>
          <p:nvPr/>
        </p:nvSpPr>
        <p:spPr>
          <a:xfrm>
            <a:off x="320040" y="216131"/>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The Model Comparison Grid</a:t>
            </a:r>
            <a:endParaRPr lang="en-US" sz="3000" dirty="0"/>
          </a:p>
        </p:txBody>
      </p:sp>
      <p:pic>
        <p:nvPicPr>
          <p:cNvPr id="4" name="Image 0" descr="/home/claude/imgs/cell104_16.png"/>
          <p:cNvPicPr>
            <a:picLocks noChangeAspect="1"/>
          </p:cNvPicPr>
          <p:nvPr/>
        </p:nvPicPr>
        <p:blipFill>
          <a:blip r:embed="rId3"/>
          <a:srcRect/>
          <a:stretch/>
        </p:blipFill>
        <p:spPr>
          <a:xfrm>
            <a:off x="91440" y="939338"/>
            <a:ext cx="11978640" cy="5461462"/>
          </a:xfrm>
          <a:prstGeom prst="rect">
            <a:avLst/>
          </a:prstGeom>
        </p:spPr>
      </p:pic>
      <p:sp>
        <p:nvSpPr>
          <p:cNvPr id="5" name="Text 2"/>
          <p:cNvSpPr/>
          <p:nvPr/>
        </p:nvSpPr>
        <p:spPr>
          <a:xfrm>
            <a:off x="548640" y="6419088"/>
            <a:ext cx="9144000" cy="320040"/>
          </a:xfrm>
          <a:prstGeom prst="rect">
            <a:avLst/>
          </a:prstGeom>
          <a:noFill/>
          <a:ln/>
        </p:spPr>
        <p:txBody>
          <a:bodyPr wrap="square" rtlCol="0" anchor="ctr"/>
          <a:lstStyle/>
          <a:p>
            <a:pPr marL="0" indent="0">
              <a:buNone/>
            </a:pPr>
            <a:r>
              <a:rPr lang="en-US" sz="1150" i="1" dirty="0">
                <a:solidFill>
                  <a:srgbClr val="5C6E6A"/>
                </a:solidFill>
                <a:latin typeface="Verdana" pitchFamily="34" charset="0"/>
                <a:ea typeface="Verdana" pitchFamily="34" charset="-122"/>
                <a:cs typeface="Verdana" pitchFamily="34" charset="-120"/>
              </a:rPr>
              <a:t>Scan down any column to compare models on one metric.</a:t>
            </a:r>
            <a:endParaRPr lang="en-US" sz="1150" dirty="0"/>
          </a:p>
        </p:txBody>
      </p:sp>
      <p:sp>
        <p:nvSpPr>
          <p:cNvPr id="6" name="Text 3"/>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15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5789BA3-D562-E8F5-982C-5876A27741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E42FD99-174A-992E-E1DD-F654069B077A}"/>
              </a:ext>
            </a:extLst>
          </p:cNvPr>
          <p:cNvSpPr/>
          <p:nvPr/>
        </p:nvSpPr>
        <p:spPr>
          <a:xfrm>
            <a:off x="548640" y="11887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MODELLING &amp; EVALUATION</a:t>
            </a:r>
            <a:endParaRPr lang="en-US" sz="1100" dirty="0"/>
          </a:p>
        </p:txBody>
      </p:sp>
      <p:sp>
        <p:nvSpPr>
          <p:cNvPr id="6" name="Text 3">
            <a:extLst>
              <a:ext uri="{FF2B5EF4-FFF2-40B4-BE49-F238E27FC236}">
                <a16:creationId xmlns:a16="http://schemas.microsoft.com/office/drawing/2014/main" id="{538F1287-4516-A452-439F-D6ACAEA13081}"/>
              </a:ext>
            </a:extLst>
          </p:cNvPr>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16 / 23</a:t>
            </a:r>
            <a:endParaRPr lang="en-US" sz="900" dirty="0">
              <a:latin typeface="Georgia" panose="02040502050405020303" pitchFamily="18" charset="0"/>
            </a:endParaRPr>
          </a:p>
        </p:txBody>
      </p:sp>
      <p:sp>
        <p:nvSpPr>
          <p:cNvPr id="10" name="TextBox 9">
            <a:extLst>
              <a:ext uri="{FF2B5EF4-FFF2-40B4-BE49-F238E27FC236}">
                <a16:creationId xmlns:a16="http://schemas.microsoft.com/office/drawing/2014/main" id="{9B1AB0EA-6194-D2D5-6795-BA1BC05BFFC8}"/>
              </a:ext>
            </a:extLst>
          </p:cNvPr>
          <p:cNvSpPr txBox="1"/>
          <p:nvPr/>
        </p:nvSpPr>
        <p:spPr>
          <a:xfrm>
            <a:off x="430184" y="500241"/>
            <a:ext cx="6097384" cy="553998"/>
          </a:xfrm>
          <a:prstGeom prst="rect">
            <a:avLst/>
          </a:prstGeom>
          <a:noFill/>
        </p:spPr>
        <p:txBody>
          <a:bodyPr wrap="square">
            <a:spAutoFit/>
          </a:bodyPr>
          <a:lstStyle/>
          <a:p>
            <a:r>
              <a:rPr lang="en-US" sz="3000" b="1" dirty="0">
                <a:solidFill>
                  <a:srgbClr val="0E3B36"/>
                </a:solidFill>
                <a:latin typeface="Georgia" pitchFamily="34" charset="0"/>
                <a:ea typeface="Georgia" pitchFamily="34" charset="-122"/>
                <a:cs typeface="Georgia" pitchFamily="34" charset="-120"/>
              </a:rPr>
              <a:t>The Model Comparison Grid</a:t>
            </a:r>
            <a:endParaRPr lang="en-US" dirty="0"/>
          </a:p>
        </p:txBody>
      </p:sp>
      <p:sp>
        <p:nvSpPr>
          <p:cNvPr id="12" name="TextBox 11">
            <a:extLst>
              <a:ext uri="{FF2B5EF4-FFF2-40B4-BE49-F238E27FC236}">
                <a16:creationId xmlns:a16="http://schemas.microsoft.com/office/drawing/2014/main" id="{31004A0C-DA2A-AA2F-AAE9-3F7034946C92}"/>
              </a:ext>
            </a:extLst>
          </p:cNvPr>
          <p:cNvSpPr txBox="1"/>
          <p:nvPr/>
        </p:nvSpPr>
        <p:spPr>
          <a:xfrm>
            <a:off x="430184" y="1161288"/>
            <a:ext cx="6527568" cy="284693"/>
          </a:xfrm>
          <a:prstGeom prst="rect">
            <a:avLst/>
          </a:prstGeom>
          <a:noFill/>
        </p:spPr>
        <p:txBody>
          <a:bodyPr wrap="square">
            <a:spAutoFit/>
          </a:bodyPr>
          <a:lstStyle/>
          <a:p>
            <a:pPr marL="0" indent="0">
              <a:buNone/>
            </a:pPr>
            <a:r>
              <a:rPr lang="en-US" sz="1250" dirty="0">
                <a:solidFill>
                  <a:srgbClr val="5C6E6A"/>
                </a:solidFill>
                <a:latin typeface="Georgia" panose="02040502050405020303" pitchFamily="18" charset="0"/>
                <a:ea typeface="Verdana" pitchFamily="34" charset="-122"/>
                <a:cs typeface="Verdana" pitchFamily="34" charset="-120"/>
              </a:rPr>
              <a:t>All five architectures, side by side, on the same held-out test set (n = 6,432).</a:t>
            </a:r>
            <a:endParaRPr lang="en-US" sz="1250" dirty="0">
              <a:latin typeface="Georgia" panose="02040502050405020303" pitchFamily="18" charset="0"/>
            </a:endParaRPr>
          </a:p>
        </p:txBody>
      </p:sp>
      <p:graphicFrame>
        <p:nvGraphicFramePr>
          <p:cNvPr id="13" name="Table 12">
            <a:extLst>
              <a:ext uri="{FF2B5EF4-FFF2-40B4-BE49-F238E27FC236}">
                <a16:creationId xmlns:a16="http://schemas.microsoft.com/office/drawing/2014/main" id="{1C9F5EDC-3D38-BF77-9B1A-7BA6D36436A6}"/>
              </a:ext>
            </a:extLst>
          </p:cNvPr>
          <p:cNvGraphicFramePr>
            <a:graphicFrameLocks noGrp="1"/>
          </p:cNvGraphicFramePr>
          <p:nvPr>
            <p:extLst>
              <p:ext uri="{D42A27DB-BD31-4B8C-83A1-F6EECF244321}">
                <p14:modId xmlns:p14="http://schemas.microsoft.com/office/powerpoint/2010/main" val="3399840650"/>
              </p:ext>
            </p:extLst>
          </p:nvPr>
        </p:nvGraphicFramePr>
        <p:xfrm>
          <a:off x="430184" y="1558168"/>
          <a:ext cx="11064240" cy="3304776"/>
        </p:xfrm>
        <a:graphic>
          <a:graphicData uri="http://schemas.openxmlformats.org/drawingml/2006/table">
            <a:tbl>
              <a:tblPr/>
              <a:tblGrid>
                <a:gridCol w="2148840">
                  <a:extLst>
                    <a:ext uri="{9D8B030D-6E8A-4147-A177-3AD203B41FA5}">
                      <a16:colId xmlns:a16="http://schemas.microsoft.com/office/drawing/2014/main" val="3918622490"/>
                    </a:ext>
                  </a:extLst>
                </a:gridCol>
                <a:gridCol w="1417320">
                  <a:extLst>
                    <a:ext uri="{9D8B030D-6E8A-4147-A177-3AD203B41FA5}">
                      <a16:colId xmlns:a16="http://schemas.microsoft.com/office/drawing/2014/main" val="821361732"/>
                    </a:ext>
                  </a:extLst>
                </a:gridCol>
                <a:gridCol w="1417320">
                  <a:extLst>
                    <a:ext uri="{9D8B030D-6E8A-4147-A177-3AD203B41FA5}">
                      <a16:colId xmlns:a16="http://schemas.microsoft.com/office/drawing/2014/main" val="1735774815"/>
                    </a:ext>
                  </a:extLst>
                </a:gridCol>
                <a:gridCol w="1508760">
                  <a:extLst>
                    <a:ext uri="{9D8B030D-6E8A-4147-A177-3AD203B41FA5}">
                      <a16:colId xmlns:a16="http://schemas.microsoft.com/office/drawing/2014/main" val="2273191745"/>
                    </a:ext>
                  </a:extLst>
                </a:gridCol>
                <a:gridCol w="1600200">
                  <a:extLst>
                    <a:ext uri="{9D8B030D-6E8A-4147-A177-3AD203B41FA5}">
                      <a16:colId xmlns:a16="http://schemas.microsoft.com/office/drawing/2014/main" val="1660958918"/>
                    </a:ext>
                  </a:extLst>
                </a:gridCol>
                <a:gridCol w="1737360">
                  <a:extLst>
                    <a:ext uri="{9D8B030D-6E8A-4147-A177-3AD203B41FA5}">
                      <a16:colId xmlns:a16="http://schemas.microsoft.com/office/drawing/2014/main" val="866206712"/>
                    </a:ext>
                  </a:extLst>
                </a:gridCol>
                <a:gridCol w="1234440">
                  <a:extLst>
                    <a:ext uri="{9D8B030D-6E8A-4147-A177-3AD203B41FA5}">
                      <a16:colId xmlns:a16="http://schemas.microsoft.com/office/drawing/2014/main" val="3666436701"/>
                    </a:ext>
                  </a:extLst>
                </a:gridCol>
              </a:tblGrid>
              <a:tr h="550796">
                <a:tc>
                  <a:txBody>
                    <a:bodyPr/>
                    <a:lstStyle/>
                    <a:p>
                      <a:pPr marL="0" indent="0" algn="l">
                        <a:buNone/>
                      </a:pPr>
                      <a:r>
                        <a:rPr lang="en-US" sz="1400" b="1" dirty="0">
                          <a:solidFill>
                            <a:srgbClr val="FFFFFF"/>
                          </a:solidFill>
                          <a:latin typeface="Georgia" panose="02040502050405020303" pitchFamily="18" charset="0"/>
                          <a:ea typeface="Verdana" pitchFamily="34" charset="-122"/>
                          <a:cs typeface="Verdana" pitchFamily="34" charset="-120"/>
                        </a:rPr>
                        <a:t>Model</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Accuracy</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Macro F1</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Macro AUC</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Modern Recall</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No-method Recall</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lgn="ctr">
                        <a:buNone/>
                      </a:pPr>
                      <a:r>
                        <a:rPr lang="en-US" sz="1400" b="1" dirty="0">
                          <a:solidFill>
                            <a:srgbClr val="FFFFFF"/>
                          </a:solidFill>
                          <a:latin typeface="Georgia" panose="02040502050405020303" pitchFamily="18" charset="0"/>
                          <a:ea typeface="Verdana" pitchFamily="34" charset="-122"/>
                          <a:cs typeface="Verdana" pitchFamily="34" charset="-120"/>
                        </a:rPr>
                        <a:t>Traditional Recall</a:t>
                      </a:r>
                      <a:endParaRPr lang="en-US" sz="14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extLst>
                  <a:ext uri="{0D108BD9-81ED-4DB2-BD59-A6C34878D82A}">
                    <a16:rowId xmlns:a16="http://schemas.microsoft.com/office/drawing/2014/main" val="993415937"/>
                  </a:ext>
                </a:extLst>
              </a:tr>
              <a:tr h="550796">
                <a:tc>
                  <a:txBody>
                    <a:bodyPr/>
                    <a:lstStyle/>
                    <a:p>
                      <a:pPr marL="0" indent="0">
                        <a:buNone/>
                      </a:pPr>
                      <a:r>
                        <a:rPr lang="en-US" sz="1200" b="1" dirty="0">
                          <a:solidFill>
                            <a:srgbClr val="000000"/>
                          </a:solidFill>
                          <a:latin typeface="Georgia" panose="02040502050405020303" pitchFamily="18" charset="0"/>
                          <a:ea typeface="Verdana" pitchFamily="34" charset="-122"/>
                          <a:cs typeface="Verdana" pitchFamily="34" charset="-120"/>
                        </a:rPr>
                        <a:t>LightGBM (Tuned)</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b="1" dirty="0">
                          <a:solidFill>
                            <a:srgbClr val="1B2E2B"/>
                          </a:solidFill>
                          <a:latin typeface="Georgia" panose="02040502050405020303" pitchFamily="18" charset="0"/>
                          <a:ea typeface="Verdana" pitchFamily="34" charset="-122"/>
                          <a:cs typeface="Verdana" pitchFamily="34" charset="-120"/>
                        </a:rPr>
                        <a:t>0.724</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0.367</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b="1" dirty="0">
                          <a:solidFill>
                            <a:srgbClr val="3F7D6B"/>
                          </a:solidFill>
                          <a:latin typeface="Georgia" panose="02040502050405020303" pitchFamily="18" charset="0"/>
                          <a:ea typeface="Verdana" pitchFamily="34" charset="-122"/>
                          <a:cs typeface="Verdana" pitchFamily="34" charset="-120"/>
                        </a:rPr>
                        <a:t>0.798</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71%</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78%</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C1443A"/>
                          </a:solidFill>
                          <a:latin typeface="Georgia" panose="02040502050405020303" pitchFamily="18" charset="0"/>
                          <a:ea typeface="Verdana" pitchFamily="34" charset="-122"/>
                          <a:cs typeface="Verdana" pitchFamily="34" charset="-120"/>
                        </a:rPr>
                        <a:t>~0%</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4048580421"/>
                  </a:ext>
                </a:extLst>
              </a:tr>
              <a:tr h="550796">
                <a:tc>
                  <a:txBody>
                    <a:bodyPr/>
                    <a:lstStyle/>
                    <a:p>
                      <a:pPr marL="0" indent="0">
                        <a:buNone/>
                      </a:pPr>
                      <a:r>
                        <a:rPr lang="en-US" sz="1200" dirty="0">
                          <a:solidFill>
                            <a:srgbClr val="000000"/>
                          </a:solidFill>
                          <a:latin typeface="Georgia" panose="02040502050405020303" pitchFamily="18" charset="0"/>
                          <a:ea typeface="Verdana" pitchFamily="34" charset="-122"/>
                          <a:cs typeface="Verdana" pitchFamily="34" charset="-120"/>
                        </a:rPr>
                        <a:t>Random Forest</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0.706</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b="1" dirty="0">
                          <a:solidFill>
                            <a:srgbClr val="3F7D6B"/>
                          </a:solidFill>
                          <a:latin typeface="Georgia" panose="02040502050405020303" pitchFamily="18" charset="0"/>
                          <a:ea typeface="Verdana" pitchFamily="34" charset="-122"/>
                          <a:cs typeface="Verdana" pitchFamily="34" charset="-120"/>
                        </a:rPr>
                        <a:t>0.390</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0.775</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81%</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68%</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9%</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4280161500"/>
                  </a:ext>
                </a:extLst>
              </a:tr>
              <a:tr h="550796">
                <a:tc>
                  <a:txBody>
                    <a:bodyPr/>
                    <a:lstStyle/>
                    <a:p>
                      <a:pPr marL="0" indent="0">
                        <a:buNone/>
                      </a:pPr>
                      <a:r>
                        <a:rPr lang="en-US" sz="1200" dirty="0">
                          <a:solidFill>
                            <a:srgbClr val="000000"/>
                          </a:solidFill>
                          <a:latin typeface="Georgia" panose="02040502050405020303" pitchFamily="18" charset="0"/>
                          <a:ea typeface="Verdana" pitchFamily="34" charset="-122"/>
                          <a:cs typeface="Verdana" pitchFamily="34" charset="-120"/>
                        </a:rPr>
                        <a:t>Deep MLP</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0.703</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0.385</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0.751</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b="1" dirty="0">
                          <a:solidFill>
                            <a:srgbClr val="3F7D6B"/>
                          </a:solidFill>
                          <a:latin typeface="Georgia" panose="02040502050405020303" pitchFamily="18" charset="0"/>
                          <a:ea typeface="Verdana" pitchFamily="34" charset="-122"/>
                          <a:cs typeface="Verdana" pitchFamily="34" charset="-120"/>
                        </a:rPr>
                        <a:t>75%</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9%</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911037615"/>
                  </a:ext>
                </a:extLst>
              </a:tr>
              <a:tr h="550796">
                <a:tc>
                  <a:txBody>
                    <a:bodyPr/>
                    <a:lstStyle/>
                    <a:p>
                      <a:pPr marL="0" indent="0">
                        <a:buNone/>
                      </a:pPr>
                      <a:r>
                        <a:rPr lang="en-US" sz="1200" dirty="0">
                          <a:solidFill>
                            <a:srgbClr val="000000"/>
                          </a:solidFill>
                          <a:latin typeface="Georgia" panose="02040502050405020303" pitchFamily="18" charset="0"/>
                          <a:ea typeface="Verdana" pitchFamily="34" charset="-122"/>
                          <a:cs typeface="Verdana" pitchFamily="34" charset="-120"/>
                        </a:rPr>
                        <a:t>TabTransformer</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0.648</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0.384</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0.754</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64%</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b="1" dirty="0">
                          <a:solidFill>
                            <a:srgbClr val="3F7D6B"/>
                          </a:solidFill>
                          <a:latin typeface="Georgia" panose="02040502050405020303" pitchFamily="18" charset="0"/>
                          <a:ea typeface="Verdana" pitchFamily="34" charset="-122"/>
                          <a:cs typeface="Verdana" pitchFamily="34" charset="-120"/>
                        </a:rPr>
                        <a:t>34%</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370037934"/>
                  </a:ext>
                </a:extLst>
              </a:tr>
              <a:tr h="550796">
                <a:tc>
                  <a:txBody>
                    <a:bodyPr/>
                    <a:lstStyle/>
                    <a:p>
                      <a:pPr marL="0" indent="0">
                        <a:buNone/>
                      </a:pPr>
                      <a:r>
                        <a:rPr lang="en-US" sz="1200" dirty="0">
                          <a:solidFill>
                            <a:srgbClr val="000000"/>
                          </a:solidFill>
                          <a:latin typeface="Georgia" panose="02040502050405020303" pitchFamily="18" charset="0"/>
                          <a:ea typeface="Verdana" pitchFamily="34" charset="-122"/>
                          <a:cs typeface="Verdana" pitchFamily="34" charset="-120"/>
                        </a:rPr>
                        <a:t>Logistic Regression</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0.548</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0.354</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0.764</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49%</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59%</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lgn="ctr">
                        <a:buNone/>
                      </a:pPr>
                      <a:r>
                        <a:rPr lang="en-US" sz="1200" dirty="0">
                          <a:solidFill>
                            <a:srgbClr val="1B2E2B"/>
                          </a:solidFill>
                          <a:latin typeface="Georgia" panose="02040502050405020303" pitchFamily="18" charset="0"/>
                          <a:ea typeface="Verdana" pitchFamily="34" charset="-122"/>
                          <a:cs typeface="Verdana" pitchFamily="34" charset="-120"/>
                        </a:rPr>
                        <a:t>—</a:t>
                      </a:r>
                      <a:endParaRPr lang="en-US" sz="12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3889302344"/>
                  </a:ext>
                </a:extLst>
              </a:tr>
            </a:tbl>
          </a:graphicData>
        </a:graphic>
      </p:graphicFrame>
      <p:sp>
        <p:nvSpPr>
          <p:cNvPr id="15" name="TextBox 14">
            <a:extLst>
              <a:ext uri="{FF2B5EF4-FFF2-40B4-BE49-F238E27FC236}">
                <a16:creationId xmlns:a16="http://schemas.microsoft.com/office/drawing/2014/main" id="{6170CEF6-B720-CFBA-B871-BB0F9AE67DFE}"/>
              </a:ext>
            </a:extLst>
          </p:cNvPr>
          <p:cNvSpPr txBox="1"/>
          <p:nvPr/>
        </p:nvSpPr>
        <p:spPr>
          <a:xfrm>
            <a:off x="371994" y="5069493"/>
            <a:ext cx="11058005" cy="492443"/>
          </a:xfrm>
          <a:prstGeom prst="rect">
            <a:avLst/>
          </a:prstGeom>
          <a:noFill/>
        </p:spPr>
        <p:txBody>
          <a:bodyPr wrap="square">
            <a:spAutoFit/>
          </a:bodyPr>
          <a:lstStyle/>
          <a:p>
            <a:pPr marL="0" indent="0">
              <a:buNone/>
            </a:pPr>
            <a:r>
              <a:rPr lang="en-US" sz="1300" i="1" dirty="0">
                <a:solidFill>
                  <a:srgbClr val="0E3B36"/>
                </a:solidFill>
                <a:latin typeface="Georgia" pitchFamily="34" charset="0"/>
                <a:ea typeface="Georgia" pitchFamily="34" charset="-122"/>
                <a:cs typeface="Georgia" pitchFamily="34" charset="-120"/>
              </a:rPr>
              <a:t>Scan down any column to compare models on one metric; scan across a row for one model's full profile. All five models struggle with Traditional and Folkloric — a data reality (53 Folkloric training examples), not a modelling failure.</a:t>
            </a:r>
            <a:endParaRPr lang="en-US" sz="1300" dirty="0"/>
          </a:p>
        </p:txBody>
      </p:sp>
      <p:sp>
        <p:nvSpPr>
          <p:cNvPr id="17" name="TextBox 16">
            <a:extLst>
              <a:ext uri="{FF2B5EF4-FFF2-40B4-BE49-F238E27FC236}">
                <a16:creationId xmlns:a16="http://schemas.microsoft.com/office/drawing/2014/main" id="{10808BF9-3CEF-1323-FC1D-B9B457F7A2A3}"/>
              </a:ext>
            </a:extLst>
          </p:cNvPr>
          <p:cNvSpPr txBox="1"/>
          <p:nvPr/>
        </p:nvSpPr>
        <p:spPr>
          <a:xfrm>
            <a:off x="371993" y="6130120"/>
            <a:ext cx="7292342" cy="246221"/>
          </a:xfrm>
          <a:prstGeom prst="rect">
            <a:avLst/>
          </a:prstGeom>
          <a:noFill/>
        </p:spPr>
        <p:txBody>
          <a:bodyPr wrap="square">
            <a:spAutoFit/>
          </a:bodyPr>
          <a:lstStyle/>
          <a:p>
            <a:pPr marL="0" indent="0">
              <a:buNone/>
            </a:pPr>
            <a:r>
              <a:rPr lang="en-US" sz="1000" dirty="0">
                <a:solidFill>
                  <a:srgbClr val="5C6E6A"/>
                </a:solidFill>
                <a:latin typeface="Georgia" panose="02040502050405020303" pitchFamily="18" charset="0"/>
                <a:ea typeface="Verdana" pitchFamily="34" charset="-122"/>
                <a:cs typeface="Verdana" pitchFamily="34" charset="-120"/>
              </a:rPr>
              <a:t>The Insight Architects — </a:t>
            </a:r>
            <a:r>
              <a:rPr lang="en-US" sz="1000">
                <a:solidFill>
                  <a:srgbClr val="5C6E6A"/>
                </a:solidFill>
                <a:latin typeface="Georgia" panose="02040502050405020303" pitchFamily="18" charset="0"/>
                <a:ea typeface="Verdana" pitchFamily="34" charset="-122"/>
                <a:cs typeface="Verdana" pitchFamily="34" charset="-120"/>
              </a:rPr>
              <a:t>KDHS 2022 </a:t>
            </a:r>
            <a:r>
              <a:rPr lang="en-US" sz="1000" dirty="0">
                <a:solidFill>
                  <a:srgbClr val="5C6E6A"/>
                </a:solidFill>
                <a:latin typeface="Georgia" panose="02040502050405020303" pitchFamily="18" charset="0"/>
                <a:ea typeface="Verdana" pitchFamily="34" charset="-122"/>
                <a:cs typeface="Verdana" pitchFamily="34" charset="-120"/>
              </a:rPr>
              <a:t>Capstone</a:t>
            </a:r>
            <a:endParaRPr lang="en-US" sz="1000" dirty="0">
              <a:latin typeface="Georgia" panose="02040502050405020303" pitchFamily="18" charset="0"/>
            </a:endParaRPr>
          </a:p>
        </p:txBody>
      </p:sp>
    </p:spTree>
    <p:extLst>
      <p:ext uri="{BB962C8B-B14F-4D97-AF65-F5344CB8AC3E}">
        <p14:creationId xmlns:p14="http://schemas.microsoft.com/office/powerpoint/2010/main" val="33647716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EXPLAINABILITY</a:t>
            </a:r>
            <a:endParaRPr lang="en-US" sz="1100" dirty="0"/>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What SHAP Does — the Concept</a:t>
            </a:r>
            <a:endParaRPr lang="en-US" sz="3000" dirty="0"/>
          </a:p>
        </p:txBody>
      </p:sp>
      <p:sp>
        <p:nvSpPr>
          <p:cNvPr id="4" name="Text 2"/>
          <p:cNvSpPr/>
          <p:nvPr/>
        </p:nvSpPr>
        <p:spPr>
          <a:xfrm>
            <a:off x="548640" y="1371600"/>
            <a:ext cx="10515600" cy="548640"/>
          </a:xfrm>
          <a:prstGeom prst="rect">
            <a:avLst/>
          </a:prstGeom>
          <a:noFill/>
          <a:ln/>
        </p:spPr>
        <p:txBody>
          <a:bodyPr wrap="square" rtlCol="0" anchor="ctr"/>
          <a:lstStyle/>
          <a:p>
            <a:pPr marL="0" indent="0">
              <a:buNone/>
            </a:pPr>
            <a:r>
              <a:rPr lang="en-US" sz="2200" b="1" dirty="0">
                <a:solidFill>
                  <a:srgbClr val="0E3B36"/>
                </a:solidFill>
                <a:latin typeface="Georgia" pitchFamily="34" charset="0"/>
                <a:ea typeface="Georgia" pitchFamily="34" charset="-122"/>
                <a:cs typeface="Georgia" pitchFamily="34" charset="-120"/>
              </a:rPr>
              <a:t>Think of it like a tug-of-war.</a:t>
            </a:r>
            <a:endParaRPr lang="en-US" sz="2200" dirty="0"/>
          </a:p>
        </p:txBody>
      </p:sp>
      <p:sp>
        <p:nvSpPr>
          <p:cNvPr id="5" name="Text 3"/>
          <p:cNvSpPr/>
          <p:nvPr/>
        </p:nvSpPr>
        <p:spPr>
          <a:xfrm>
            <a:off x="548640" y="1965960"/>
            <a:ext cx="10515600" cy="640080"/>
          </a:xfrm>
          <a:prstGeom prst="rect">
            <a:avLst/>
          </a:prstGeom>
          <a:noFill/>
          <a:ln/>
        </p:spPr>
        <p:txBody>
          <a:bodyPr wrap="square" rtlCol="0" anchor="ct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Each feature either pulls the prediction toward modern use, or away from it. SHAP measures exactly how hard — and in which direction.</a:t>
            </a:r>
            <a:endParaRPr lang="en-US" sz="1600" dirty="0">
              <a:latin typeface="Georgia" panose="02040502050405020303" pitchFamily="18" charset="0"/>
            </a:endParaRPr>
          </a:p>
        </p:txBody>
      </p:sp>
      <p:sp>
        <p:nvSpPr>
          <p:cNvPr id="6" name="Shape 4"/>
          <p:cNvSpPr/>
          <p:nvPr/>
        </p:nvSpPr>
        <p:spPr>
          <a:xfrm>
            <a:off x="914400" y="3520440"/>
            <a:ext cx="4206240" cy="1005840"/>
          </a:xfrm>
          <a:prstGeom prst="roundRect">
            <a:avLst>
              <a:gd name="adj" fmla="val 9091"/>
            </a:avLst>
          </a:prstGeom>
          <a:solidFill>
            <a:srgbClr val="C1443A"/>
          </a:solidFill>
          <a:ln/>
        </p:spPr>
        <p:txBody>
          <a:bodyPr/>
          <a:lstStyle/>
          <a:p>
            <a:endParaRPr lang="en-US"/>
          </a:p>
        </p:txBody>
      </p:sp>
      <p:sp>
        <p:nvSpPr>
          <p:cNvPr id="7" name="Text 5"/>
          <p:cNvSpPr/>
          <p:nvPr/>
        </p:nvSpPr>
        <p:spPr>
          <a:xfrm>
            <a:off x="914400" y="3730752"/>
            <a:ext cx="4206240" cy="320040"/>
          </a:xfrm>
          <a:prstGeom prst="rect">
            <a:avLst/>
          </a:prstGeom>
          <a:noFill/>
          <a:ln/>
        </p:spPr>
        <p:txBody>
          <a:bodyPr wrap="square" rtlCol="0" anchor="ctr"/>
          <a:lstStyle/>
          <a:p>
            <a:pPr marL="0" indent="0" algn="ctr">
              <a:buNone/>
            </a:pPr>
            <a:r>
              <a:rPr lang="en-US" sz="1200" b="1" dirty="0">
                <a:solidFill>
                  <a:srgbClr val="FFFFFF"/>
                </a:solidFill>
                <a:latin typeface="Georgia" panose="02040502050405020303" pitchFamily="18" charset="0"/>
                <a:ea typeface="Verdana" pitchFamily="34" charset="-122"/>
                <a:cs typeface="Verdana" pitchFamily="34" charset="-120"/>
              </a:rPr>
              <a:t>AWAY FROM MODERN USE</a:t>
            </a:r>
            <a:endParaRPr lang="en-US" sz="1200" dirty="0">
              <a:latin typeface="Georgia" panose="02040502050405020303" pitchFamily="18" charset="0"/>
            </a:endParaRPr>
          </a:p>
        </p:txBody>
      </p:sp>
      <p:sp>
        <p:nvSpPr>
          <p:cNvPr id="8" name="Text 6"/>
          <p:cNvSpPr/>
          <p:nvPr/>
        </p:nvSpPr>
        <p:spPr>
          <a:xfrm>
            <a:off x="914400" y="4069080"/>
            <a:ext cx="4206240" cy="457200"/>
          </a:xfrm>
          <a:prstGeom prst="rect">
            <a:avLst/>
          </a:prstGeom>
          <a:noFill/>
          <a:ln/>
        </p:spPr>
        <p:txBody>
          <a:bodyPr wrap="square" rtlCol="0" anchor="ctr"/>
          <a:lstStyle/>
          <a:p>
            <a:pPr marL="0" indent="0" algn="ctr">
              <a:buNone/>
            </a:pPr>
            <a:r>
              <a:rPr lang="en-US" sz="1050" dirty="0">
                <a:solidFill>
                  <a:srgbClr val="FBE4E1"/>
                </a:solidFill>
                <a:latin typeface="Georgia" panose="02040502050405020303" pitchFamily="18" charset="0"/>
                <a:ea typeface="Verdana" pitchFamily="34" charset="-122"/>
                <a:cs typeface="Verdana" pitchFamily="34" charset="-120"/>
              </a:rPr>
              <a:t>e.g. young age, no partner, arid county</a:t>
            </a:r>
            <a:endParaRPr lang="en-US" sz="1050" dirty="0">
              <a:latin typeface="Georgia" panose="02040502050405020303" pitchFamily="18" charset="0"/>
            </a:endParaRPr>
          </a:p>
        </p:txBody>
      </p:sp>
      <p:sp>
        <p:nvSpPr>
          <p:cNvPr id="9" name="Shape 7"/>
          <p:cNvSpPr/>
          <p:nvPr/>
        </p:nvSpPr>
        <p:spPr>
          <a:xfrm>
            <a:off x="7040880" y="3520440"/>
            <a:ext cx="4206240" cy="1005840"/>
          </a:xfrm>
          <a:prstGeom prst="roundRect">
            <a:avLst>
              <a:gd name="adj" fmla="val 9091"/>
            </a:avLst>
          </a:prstGeom>
          <a:solidFill>
            <a:srgbClr val="3F7D6B"/>
          </a:solidFill>
          <a:ln/>
        </p:spPr>
        <p:txBody>
          <a:bodyPr/>
          <a:lstStyle/>
          <a:p>
            <a:endParaRPr lang="en-US"/>
          </a:p>
        </p:txBody>
      </p:sp>
      <p:sp>
        <p:nvSpPr>
          <p:cNvPr id="10" name="Text 8"/>
          <p:cNvSpPr/>
          <p:nvPr/>
        </p:nvSpPr>
        <p:spPr>
          <a:xfrm>
            <a:off x="7040880" y="3730752"/>
            <a:ext cx="4206240" cy="320040"/>
          </a:xfrm>
          <a:prstGeom prst="rect">
            <a:avLst/>
          </a:prstGeom>
          <a:noFill/>
          <a:ln/>
        </p:spPr>
        <p:txBody>
          <a:bodyPr wrap="square" rtlCol="0" anchor="ctr"/>
          <a:lstStyle/>
          <a:p>
            <a:pPr marL="0" indent="0" algn="ctr">
              <a:buNone/>
            </a:pPr>
            <a:r>
              <a:rPr lang="en-US" sz="1200" b="1" dirty="0">
                <a:solidFill>
                  <a:srgbClr val="FFFFFF"/>
                </a:solidFill>
                <a:latin typeface="Georgia" panose="02040502050405020303" pitchFamily="18" charset="0"/>
                <a:ea typeface="Verdana" pitchFamily="34" charset="-122"/>
                <a:cs typeface="Verdana" pitchFamily="34" charset="-120"/>
              </a:rPr>
              <a:t>TOWARD MODERN USE</a:t>
            </a:r>
            <a:endParaRPr lang="en-US" sz="1200" dirty="0">
              <a:latin typeface="Georgia" panose="02040502050405020303" pitchFamily="18" charset="0"/>
            </a:endParaRPr>
          </a:p>
        </p:txBody>
      </p:sp>
      <p:sp>
        <p:nvSpPr>
          <p:cNvPr id="11" name="Text 9"/>
          <p:cNvSpPr/>
          <p:nvPr/>
        </p:nvSpPr>
        <p:spPr>
          <a:xfrm>
            <a:off x="7040880" y="4069080"/>
            <a:ext cx="4206240" cy="457200"/>
          </a:xfrm>
          <a:prstGeom prst="rect">
            <a:avLst/>
          </a:prstGeom>
          <a:noFill/>
          <a:ln/>
        </p:spPr>
        <p:txBody>
          <a:bodyPr wrap="square" rtlCol="0" anchor="ctr"/>
          <a:lstStyle/>
          <a:p>
            <a:pPr marL="0" indent="0" algn="ctr">
              <a:buNone/>
            </a:pPr>
            <a:r>
              <a:rPr lang="en-US" sz="1050" dirty="0">
                <a:solidFill>
                  <a:srgbClr val="DDEFE8"/>
                </a:solidFill>
                <a:latin typeface="Georgia" panose="02040502050405020303" pitchFamily="18" charset="0"/>
                <a:ea typeface="Verdana" pitchFamily="34" charset="-122"/>
                <a:cs typeface="Verdana" pitchFamily="34" charset="-120"/>
              </a:rPr>
              <a:t>e.g. older age, employed, in union</a:t>
            </a:r>
            <a:endParaRPr lang="en-US" sz="1050" dirty="0">
              <a:latin typeface="Georgia" panose="02040502050405020303" pitchFamily="18" charset="0"/>
            </a:endParaRPr>
          </a:p>
        </p:txBody>
      </p:sp>
      <p:sp>
        <p:nvSpPr>
          <p:cNvPr id="12" name="Shape 10"/>
          <p:cNvSpPr/>
          <p:nvPr/>
        </p:nvSpPr>
        <p:spPr>
          <a:xfrm>
            <a:off x="5257800" y="3703320"/>
            <a:ext cx="1645920" cy="640080"/>
          </a:xfrm>
          <a:prstGeom prst="roundRect">
            <a:avLst>
              <a:gd name="adj" fmla="val 50000"/>
            </a:avLst>
          </a:prstGeom>
          <a:solidFill>
            <a:srgbClr val="0E3B36"/>
          </a:solidFill>
          <a:ln/>
        </p:spPr>
        <p:txBody>
          <a:bodyPr/>
          <a:lstStyle/>
          <a:p>
            <a:endParaRPr lang="en-US"/>
          </a:p>
        </p:txBody>
      </p:sp>
      <p:sp>
        <p:nvSpPr>
          <p:cNvPr id="13" name="Text 11"/>
          <p:cNvSpPr/>
          <p:nvPr/>
        </p:nvSpPr>
        <p:spPr>
          <a:xfrm>
            <a:off x="5257800" y="3703320"/>
            <a:ext cx="1645920" cy="640080"/>
          </a:xfrm>
          <a:prstGeom prst="rect">
            <a:avLst/>
          </a:prstGeom>
          <a:noFill/>
          <a:ln/>
        </p:spPr>
        <p:txBody>
          <a:bodyPr wrap="square" rtlCol="0" anchor="ctr"/>
          <a:lstStyle/>
          <a:p>
            <a:pPr marL="0" indent="0" algn="ctr">
              <a:buNone/>
            </a:pPr>
            <a:r>
              <a:rPr lang="en-US" sz="1100" b="1" dirty="0">
                <a:solidFill>
                  <a:srgbClr val="FFFFFF"/>
                </a:solidFill>
                <a:latin typeface="Verdana" pitchFamily="34" charset="0"/>
                <a:ea typeface="Verdana" pitchFamily="34" charset="-122"/>
                <a:cs typeface="Verdana" pitchFamily="34" charset="-120"/>
              </a:rPr>
              <a:t>A WOMAN</a:t>
            </a:r>
            <a:endParaRPr lang="en-US" sz="1100" dirty="0"/>
          </a:p>
        </p:txBody>
      </p:sp>
      <p:sp>
        <p:nvSpPr>
          <p:cNvPr id="14" name="Shape 12"/>
          <p:cNvSpPr/>
          <p:nvPr/>
        </p:nvSpPr>
        <p:spPr>
          <a:xfrm>
            <a:off x="5120640" y="4023360"/>
            <a:ext cx="1417320" cy="0"/>
          </a:xfrm>
          <a:prstGeom prst="line">
            <a:avLst/>
          </a:prstGeom>
          <a:noFill/>
          <a:ln w="19050">
            <a:solidFill>
              <a:srgbClr val="5C6E6A"/>
            </a:solidFill>
            <a:prstDash val="dash"/>
          </a:ln>
        </p:spPr>
        <p:txBody>
          <a:bodyPr/>
          <a:lstStyle/>
          <a:p>
            <a:endParaRPr lang="en-US"/>
          </a:p>
        </p:txBody>
      </p:sp>
      <p:sp>
        <p:nvSpPr>
          <p:cNvPr id="15" name="Shape 13"/>
          <p:cNvSpPr/>
          <p:nvPr/>
        </p:nvSpPr>
        <p:spPr>
          <a:xfrm>
            <a:off x="6995160" y="4023360"/>
            <a:ext cx="45720" cy="0"/>
          </a:xfrm>
          <a:prstGeom prst="line">
            <a:avLst/>
          </a:prstGeom>
          <a:noFill/>
          <a:ln w="19050">
            <a:solidFill>
              <a:srgbClr val="3F7D6B"/>
            </a:solidFill>
            <a:prstDash val="solid"/>
          </a:ln>
        </p:spPr>
        <p:txBody>
          <a:bodyPr/>
          <a:lstStyle/>
          <a:p>
            <a:endParaRPr lang="en-US"/>
          </a:p>
        </p:txBody>
      </p:sp>
      <p:sp>
        <p:nvSpPr>
          <p:cNvPr id="16" name="Text 14"/>
          <p:cNvSpPr/>
          <p:nvPr/>
        </p:nvSpPr>
        <p:spPr>
          <a:xfrm>
            <a:off x="548640" y="5394960"/>
            <a:ext cx="10515600" cy="457200"/>
          </a:xfrm>
          <a:prstGeom prst="rect">
            <a:avLst/>
          </a:prstGeom>
          <a:noFill/>
          <a:ln/>
        </p:spPr>
        <p:txBody>
          <a:bodyPr wrap="square" rtlCol="0" anchor="ctr"/>
          <a:lstStyle/>
          <a:p>
            <a:pPr marL="0" indent="0">
              <a:buNone/>
            </a:pPr>
            <a:r>
              <a:rPr lang="en-US" sz="1300" i="1" dirty="0">
                <a:solidFill>
                  <a:srgbClr val="5C6E6A"/>
                </a:solidFill>
                <a:latin typeface="Georgia" panose="02040502050405020303" pitchFamily="18" charset="0"/>
                <a:ea typeface="Verdana" pitchFamily="34" charset="-122"/>
                <a:cs typeface="Verdana" pitchFamily="34" charset="-120"/>
              </a:rPr>
              <a:t>No statistics background needed — read it like a before-and-after comparison.</a:t>
            </a:r>
            <a:endParaRPr lang="en-US" sz="1300" dirty="0">
              <a:latin typeface="Georgia" panose="02040502050405020303" pitchFamily="18" charset="0"/>
            </a:endParaRPr>
          </a:p>
        </p:txBody>
      </p:sp>
      <p:sp>
        <p:nvSpPr>
          <p:cNvPr id="17" name="Text 15"/>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Georgia" panose="02040502050405020303" pitchFamily="18" charset="0"/>
                <a:ea typeface="Verdana" pitchFamily="34" charset="-122"/>
                <a:cs typeface="Verdana" pitchFamily="34" charset="-120"/>
              </a:rPr>
              <a:t>The Insight Architects — </a:t>
            </a:r>
            <a:r>
              <a:rPr lang="en-US" sz="900">
                <a:solidFill>
                  <a:srgbClr val="5C6E6A"/>
                </a:solidFill>
                <a:latin typeface="Georgia" panose="02040502050405020303" pitchFamily="18" charset="0"/>
                <a:ea typeface="Verdana" pitchFamily="34" charset="-122"/>
                <a:cs typeface="Verdana" pitchFamily="34" charset="-120"/>
              </a:rPr>
              <a:t>KDHS 2022 </a:t>
            </a:r>
            <a:r>
              <a:rPr lang="en-US" sz="900" dirty="0">
                <a:solidFill>
                  <a:srgbClr val="5C6E6A"/>
                </a:solidFill>
                <a:latin typeface="Georgia" panose="02040502050405020303" pitchFamily="18" charset="0"/>
                <a:ea typeface="Verdana" pitchFamily="34" charset="-122"/>
                <a:cs typeface="Verdana" pitchFamily="34" charset="-120"/>
              </a:rPr>
              <a:t>Capstone</a:t>
            </a:r>
            <a:endParaRPr lang="en-US" sz="900" dirty="0">
              <a:latin typeface="Georgia" panose="02040502050405020303" pitchFamily="18" charset="0"/>
            </a:endParaRPr>
          </a:p>
        </p:txBody>
      </p:sp>
      <p:sp>
        <p:nvSpPr>
          <p:cNvPr id="18" name="Text 16"/>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17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Verdana" pitchFamily="34" charset="0"/>
                <a:ea typeface="Verdana" pitchFamily="34" charset="-122"/>
                <a:cs typeface="Verdana" pitchFamily="34" charset="-120"/>
              </a:rPr>
              <a:t>EXPLAINABILITY</a:t>
            </a:r>
            <a:endParaRPr lang="en-US" sz="1100" dirty="0"/>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What Drives the Prediction</a:t>
            </a:r>
            <a:endParaRPr lang="en-US" sz="3000" dirty="0"/>
          </a:p>
        </p:txBody>
      </p:sp>
      <p:pic>
        <p:nvPicPr>
          <p:cNvPr id="4" name="Image 0" descr="/home/claude/imgs/cell113_17.png"/>
          <p:cNvPicPr>
            <a:picLocks noChangeAspect="1"/>
          </p:cNvPicPr>
          <p:nvPr/>
        </p:nvPicPr>
        <p:blipFill>
          <a:blip r:embed="rId3"/>
          <a:srcRect/>
          <a:stretch/>
        </p:blipFill>
        <p:spPr>
          <a:xfrm>
            <a:off x="457200" y="1097280"/>
            <a:ext cx="7772400" cy="5212080"/>
          </a:xfrm>
          <a:prstGeom prst="rect">
            <a:avLst/>
          </a:prstGeom>
        </p:spPr>
      </p:pic>
      <p:sp>
        <p:nvSpPr>
          <p:cNvPr id="5" name="Shape 2"/>
          <p:cNvSpPr/>
          <p:nvPr/>
        </p:nvSpPr>
        <p:spPr>
          <a:xfrm>
            <a:off x="8503920" y="1234440"/>
            <a:ext cx="3108960" cy="5074920"/>
          </a:xfrm>
          <a:prstGeom prst="roundRect">
            <a:avLst>
              <a:gd name="adj" fmla="val 2941"/>
            </a:avLst>
          </a:prstGeom>
          <a:solidFill>
            <a:srgbClr val="F6F3EC"/>
          </a:solidFill>
          <a:ln/>
        </p:spPr>
        <p:txBody>
          <a:bodyPr/>
          <a:lstStyle/>
          <a:p>
            <a:endParaRPr lang="en-US"/>
          </a:p>
        </p:txBody>
      </p:sp>
      <p:sp>
        <p:nvSpPr>
          <p:cNvPr id="6" name="Text 3"/>
          <p:cNvSpPr/>
          <p:nvPr/>
        </p:nvSpPr>
        <p:spPr>
          <a:xfrm>
            <a:off x="8686800" y="1371600"/>
            <a:ext cx="2743200" cy="320040"/>
          </a:xfrm>
          <a:prstGeom prst="rect">
            <a:avLst/>
          </a:prstGeom>
          <a:noFill/>
          <a:ln/>
        </p:spPr>
        <p:txBody>
          <a:bodyPr wrap="square" rtlCol="0" anchor="ctr"/>
          <a:lstStyle/>
          <a:p>
            <a:pPr marL="0" indent="0">
              <a:buNone/>
            </a:pPr>
            <a:r>
              <a:rPr lang="en-US" sz="1100" b="1" kern="0" spc="100" dirty="0">
                <a:solidFill>
                  <a:srgbClr val="E2683F"/>
                </a:solidFill>
                <a:latin typeface="Georgia" panose="02040502050405020303" pitchFamily="18" charset="0"/>
                <a:ea typeface="Verdana" pitchFamily="34" charset="-122"/>
                <a:cs typeface="Verdana" pitchFamily="34" charset="-120"/>
              </a:rPr>
              <a:t>Three annotated drivers</a:t>
            </a:r>
            <a:endParaRPr lang="en-US" sz="1100" dirty="0">
              <a:latin typeface="Georgia" panose="02040502050405020303" pitchFamily="18" charset="0"/>
            </a:endParaRPr>
          </a:p>
        </p:txBody>
      </p:sp>
      <p:sp>
        <p:nvSpPr>
          <p:cNvPr id="7" name="Text 4"/>
          <p:cNvSpPr/>
          <p:nvPr/>
        </p:nvSpPr>
        <p:spPr>
          <a:xfrm>
            <a:off x="8686800" y="1783080"/>
            <a:ext cx="2743200" cy="1051560"/>
          </a:xfrm>
          <a:prstGeom prst="rect">
            <a:avLst/>
          </a:prstGeom>
          <a:noFill/>
          <a:ln/>
        </p:spPr>
        <p:txBody>
          <a:bodyPr wrap="square" rtlCol="0" anchor="ctr"/>
          <a:lstStyle/>
          <a:p>
            <a:pPr marL="0" indent="0">
              <a:buNone/>
            </a:pPr>
            <a:r>
              <a:rPr lang="en-US" sz="1150" dirty="0">
                <a:solidFill>
                  <a:srgbClr val="1B2E2B"/>
                </a:solidFill>
                <a:latin typeface="Georgia" panose="02040502050405020303" pitchFamily="18" charset="0"/>
                <a:ea typeface="Verdana" pitchFamily="34" charset="-122"/>
                <a:cs typeface="Verdana" pitchFamily="34" charset="-120"/>
              </a:rPr>
              <a:t>Age — the strongest driver. Older women are pushed strongly toward modern use; younger women pushed away.</a:t>
            </a:r>
            <a:endParaRPr lang="en-US" sz="1150" dirty="0">
              <a:latin typeface="Georgia" panose="02040502050405020303" pitchFamily="18" charset="0"/>
            </a:endParaRPr>
          </a:p>
        </p:txBody>
      </p:sp>
      <p:sp>
        <p:nvSpPr>
          <p:cNvPr id="8" name="Text 5"/>
          <p:cNvSpPr/>
          <p:nvPr/>
        </p:nvSpPr>
        <p:spPr>
          <a:xfrm>
            <a:off x="8686800" y="2926080"/>
            <a:ext cx="2743200" cy="1005840"/>
          </a:xfrm>
          <a:prstGeom prst="rect">
            <a:avLst/>
          </a:prstGeom>
          <a:noFill/>
          <a:ln/>
        </p:spPr>
        <p:txBody>
          <a:bodyPr wrap="square" rtlCol="0" anchor="ctr"/>
          <a:lstStyle/>
          <a:p>
            <a:pPr marL="0" indent="0">
              <a:buNone/>
            </a:pPr>
            <a:r>
              <a:rPr lang="en-US" sz="1150" dirty="0">
                <a:solidFill>
                  <a:srgbClr val="1B2E2B"/>
                </a:solidFill>
                <a:latin typeface="Georgia" panose="02040502050405020303" pitchFamily="18" charset="0"/>
                <a:ea typeface="Verdana" pitchFamily="34" charset="-122"/>
                <a:cs typeface="Verdana" pitchFamily="34" charset="-120"/>
              </a:rPr>
              <a:t>Employment — the most policy-tractable finding. Employed women pushed toward modern use.</a:t>
            </a:r>
            <a:endParaRPr lang="en-US" sz="1150" dirty="0">
              <a:latin typeface="Georgia" panose="02040502050405020303" pitchFamily="18" charset="0"/>
            </a:endParaRPr>
          </a:p>
        </p:txBody>
      </p:sp>
      <p:sp>
        <p:nvSpPr>
          <p:cNvPr id="9" name="Text 6"/>
          <p:cNvSpPr/>
          <p:nvPr/>
        </p:nvSpPr>
        <p:spPr>
          <a:xfrm>
            <a:off x="8686800" y="4023360"/>
            <a:ext cx="2743200" cy="1371600"/>
          </a:xfrm>
          <a:prstGeom prst="rect">
            <a:avLst/>
          </a:prstGeom>
          <a:noFill/>
          <a:ln/>
        </p:spPr>
        <p:txBody>
          <a:bodyPr wrap="square" rtlCol="0" anchor="ctr"/>
          <a:lstStyle/>
          <a:p>
            <a:pPr marL="0" indent="0">
              <a:buNone/>
            </a:pPr>
            <a:r>
              <a:rPr lang="en-US" sz="1150" dirty="0">
                <a:solidFill>
                  <a:srgbClr val="1B2E2B"/>
                </a:solidFill>
                <a:latin typeface="Georgia" panose="02040502050405020303" pitchFamily="18" charset="0"/>
                <a:ea typeface="Verdana" pitchFamily="34" charset="-122"/>
                <a:cs typeface="Verdana" pitchFamily="34" charset="-120"/>
              </a:rPr>
              <a:t>Arid (ASAL) county — pushes away from modern use, even after controlling for wealth, education, religion. A genuine access barrier.</a:t>
            </a:r>
            <a:endParaRPr lang="en-US" sz="1150" dirty="0">
              <a:latin typeface="Georgia" panose="02040502050405020303" pitchFamily="18" charset="0"/>
            </a:endParaRPr>
          </a:p>
        </p:txBody>
      </p:sp>
      <p:sp>
        <p:nvSpPr>
          <p:cNvPr id="10" name="Text 7"/>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Verdana" pitchFamily="34" charset="0"/>
                <a:ea typeface="Verdana" pitchFamily="34" charset="-122"/>
                <a:cs typeface="Verdana" pitchFamily="34" charset="-120"/>
              </a:rPr>
              <a:t>The Insight Architects — </a:t>
            </a:r>
            <a:r>
              <a:rPr lang="en-US" sz="900">
                <a:solidFill>
                  <a:srgbClr val="5C6E6A"/>
                </a:solidFill>
                <a:latin typeface="Verdana" pitchFamily="34" charset="0"/>
                <a:ea typeface="Verdana" pitchFamily="34" charset="-122"/>
                <a:cs typeface="Verdana" pitchFamily="34" charset="-120"/>
              </a:rPr>
              <a:t>KDHS 2022 </a:t>
            </a:r>
            <a:r>
              <a:rPr lang="en-US" sz="900" dirty="0">
                <a:solidFill>
                  <a:srgbClr val="5C6E6A"/>
                </a:solidFill>
                <a:latin typeface="Verdana" pitchFamily="34" charset="0"/>
                <a:ea typeface="Verdana" pitchFamily="34" charset="-122"/>
                <a:cs typeface="Verdana" pitchFamily="34" charset="-120"/>
              </a:rPr>
              <a:t>Capstone</a:t>
            </a:r>
            <a:endParaRPr lang="en-US" sz="900" dirty="0"/>
          </a:p>
        </p:txBody>
      </p:sp>
      <p:sp>
        <p:nvSpPr>
          <p:cNvPr id="11" name="Text 8"/>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18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200" b="1" kern="0" spc="200" dirty="0">
                <a:solidFill>
                  <a:srgbClr val="E2683F"/>
                </a:solidFill>
                <a:latin typeface="Georgia" panose="02040502050405020303" pitchFamily="18" charset="0"/>
                <a:ea typeface="Verdana" pitchFamily="34" charset="-122"/>
                <a:cs typeface="Verdana" pitchFamily="34" charset="-120"/>
              </a:rPr>
              <a:t>EXPLAINABILITY</a:t>
            </a:r>
            <a:endParaRPr lang="en-US" sz="12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Two Real Women — How the Model Decided</a:t>
            </a:r>
            <a:endParaRPr lang="en-US" sz="3000" dirty="0"/>
          </a:p>
        </p:txBody>
      </p:sp>
      <p:pic>
        <p:nvPicPr>
          <p:cNvPr id="4" name="Image 0" descr="/home/claude/imgs/cell119_19.png"/>
          <p:cNvPicPr>
            <a:picLocks noChangeAspect="1"/>
          </p:cNvPicPr>
          <p:nvPr/>
        </p:nvPicPr>
        <p:blipFill>
          <a:blip r:embed="rId3"/>
          <a:srcRect/>
          <a:stretch/>
        </p:blipFill>
        <p:spPr>
          <a:xfrm>
            <a:off x="457200" y="1097280"/>
            <a:ext cx="11247120" cy="4480560"/>
          </a:xfrm>
          <a:prstGeom prst="rect">
            <a:avLst/>
          </a:prstGeom>
        </p:spPr>
      </p:pic>
      <p:sp>
        <p:nvSpPr>
          <p:cNvPr id="5" name="Shape 2"/>
          <p:cNvSpPr/>
          <p:nvPr/>
        </p:nvSpPr>
        <p:spPr>
          <a:xfrm>
            <a:off x="548640" y="5669280"/>
            <a:ext cx="5440680" cy="960120"/>
          </a:xfrm>
          <a:prstGeom prst="roundRect">
            <a:avLst>
              <a:gd name="adj" fmla="val 7619"/>
            </a:avLst>
          </a:prstGeom>
          <a:solidFill>
            <a:srgbClr val="F6F3EC"/>
          </a:solidFill>
          <a:ln/>
        </p:spPr>
        <p:txBody>
          <a:bodyPr/>
          <a:lstStyle/>
          <a:p>
            <a:endParaRPr lang="en-US"/>
          </a:p>
        </p:txBody>
      </p:sp>
      <p:sp>
        <p:nvSpPr>
          <p:cNvPr id="6" name="Text 3"/>
          <p:cNvSpPr/>
          <p:nvPr/>
        </p:nvSpPr>
        <p:spPr>
          <a:xfrm>
            <a:off x="685800" y="5742432"/>
            <a:ext cx="5166360" cy="320040"/>
          </a:xfrm>
          <a:prstGeom prst="rect">
            <a:avLst/>
          </a:prstGeom>
          <a:noFill/>
          <a:ln/>
        </p:spPr>
        <p:txBody>
          <a:bodyPr wrap="square" rtlCol="0" anchor="ctr"/>
          <a:lstStyle/>
          <a:p>
            <a:pPr marL="0" indent="0">
              <a:buNone/>
            </a:pPr>
            <a:r>
              <a:rPr lang="en-US" sz="1100" b="1" dirty="0">
                <a:solidFill>
                  <a:srgbClr val="0E3B36"/>
                </a:solidFill>
                <a:latin typeface="Georgia" panose="02040502050405020303" pitchFamily="18" charset="0"/>
                <a:ea typeface="Verdana" pitchFamily="34" charset="-122"/>
                <a:cs typeface="Verdana" pitchFamily="34" charset="-120"/>
              </a:rPr>
              <a:t>Respondent C — Mandera profile, 99.9% "No method"</a:t>
            </a:r>
            <a:endParaRPr lang="en-US" sz="1100" dirty="0">
              <a:latin typeface="Georgia" panose="02040502050405020303" pitchFamily="18" charset="0"/>
            </a:endParaRPr>
          </a:p>
        </p:txBody>
      </p:sp>
      <p:sp>
        <p:nvSpPr>
          <p:cNvPr id="7" name="Text 4"/>
          <p:cNvSpPr/>
          <p:nvPr/>
        </p:nvSpPr>
        <p:spPr>
          <a:xfrm>
            <a:off x="685800" y="6053328"/>
            <a:ext cx="5166360" cy="502920"/>
          </a:xfrm>
          <a:prstGeom prst="rect">
            <a:avLst/>
          </a:prstGeom>
          <a:noFill/>
          <a:ln/>
        </p:spPr>
        <p:txBody>
          <a:bodyPr wrap="square" rtlCol="0" anchor="ctr"/>
          <a:lstStyle/>
          <a:p>
            <a:pPr marL="0" indent="0">
              <a:buNone/>
            </a:pPr>
            <a:r>
              <a:rPr lang="en-US" sz="1000" dirty="0">
                <a:solidFill>
                  <a:srgbClr val="1B2E2B"/>
                </a:solidFill>
                <a:latin typeface="Georgia" panose="02040502050405020303" pitchFamily="18" charset="0"/>
                <a:ea typeface="Verdana" pitchFamily="34" charset="-122"/>
                <a:cs typeface="Verdana" pitchFamily="34" charset="-120"/>
              </a:rPr>
              <a:t>Young, never-married, no children, unemployed — not yet exposed to pregnancy risk.</a:t>
            </a:r>
            <a:endParaRPr lang="en-US" sz="1000" dirty="0">
              <a:latin typeface="Georgia" panose="02040502050405020303" pitchFamily="18" charset="0"/>
            </a:endParaRPr>
          </a:p>
        </p:txBody>
      </p:sp>
      <p:sp>
        <p:nvSpPr>
          <p:cNvPr id="8" name="Shape 5"/>
          <p:cNvSpPr/>
          <p:nvPr/>
        </p:nvSpPr>
        <p:spPr>
          <a:xfrm>
            <a:off x="6172200" y="5669280"/>
            <a:ext cx="5440680" cy="960120"/>
          </a:xfrm>
          <a:prstGeom prst="roundRect">
            <a:avLst>
              <a:gd name="adj" fmla="val 7619"/>
            </a:avLst>
          </a:prstGeom>
          <a:solidFill>
            <a:srgbClr val="F6F3EC"/>
          </a:solidFill>
          <a:ln/>
        </p:spPr>
        <p:txBody>
          <a:bodyPr/>
          <a:lstStyle/>
          <a:p>
            <a:endParaRPr lang="en-US"/>
          </a:p>
        </p:txBody>
      </p:sp>
      <p:sp>
        <p:nvSpPr>
          <p:cNvPr id="9" name="Text 6"/>
          <p:cNvSpPr/>
          <p:nvPr/>
        </p:nvSpPr>
        <p:spPr>
          <a:xfrm>
            <a:off x="6309360" y="5742432"/>
            <a:ext cx="5166360" cy="320040"/>
          </a:xfrm>
          <a:prstGeom prst="rect">
            <a:avLst/>
          </a:prstGeom>
          <a:noFill/>
          <a:ln/>
        </p:spPr>
        <p:txBody>
          <a:bodyPr wrap="square" rtlCol="0" anchor="ctr"/>
          <a:lstStyle/>
          <a:p>
            <a:pPr marL="0" indent="0">
              <a:buNone/>
            </a:pPr>
            <a:r>
              <a:rPr lang="en-US" sz="1100" b="1" dirty="0">
                <a:solidFill>
                  <a:srgbClr val="0E3B36"/>
                </a:solidFill>
                <a:latin typeface="Georgia" panose="02040502050405020303" pitchFamily="18" charset="0"/>
                <a:ea typeface="Verdana" pitchFamily="34" charset="-122"/>
                <a:cs typeface="Verdana" pitchFamily="34" charset="-120"/>
              </a:rPr>
              <a:t>Respondent D — Embu profile, 92.5% "Modern"</a:t>
            </a:r>
            <a:endParaRPr lang="en-US" sz="1100" dirty="0">
              <a:latin typeface="Georgia" panose="02040502050405020303" pitchFamily="18" charset="0"/>
            </a:endParaRPr>
          </a:p>
        </p:txBody>
      </p:sp>
      <p:sp>
        <p:nvSpPr>
          <p:cNvPr id="10" name="Text 7"/>
          <p:cNvSpPr/>
          <p:nvPr/>
        </p:nvSpPr>
        <p:spPr>
          <a:xfrm>
            <a:off x="6309360" y="6053328"/>
            <a:ext cx="5166360" cy="502920"/>
          </a:xfrm>
          <a:prstGeom prst="rect">
            <a:avLst/>
          </a:prstGeom>
          <a:noFill/>
          <a:ln/>
        </p:spPr>
        <p:txBody>
          <a:bodyPr wrap="square" rtlCol="0" anchor="ctr"/>
          <a:lstStyle/>
          <a:p>
            <a:pPr marL="0" indent="0">
              <a:buNone/>
            </a:pPr>
            <a:r>
              <a:rPr lang="en-US" sz="1000" dirty="0">
                <a:solidFill>
                  <a:srgbClr val="1B2E2B"/>
                </a:solidFill>
                <a:latin typeface="Georgia" panose="02040502050405020303" pitchFamily="18" charset="0"/>
                <a:ea typeface="Verdana" pitchFamily="34" charset="-122"/>
                <a:cs typeface="Verdana" pitchFamily="34" charset="-120"/>
              </a:rPr>
              <a:t>Older, married, employed, several children, non-arid county — every lever pointing the same way.</a:t>
            </a:r>
            <a:endParaRPr lang="en-US" sz="1000" dirty="0">
              <a:latin typeface="Georgia" panose="02040502050405020303" pitchFamily="18" charset="0"/>
            </a:endParaRPr>
          </a:p>
        </p:txBody>
      </p:sp>
      <p:sp>
        <p:nvSpPr>
          <p:cNvPr id="11" name="Text 8"/>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19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0C0CEF1-AC0F-F1B8-282C-152A6DE090A4}"/>
              </a:ext>
            </a:extLst>
          </p:cNvPr>
          <p:cNvSpPr/>
          <p:nvPr/>
        </p:nvSpPr>
        <p:spPr>
          <a:xfrm>
            <a:off x="548640" y="164592"/>
            <a:ext cx="9144000" cy="274320"/>
          </a:xfrm>
          <a:prstGeom prst="rect">
            <a:avLst/>
          </a:prstGeom>
          <a:noFill/>
          <a:ln/>
        </p:spPr>
        <p:txBody>
          <a:bodyPr wrap="square" rtlCol="0" anchor="ctr"/>
          <a:lstStyle/>
          <a:p>
            <a:pPr marL="0" indent="0">
              <a:buNone/>
            </a:pPr>
            <a:r>
              <a:rPr lang="en-US" sz="1600" b="1" kern="0" spc="200" dirty="0">
                <a:solidFill>
                  <a:srgbClr val="E2683F"/>
                </a:solidFill>
                <a:latin typeface="Georgia" panose="02040502050405020303" pitchFamily="18" charset="0"/>
                <a:ea typeface="Verdana" pitchFamily="34" charset="-122"/>
                <a:cs typeface="Verdana" pitchFamily="34" charset="-120"/>
              </a:rPr>
              <a:t>INSIGHTS </a:t>
            </a:r>
            <a:endParaRPr lang="en-US" sz="1600" dirty="0">
              <a:latin typeface="Georgia" panose="02040502050405020303" pitchFamily="18" charset="0"/>
            </a:endParaRPr>
          </a:p>
        </p:txBody>
      </p:sp>
      <p:sp>
        <p:nvSpPr>
          <p:cNvPr id="5" name="Text 1">
            <a:extLst>
              <a:ext uri="{FF2B5EF4-FFF2-40B4-BE49-F238E27FC236}">
                <a16:creationId xmlns:a16="http://schemas.microsoft.com/office/drawing/2014/main" id="{DA870F8D-4A3B-0D26-FEC2-C51A23914AAF}"/>
              </a:ext>
            </a:extLst>
          </p:cNvPr>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Key Insights from the Analysis</a:t>
            </a:r>
            <a:endParaRPr lang="en-US" sz="3000" dirty="0"/>
          </a:p>
        </p:txBody>
      </p:sp>
      <p:sp>
        <p:nvSpPr>
          <p:cNvPr id="7" name="Text 2">
            <a:extLst>
              <a:ext uri="{FF2B5EF4-FFF2-40B4-BE49-F238E27FC236}">
                <a16:creationId xmlns:a16="http://schemas.microsoft.com/office/drawing/2014/main" id="{F5F6668B-AC1F-5533-764A-B6E2A7243FFD}"/>
              </a:ext>
            </a:extLst>
          </p:cNvPr>
          <p:cNvSpPr/>
          <p:nvPr/>
        </p:nvSpPr>
        <p:spPr>
          <a:xfrm>
            <a:off x="548640" y="1051560"/>
            <a:ext cx="10515600" cy="365760"/>
          </a:xfrm>
          <a:prstGeom prst="rect">
            <a:avLst/>
          </a:prstGeom>
          <a:noFill/>
          <a:ln/>
        </p:spPr>
        <p:txBody>
          <a:bodyPr wrap="square" rtlCol="0" anchor="ctr"/>
          <a:lstStyle/>
          <a:p>
            <a:pPr marL="0" indent="0">
              <a:buNone/>
            </a:pPr>
            <a:r>
              <a:rPr lang="en-US" sz="1250" dirty="0">
                <a:solidFill>
                  <a:srgbClr val="5C6E6A"/>
                </a:solidFill>
                <a:latin typeface="Verdana" pitchFamily="34" charset="0"/>
                <a:ea typeface="Verdana" pitchFamily="34" charset="-122"/>
                <a:cs typeface="Verdana" pitchFamily="34" charset="-120"/>
              </a:rPr>
              <a:t>What the data actually showed — before we turn it into action.</a:t>
            </a:r>
            <a:endParaRPr lang="en-US" sz="1250" dirty="0"/>
          </a:p>
        </p:txBody>
      </p:sp>
      <p:sp>
        <p:nvSpPr>
          <p:cNvPr id="9" name="Shape 3">
            <a:extLst>
              <a:ext uri="{FF2B5EF4-FFF2-40B4-BE49-F238E27FC236}">
                <a16:creationId xmlns:a16="http://schemas.microsoft.com/office/drawing/2014/main" id="{BE11C8F0-AED3-B77C-1854-8C5B14612963}"/>
              </a:ext>
            </a:extLst>
          </p:cNvPr>
          <p:cNvSpPr/>
          <p:nvPr/>
        </p:nvSpPr>
        <p:spPr>
          <a:xfrm>
            <a:off x="457200" y="1600200"/>
            <a:ext cx="3611880" cy="2148840"/>
          </a:xfrm>
          <a:prstGeom prst="roundRect">
            <a:avLst>
              <a:gd name="adj" fmla="val 4255"/>
            </a:avLst>
          </a:prstGeom>
          <a:solidFill>
            <a:srgbClr val="F6F3EC"/>
          </a:solidFill>
          <a:ln w="12700">
            <a:solidFill>
              <a:srgbClr val="D8DED9"/>
            </a:solidFill>
            <a:prstDash val="solid"/>
          </a:ln>
        </p:spPr>
        <p:txBody>
          <a:bodyPr/>
          <a:lstStyle/>
          <a:p>
            <a:endParaRPr lang="en-US"/>
          </a:p>
        </p:txBody>
      </p:sp>
      <p:sp>
        <p:nvSpPr>
          <p:cNvPr id="11" name="Shape 4">
            <a:extLst>
              <a:ext uri="{FF2B5EF4-FFF2-40B4-BE49-F238E27FC236}">
                <a16:creationId xmlns:a16="http://schemas.microsoft.com/office/drawing/2014/main" id="{BB514E8A-84ED-1041-B7D4-C4FBE337D496}"/>
              </a:ext>
            </a:extLst>
          </p:cNvPr>
          <p:cNvSpPr/>
          <p:nvPr/>
        </p:nvSpPr>
        <p:spPr>
          <a:xfrm>
            <a:off x="640080" y="1764792"/>
            <a:ext cx="329184" cy="329184"/>
          </a:xfrm>
          <a:prstGeom prst="roundRect">
            <a:avLst>
              <a:gd name="adj" fmla="val 50000"/>
            </a:avLst>
          </a:prstGeom>
          <a:solidFill>
            <a:srgbClr val="E2683F"/>
          </a:solidFill>
          <a:ln/>
        </p:spPr>
        <p:txBody>
          <a:bodyPr/>
          <a:lstStyle/>
          <a:p>
            <a:endParaRPr lang="en-US"/>
          </a:p>
        </p:txBody>
      </p:sp>
      <p:sp>
        <p:nvSpPr>
          <p:cNvPr id="13" name="Text 5">
            <a:extLst>
              <a:ext uri="{FF2B5EF4-FFF2-40B4-BE49-F238E27FC236}">
                <a16:creationId xmlns:a16="http://schemas.microsoft.com/office/drawing/2014/main" id="{F9E6A0F7-DA17-35CB-F875-3A5BB858C8D7}"/>
              </a:ext>
            </a:extLst>
          </p:cNvPr>
          <p:cNvSpPr/>
          <p:nvPr/>
        </p:nvSpPr>
        <p:spPr>
          <a:xfrm>
            <a:off x="640080" y="1764792"/>
            <a:ext cx="329184" cy="329184"/>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5" name="Text 6">
            <a:extLst>
              <a:ext uri="{FF2B5EF4-FFF2-40B4-BE49-F238E27FC236}">
                <a16:creationId xmlns:a16="http://schemas.microsoft.com/office/drawing/2014/main" id="{427DF204-406D-DC84-BC87-F7A4BAAC487D}"/>
              </a:ext>
            </a:extLst>
          </p:cNvPr>
          <p:cNvSpPr/>
          <p:nvPr/>
        </p:nvSpPr>
        <p:spPr>
          <a:xfrm>
            <a:off x="640080" y="2167128"/>
            <a:ext cx="3246120" cy="594360"/>
          </a:xfrm>
          <a:prstGeom prst="rect">
            <a:avLst/>
          </a:prstGeom>
          <a:noFill/>
          <a:ln/>
        </p:spPr>
        <p:txBody>
          <a:bodyPr wrap="square" rtlCol="0" anchor="ctr"/>
          <a:lstStyle/>
          <a:p>
            <a:pPr marL="0" indent="0">
              <a:buNone/>
            </a:pPr>
            <a:r>
              <a:rPr lang="en-US" sz="1250" b="1" dirty="0">
                <a:solidFill>
                  <a:srgbClr val="0E3B36"/>
                </a:solidFill>
                <a:latin typeface="Georgia" pitchFamily="34" charset="0"/>
                <a:ea typeface="Georgia" pitchFamily="34" charset="-122"/>
                <a:cs typeface="Georgia" pitchFamily="34" charset="-120"/>
              </a:rPr>
              <a:t>Geography is the single biggest divide</a:t>
            </a:r>
            <a:endParaRPr lang="en-US" sz="1250" dirty="0"/>
          </a:p>
        </p:txBody>
      </p:sp>
      <p:sp>
        <p:nvSpPr>
          <p:cNvPr id="17" name="Text 7">
            <a:extLst>
              <a:ext uri="{FF2B5EF4-FFF2-40B4-BE49-F238E27FC236}">
                <a16:creationId xmlns:a16="http://schemas.microsoft.com/office/drawing/2014/main" id="{136F0A72-61B0-ED07-3F28-CDC51A1CD17E}"/>
              </a:ext>
            </a:extLst>
          </p:cNvPr>
          <p:cNvSpPr/>
          <p:nvPr/>
        </p:nvSpPr>
        <p:spPr>
          <a:xfrm>
            <a:off x="640080" y="2743200"/>
            <a:ext cx="3246120" cy="868680"/>
          </a:xfrm>
          <a:prstGeom prst="rect">
            <a:avLst/>
          </a:prstGeom>
          <a:noFill/>
          <a:ln/>
        </p:spPr>
        <p:txBody>
          <a:bodyPr wrap="square" rtlCol="0" anchor="ctr"/>
          <a:lstStyle/>
          <a:p>
            <a:pPr marL="0" indent="0">
              <a:buNone/>
            </a:pPr>
            <a:r>
              <a:rPr lang="en-US" sz="1000" dirty="0">
                <a:solidFill>
                  <a:srgbClr val="1B2E2B"/>
                </a:solidFill>
                <a:latin typeface="Verdana" pitchFamily="34" charset="0"/>
                <a:ea typeface="Verdana" pitchFamily="34" charset="-122"/>
                <a:cs typeface="Verdana" pitchFamily="34" charset="-120"/>
              </a:rPr>
              <a:t>A 56pp gap separates Embu (57%) from Mandera (1.2%) — every arid/ASAL county clusters at the bottom of the county ranking.</a:t>
            </a:r>
            <a:endParaRPr lang="en-US" sz="1000" dirty="0"/>
          </a:p>
        </p:txBody>
      </p:sp>
      <p:sp>
        <p:nvSpPr>
          <p:cNvPr id="19" name="Shape 8">
            <a:extLst>
              <a:ext uri="{FF2B5EF4-FFF2-40B4-BE49-F238E27FC236}">
                <a16:creationId xmlns:a16="http://schemas.microsoft.com/office/drawing/2014/main" id="{DD0499F2-B205-CDBF-09CC-CF3BA9C1B84D}"/>
              </a:ext>
            </a:extLst>
          </p:cNvPr>
          <p:cNvSpPr/>
          <p:nvPr/>
        </p:nvSpPr>
        <p:spPr>
          <a:xfrm>
            <a:off x="4297680" y="1600200"/>
            <a:ext cx="3611880" cy="2148840"/>
          </a:xfrm>
          <a:prstGeom prst="roundRect">
            <a:avLst>
              <a:gd name="adj" fmla="val 4255"/>
            </a:avLst>
          </a:prstGeom>
          <a:solidFill>
            <a:srgbClr val="F6F3EC"/>
          </a:solidFill>
          <a:ln w="12700">
            <a:solidFill>
              <a:srgbClr val="D8DED9"/>
            </a:solidFill>
            <a:prstDash val="solid"/>
          </a:ln>
        </p:spPr>
        <p:txBody>
          <a:bodyPr/>
          <a:lstStyle/>
          <a:p>
            <a:endParaRPr lang="en-US"/>
          </a:p>
        </p:txBody>
      </p:sp>
      <p:sp>
        <p:nvSpPr>
          <p:cNvPr id="21" name="Shape 9">
            <a:extLst>
              <a:ext uri="{FF2B5EF4-FFF2-40B4-BE49-F238E27FC236}">
                <a16:creationId xmlns:a16="http://schemas.microsoft.com/office/drawing/2014/main" id="{26F0EBD5-695E-0BA9-7A92-5B2D8E85AA6F}"/>
              </a:ext>
            </a:extLst>
          </p:cNvPr>
          <p:cNvSpPr/>
          <p:nvPr/>
        </p:nvSpPr>
        <p:spPr>
          <a:xfrm>
            <a:off x="4480560" y="1764792"/>
            <a:ext cx="329184" cy="329184"/>
          </a:xfrm>
          <a:prstGeom prst="roundRect">
            <a:avLst>
              <a:gd name="adj" fmla="val 50000"/>
            </a:avLst>
          </a:prstGeom>
          <a:solidFill>
            <a:srgbClr val="E2683F"/>
          </a:solidFill>
          <a:ln/>
        </p:spPr>
        <p:txBody>
          <a:bodyPr/>
          <a:lstStyle/>
          <a:p>
            <a:endParaRPr lang="en-US"/>
          </a:p>
        </p:txBody>
      </p:sp>
      <p:sp>
        <p:nvSpPr>
          <p:cNvPr id="23" name="Text 10">
            <a:extLst>
              <a:ext uri="{FF2B5EF4-FFF2-40B4-BE49-F238E27FC236}">
                <a16:creationId xmlns:a16="http://schemas.microsoft.com/office/drawing/2014/main" id="{5296C17E-CB8A-4BC2-0131-07048D6CA472}"/>
              </a:ext>
            </a:extLst>
          </p:cNvPr>
          <p:cNvSpPr/>
          <p:nvPr/>
        </p:nvSpPr>
        <p:spPr>
          <a:xfrm>
            <a:off x="4480560" y="1764792"/>
            <a:ext cx="329184" cy="329184"/>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25" name="Text 11">
            <a:extLst>
              <a:ext uri="{FF2B5EF4-FFF2-40B4-BE49-F238E27FC236}">
                <a16:creationId xmlns:a16="http://schemas.microsoft.com/office/drawing/2014/main" id="{2F217630-45B7-1375-ECDC-5FC7B7D9173E}"/>
              </a:ext>
            </a:extLst>
          </p:cNvPr>
          <p:cNvSpPr/>
          <p:nvPr/>
        </p:nvSpPr>
        <p:spPr>
          <a:xfrm>
            <a:off x="4480560" y="2167128"/>
            <a:ext cx="3246120" cy="594360"/>
          </a:xfrm>
          <a:prstGeom prst="rect">
            <a:avLst/>
          </a:prstGeom>
          <a:noFill/>
          <a:ln/>
        </p:spPr>
        <p:txBody>
          <a:bodyPr wrap="square" rtlCol="0" anchor="ctr"/>
          <a:lstStyle/>
          <a:p>
            <a:pPr marL="0" indent="0">
              <a:buNone/>
            </a:pPr>
            <a:r>
              <a:rPr lang="en-US" sz="1250" b="1" dirty="0">
                <a:solidFill>
                  <a:srgbClr val="0E3B36"/>
                </a:solidFill>
                <a:latin typeface="Georgia" pitchFamily="34" charset="0"/>
                <a:ea typeface="Georgia" pitchFamily="34" charset="-122"/>
                <a:cs typeface="Georgia" pitchFamily="34" charset="-120"/>
              </a:rPr>
              <a:t>Wealth acts as a cliff, not a gradient</a:t>
            </a:r>
            <a:endParaRPr lang="en-US" sz="1250" dirty="0"/>
          </a:p>
        </p:txBody>
      </p:sp>
      <p:sp>
        <p:nvSpPr>
          <p:cNvPr id="27" name="Text 12">
            <a:extLst>
              <a:ext uri="{FF2B5EF4-FFF2-40B4-BE49-F238E27FC236}">
                <a16:creationId xmlns:a16="http://schemas.microsoft.com/office/drawing/2014/main" id="{2FF2609A-5E4C-21B1-A402-E03F732EEF79}"/>
              </a:ext>
            </a:extLst>
          </p:cNvPr>
          <p:cNvSpPr/>
          <p:nvPr/>
        </p:nvSpPr>
        <p:spPr>
          <a:xfrm>
            <a:off x="4480560" y="2743200"/>
            <a:ext cx="3246120" cy="868680"/>
          </a:xfrm>
          <a:prstGeom prst="rect">
            <a:avLst/>
          </a:prstGeom>
          <a:noFill/>
          <a:ln/>
        </p:spPr>
        <p:txBody>
          <a:bodyPr wrap="square" rtlCol="0" anchor="ctr"/>
          <a:lstStyle/>
          <a:p>
            <a:pPr marL="0" indent="0">
              <a:buNone/>
            </a:pPr>
            <a:r>
              <a:rPr lang="en-US" sz="1000" dirty="0">
                <a:solidFill>
                  <a:srgbClr val="1B2E2B"/>
                </a:solidFill>
                <a:latin typeface="Verdana" pitchFamily="34" charset="0"/>
                <a:ea typeface="Verdana" pitchFamily="34" charset="-122"/>
                <a:cs typeface="Verdana" pitchFamily="34" charset="-120"/>
              </a:rPr>
              <a:t>Modern use jumps +16pp from Poorest→Poorer, then flattens (+1.8pp across the remaining three quintiles combined).</a:t>
            </a:r>
            <a:endParaRPr lang="en-US" sz="1000" dirty="0"/>
          </a:p>
        </p:txBody>
      </p:sp>
      <p:sp>
        <p:nvSpPr>
          <p:cNvPr id="29" name="Shape 13">
            <a:extLst>
              <a:ext uri="{FF2B5EF4-FFF2-40B4-BE49-F238E27FC236}">
                <a16:creationId xmlns:a16="http://schemas.microsoft.com/office/drawing/2014/main" id="{D14A16AE-3058-0E73-61CB-3C7FCFE1AF9E}"/>
              </a:ext>
            </a:extLst>
          </p:cNvPr>
          <p:cNvSpPr/>
          <p:nvPr/>
        </p:nvSpPr>
        <p:spPr>
          <a:xfrm>
            <a:off x="8138160" y="1600200"/>
            <a:ext cx="3611880" cy="2148840"/>
          </a:xfrm>
          <a:prstGeom prst="roundRect">
            <a:avLst>
              <a:gd name="adj" fmla="val 4255"/>
            </a:avLst>
          </a:prstGeom>
          <a:solidFill>
            <a:srgbClr val="F6F3EC"/>
          </a:solidFill>
          <a:ln w="12700">
            <a:solidFill>
              <a:srgbClr val="D8DED9"/>
            </a:solidFill>
            <a:prstDash val="solid"/>
          </a:ln>
        </p:spPr>
        <p:txBody>
          <a:bodyPr/>
          <a:lstStyle/>
          <a:p>
            <a:endParaRPr lang="en-US"/>
          </a:p>
        </p:txBody>
      </p:sp>
      <p:sp>
        <p:nvSpPr>
          <p:cNvPr id="31" name="Shape 14">
            <a:extLst>
              <a:ext uri="{FF2B5EF4-FFF2-40B4-BE49-F238E27FC236}">
                <a16:creationId xmlns:a16="http://schemas.microsoft.com/office/drawing/2014/main" id="{3167D4A4-5FFE-ADF9-3BA8-3E85F58AD6D0}"/>
              </a:ext>
            </a:extLst>
          </p:cNvPr>
          <p:cNvSpPr/>
          <p:nvPr/>
        </p:nvSpPr>
        <p:spPr>
          <a:xfrm>
            <a:off x="8321040" y="1764792"/>
            <a:ext cx="329184" cy="329184"/>
          </a:xfrm>
          <a:prstGeom prst="roundRect">
            <a:avLst>
              <a:gd name="adj" fmla="val 50000"/>
            </a:avLst>
          </a:prstGeom>
          <a:solidFill>
            <a:srgbClr val="E2683F"/>
          </a:solidFill>
          <a:ln/>
        </p:spPr>
        <p:txBody>
          <a:bodyPr/>
          <a:lstStyle/>
          <a:p>
            <a:endParaRPr lang="en-US"/>
          </a:p>
        </p:txBody>
      </p:sp>
      <p:sp>
        <p:nvSpPr>
          <p:cNvPr id="33" name="Text 15">
            <a:extLst>
              <a:ext uri="{FF2B5EF4-FFF2-40B4-BE49-F238E27FC236}">
                <a16:creationId xmlns:a16="http://schemas.microsoft.com/office/drawing/2014/main" id="{BAB13EB3-D1F4-3E1C-22BB-0639E4B88BF3}"/>
              </a:ext>
            </a:extLst>
          </p:cNvPr>
          <p:cNvSpPr/>
          <p:nvPr/>
        </p:nvSpPr>
        <p:spPr>
          <a:xfrm>
            <a:off x="8321040" y="1764792"/>
            <a:ext cx="329184" cy="329184"/>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35" name="Text 16">
            <a:extLst>
              <a:ext uri="{FF2B5EF4-FFF2-40B4-BE49-F238E27FC236}">
                <a16:creationId xmlns:a16="http://schemas.microsoft.com/office/drawing/2014/main" id="{B277F5BC-7E90-5290-47AD-1D537E5FA692}"/>
              </a:ext>
            </a:extLst>
          </p:cNvPr>
          <p:cNvSpPr/>
          <p:nvPr/>
        </p:nvSpPr>
        <p:spPr>
          <a:xfrm>
            <a:off x="8321040" y="2167128"/>
            <a:ext cx="3246120" cy="594360"/>
          </a:xfrm>
          <a:prstGeom prst="rect">
            <a:avLst/>
          </a:prstGeom>
          <a:noFill/>
          <a:ln/>
        </p:spPr>
        <p:txBody>
          <a:bodyPr wrap="square" rtlCol="0" anchor="ctr"/>
          <a:lstStyle/>
          <a:p>
            <a:pPr marL="0" indent="0">
              <a:buNone/>
            </a:pPr>
            <a:r>
              <a:rPr lang="en-US" sz="1250" b="1" dirty="0">
                <a:solidFill>
                  <a:srgbClr val="0E3B36"/>
                </a:solidFill>
                <a:latin typeface="Georgia" pitchFamily="34" charset="0"/>
                <a:ea typeface="Georgia" pitchFamily="34" charset="-122"/>
                <a:cs typeface="Georgia" pitchFamily="34" charset="-120"/>
              </a:rPr>
              <a:t>Fertility history and age dominate the signal</a:t>
            </a:r>
            <a:endParaRPr lang="en-US" sz="1250" dirty="0"/>
          </a:p>
        </p:txBody>
      </p:sp>
      <p:sp>
        <p:nvSpPr>
          <p:cNvPr id="37" name="Text 17">
            <a:extLst>
              <a:ext uri="{FF2B5EF4-FFF2-40B4-BE49-F238E27FC236}">
                <a16:creationId xmlns:a16="http://schemas.microsoft.com/office/drawing/2014/main" id="{7EED2A10-3BA9-7847-B35A-BF2F1CD2F911}"/>
              </a:ext>
            </a:extLst>
          </p:cNvPr>
          <p:cNvSpPr/>
          <p:nvPr/>
        </p:nvSpPr>
        <p:spPr>
          <a:xfrm>
            <a:off x="8321040" y="2743200"/>
            <a:ext cx="3246120" cy="868680"/>
          </a:xfrm>
          <a:prstGeom prst="rect">
            <a:avLst/>
          </a:prstGeom>
          <a:noFill/>
          <a:ln/>
        </p:spPr>
        <p:txBody>
          <a:bodyPr wrap="square" rtlCol="0" anchor="ctr"/>
          <a:lstStyle/>
          <a:p>
            <a:pPr marL="0" indent="0">
              <a:buNone/>
            </a:pPr>
            <a:r>
              <a:rPr lang="en-US" sz="1000" dirty="0">
                <a:solidFill>
                  <a:srgbClr val="1B2E2B"/>
                </a:solidFill>
                <a:latin typeface="Verdana" pitchFamily="34" charset="0"/>
                <a:ea typeface="Verdana" pitchFamily="34" charset="-122"/>
                <a:cs typeface="Verdana" pitchFamily="34" charset="-120"/>
              </a:rPr>
              <a:t>has_given_birth is the strongest categorical predictor (Cramér's V = 0.41); age is the single strongest SHAP driver of the model's predictions.</a:t>
            </a:r>
            <a:endParaRPr lang="en-US" sz="1000" dirty="0"/>
          </a:p>
        </p:txBody>
      </p:sp>
      <p:sp>
        <p:nvSpPr>
          <p:cNvPr id="39" name="Shape 18">
            <a:extLst>
              <a:ext uri="{FF2B5EF4-FFF2-40B4-BE49-F238E27FC236}">
                <a16:creationId xmlns:a16="http://schemas.microsoft.com/office/drawing/2014/main" id="{CE39383F-3F3C-99F9-BF98-3198C7DC9CA1}"/>
              </a:ext>
            </a:extLst>
          </p:cNvPr>
          <p:cNvSpPr/>
          <p:nvPr/>
        </p:nvSpPr>
        <p:spPr>
          <a:xfrm>
            <a:off x="457200" y="3931920"/>
            <a:ext cx="3611880" cy="2148840"/>
          </a:xfrm>
          <a:prstGeom prst="roundRect">
            <a:avLst>
              <a:gd name="adj" fmla="val 4255"/>
            </a:avLst>
          </a:prstGeom>
          <a:solidFill>
            <a:srgbClr val="F6F3EC"/>
          </a:solidFill>
          <a:ln w="12700">
            <a:solidFill>
              <a:srgbClr val="D8DED9"/>
            </a:solidFill>
            <a:prstDash val="solid"/>
          </a:ln>
        </p:spPr>
        <p:txBody>
          <a:bodyPr/>
          <a:lstStyle/>
          <a:p>
            <a:endParaRPr lang="en-US"/>
          </a:p>
        </p:txBody>
      </p:sp>
      <p:sp>
        <p:nvSpPr>
          <p:cNvPr id="41" name="Shape 19">
            <a:extLst>
              <a:ext uri="{FF2B5EF4-FFF2-40B4-BE49-F238E27FC236}">
                <a16:creationId xmlns:a16="http://schemas.microsoft.com/office/drawing/2014/main" id="{878B096D-1278-2143-54C4-D3BE74D69D41}"/>
              </a:ext>
            </a:extLst>
          </p:cNvPr>
          <p:cNvSpPr/>
          <p:nvPr/>
        </p:nvSpPr>
        <p:spPr>
          <a:xfrm>
            <a:off x="640080" y="4096512"/>
            <a:ext cx="329184" cy="329184"/>
          </a:xfrm>
          <a:prstGeom prst="roundRect">
            <a:avLst>
              <a:gd name="adj" fmla="val 50000"/>
            </a:avLst>
          </a:prstGeom>
          <a:solidFill>
            <a:srgbClr val="E2683F"/>
          </a:solidFill>
          <a:ln/>
        </p:spPr>
        <p:txBody>
          <a:bodyPr/>
          <a:lstStyle/>
          <a:p>
            <a:endParaRPr lang="en-US"/>
          </a:p>
        </p:txBody>
      </p:sp>
      <p:sp>
        <p:nvSpPr>
          <p:cNvPr id="43" name="Text 20">
            <a:extLst>
              <a:ext uri="{FF2B5EF4-FFF2-40B4-BE49-F238E27FC236}">
                <a16:creationId xmlns:a16="http://schemas.microsoft.com/office/drawing/2014/main" id="{53F8A30F-085B-8F3B-FDAA-C4BFD239A43F}"/>
              </a:ext>
            </a:extLst>
          </p:cNvPr>
          <p:cNvSpPr/>
          <p:nvPr/>
        </p:nvSpPr>
        <p:spPr>
          <a:xfrm>
            <a:off x="640080" y="4096512"/>
            <a:ext cx="329184" cy="329184"/>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45" name="Text 21">
            <a:extLst>
              <a:ext uri="{FF2B5EF4-FFF2-40B4-BE49-F238E27FC236}">
                <a16:creationId xmlns:a16="http://schemas.microsoft.com/office/drawing/2014/main" id="{A6CA2642-131A-EF3E-0A53-186206DC068F}"/>
              </a:ext>
            </a:extLst>
          </p:cNvPr>
          <p:cNvSpPr/>
          <p:nvPr/>
        </p:nvSpPr>
        <p:spPr>
          <a:xfrm>
            <a:off x="640080" y="4498848"/>
            <a:ext cx="3246120" cy="594360"/>
          </a:xfrm>
          <a:prstGeom prst="rect">
            <a:avLst/>
          </a:prstGeom>
          <a:noFill/>
          <a:ln/>
        </p:spPr>
        <p:txBody>
          <a:bodyPr wrap="square" rtlCol="0" anchor="ctr"/>
          <a:lstStyle/>
          <a:p>
            <a:pPr marL="0" indent="0">
              <a:buNone/>
            </a:pPr>
            <a:r>
              <a:rPr lang="en-US" sz="1250" b="1" dirty="0">
                <a:solidFill>
                  <a:srgbClr val="0E3B36"/>
                </a:solidFill>
                <a:latin typeface="Georgia" pitchFamily="34" charset="0"/>
                <a:ea typeface="Georgia" pitchFamily="34" charset="-122"/>
                <a:cs typeface="Georgia" pitchFamily="34" charset="-120"/>
              </a:rPr>
              <a:t>Employment is the rare actionable lever</a:t>
            </a:r>
            <a:endParaRPr lang="en-US" sz="1250" dirty="0"/>
          </a:p>
        </p:txBody>
      </p:sp>
      <p:sp>
        <p:nvSpPr>
          <p:cNvPr id="47" name="Text 22">
            <a:extLst>
              <a:ext uri="{FF2B5EF4-FFF2-40B4-BE49-F238E27FC236}">
                <a16:creationId xmlns:a16="http://schemas.microsoft.com/office/drawing/2014/main" id="{3A7016FC-5EDE-D301-58CF-166F3AA5AB49}"/>
              </a:ext>
            </a:extLst>
          </p:cNvPr>
          <p:cNvSpPr/>
          <p:nvPr/>
        </p:nvSpPr>
        <p:spPr>
          <a:xfrm>
            <a:off x="640080" y="5074920"/>
            <a:ext cx="3246120" cy="868680"/>
          </a:xfrm>
          <a:prstGeom prst="rect">
            <a:avLst/>
          </a:prstGeom>
          <a:noFill/>
          <a:ln/>
        </p:spPr>
        <p:txBody>
          <a:bodyPr wrap="square" rtlCol="0" anchor="ctr"/>
          <a:lstStyle/>
          <a:p>
            <a:pPr marL="0" indent="0">
              <a:buNone/>
            </a:pPr>
            <a:r>
              <a:rPr lang="en-US" sz="1000" dirty="0">
                <a:solidFill>
                  <a:srgbClr val="1B2E2B"/>
                </a:solidFill>
                <a:latin typeface="Verdana" pitchFamily="34" charset="0"/>
                <a:ea typeface="Verdana" pitchFamily="34" charset="-122"/>
                <a:cs typeface="Verdana" pitchFamily="34" charset="-120"/>
              </a:rPr>
              <a:t>Unlike age or fertility history, employed is directly changeable through policy — and still ranks in the SHAP top 5.</a:t>
            </a:r>
            <a:endParaRPr lang="en-US" sz="1000" dirty="0"/>
          </a:p>
        </p:txBody>
      </p:sp>
      <p:sp>
        <p:nvSpPr>
          <p:cNvPr id="49" name="Shape 23">
            <a:extLst>
              <a:ext uri="{FF2B5EF4-FFF2-40B4-BE49-F238E27FC236}">
                <a16:creationId xmlns:a16="http://schemas.microsoft.com/office/drawing/2014/main" id="{A29659B1-0BC0-98FE-7073-DC375ACD5819}"/>
              </a:ext>
            </a:extLst>
          </p:cNvPr>
          <p:cNvSpPr/>
          <p:nvPr/>
        </p:nvSpPr>
        <p:spPr>
          <a:xfrm>
            <a:off x="4297680" y="3931920"/>
            <a:ext cx="3611880" cy="2148840"/>
          </a:xfrm>
          <a:prstGeom prst="roundRect">
            <a:avLst>
              <a:gd name="adj" fmla="val 4255"/>
            </a:avLst>
          </a:prstGeom>
          <a:solidFill>
            <a:srgbClr val="F6F3EC"/>
          </a:solidFill>
          <a:ln w="12700">
            <a:solidFill>
              <a:srgbClr val="D8DED9"/>
            </a:solidFill>
            <a:prstDash val="solid"/>
          </a:ln>
        </p:spPr>
        <p:txBody>
          <a:bodyPr/>
          <a:lstStyle/>
          <a:p>
            <a:endParaRPr lang="en-US"/>
          </a:p>
        </p:txBody>
      </p:sp>
      <p:sp>
        <p:nvSpPr>
          <p:cNvPr id="51" name="Shape 24">
            <a:extLst>
              <a:ext uri="{FF2B5EF4-FFF2-40B4-BE49-F238E27FC236}">
                <a16:creationId xmlns:a16="http://schemas.microsoft.com/office/drawing/2014/main" id="{6F3AEA68-7B03-7B9E-4C54-1FF88A92D38F}"/>
              </a:ext>
            </a:extLst>
          </p:cNvPr>
          <p:cNvSpPr/>
          <p:nvPr/>
        </p:nvSpPr>
        <p:spPr>
          <a:xfrm>
            <a:off x="4480560" y="4096512"/>
            <a:ext cx="329184" cy="329184"/>
          </a:xfrm>
          <a:prstGeom prst="roundRect">
            <a:avLst>
              <a:gd name="adj" fmla="val 50000"/>
            </a:avLst>
          </a:prstGeom>
          <a:solidFill>
            <a:srgbClr val="E2683F"/>
          </a:solidFill>
          <a:ln/>
        </p:spPr>
        <p:txBody>
          <a:bodyPr/>
          <a:lstStyle/>
          <a:p>
            <a:endParaRPr lang="en-US"/>
          </a:p>
        </p:txBody>
      </p:sp>
      <p:sp>
        <p:nvSpPr>
          <p:cNvPr id="53" name="Text 25">
            <a:extLst>
              <a:ext uri="{FF2B5EF4-FFF2-40B4-BE49-F238E27FC236}">
                <a16:creationId xmlns:a16="http://schemas.microsoft.com/office/drawing/2014/main" id="{31659F5D-5CA2-B57F-8C88-62834113DA2E}"/>
              </a:ext>
            </a:extLst>
          </p:cNvPr>
          <p:cNvSpPr/>
          <p:nvPr/>
        </p:nvSpPr>
        <p:spPr>
          <a:xfrm>
            <a:off x="4480560" y="4096512"/>
            <a:ext cx="329184" cy="329184"/>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55" name="Text 26">
            <a:extLst>
              <a:ext uri="{FF2B5EF4-FFF2-40B4-BE49-F238E27FC236}">
                <a16:creationId xmlns:a16="http://schemas.microsoft.com/office/drawing/2014/main" id="{28F79B54-684B-1ECB-963B-DAE0E7A392E7}"/>
              </a:ext>
            </a:extLst>
          </p:cNvPr>
          <p:cNvSpPr/>
          <p:nvPr/>
        </p:nvSpPr>
        <p:spPr>
          <a:xfrm>
            <a:off x="4480560" y="4498848"/>
            <a:ext cx="3246120" cy="594360"/>
          </a:xfrm>
          <a:prstGeom prst="rect">
            <a:avLst/>
          </a:prstGeom>
          <a:noFill/>
          <a:ln/>
        </p:spPr>
        <p:txBody>
          <a:bodyPr wrap="square" rtlCol="0" anchor="ctr"/>
          <a:lstStyle/>
          <a:p>
            <a:pPr marL="0" indent="0">
              <a:buNone/>
            </a:pPr>
            <a:r>
              <a:rPr lang="en-US" sz="1250" b="1" dirty="0">
                <a:solidFill>
                  <a:srgbClr val="0E3B36"/>
                </a:solidFill>
                <a:latin typeface="Georgia" pitchFamily="34" charset="0"/>
                <a:ea typeface="Georgia" pitchFamily="34" charset="-122"/>
                <a:cs typeface="Georgia" pitchFamily="34" charset="-120"/>
              </a:rPr>
              <a:t>Union status is a hidden third factor</a:t>
            </a:r>
            <a:endParaRPr lang="en-US" sz="1250" dirty="0"/>
          </a:p>
        </p:txBody>
      </p:sp>
      <p:sp>
        <p:nvSpPr>
          <p:cNvPr id="57" name="Text 27">
            <a:extLst>
              <a:ext uri="{FF2B5EF4-FFF2-40B4-BE49-F238E27FC236}">
                <a16:creationId xmlns:a16="http://schemas.microsoft.com/office/drawing/2014/main" id="{2093C8C9-9792-CA90-4AC4-F99E263A9FDF}"/>
              </a:ext>
            </a:extLst>
          </p:cNvPr>
          <p:cNvSpPr/>
          <p:nvPr/>
        </p:nvSpPr>
        <p:spPr>
          <a:xfrm>
            <a:off x="4480560" y="5074920"/>
            <a:ext cx="3246120" cy="868680"/>
          </a:xfrm>
          <a:prstGeom prst="rect">
            <a:avLst/>
          </a:prstGeom>
          <a:noFill/>
          <a:ln/>
        </p:spPr>
        <p:txBody>
          <a:bodyPr wrap="square" rtlCol="0" anchor="ctr"/>
          <a:lstStyle/>
          <a:p>
            <a:pPr marL="0" indent="0">
              <a:buNone/>
            </a:pPr>
            <a:r>
              <a:rPr lang="en-US" sz="1000" dirty="0">
                <a:solidFill>
                  <a:srgbClr val="1B2E2B"/>
                </a:solidFill>
                <a:latin typeface="Verdana" pitchFamily="34" charset="0"/>
                <a:ea typeface="Verdana" pitchFamily="34" charset="-122"/>
                <a:cs typeface="Verdana" pitchFamily="34" charset="-120"/>
              </a:rPr>
              <a:t>is_in_union is the 3rd-strongest categorical predictor (Cramér's V = 0.235), motivating a dedicated engineered feature.</a:t>
            </a:r>
            <a:endParaRPr lang="en-US" sz="1000" dirty="0"/>
          </a:p>
        </p:txBody>
      </p:sp>
      <p:sp>
        <p:nvSpPr>
          <p:cNvPr id="59" name="Shape 28">
            <a:extLst>
              <a:ext uri="{FF2B5EF4-FFF2-40B4-BE49-F238E27FC236}">
                <a16:creationId xmlns:a16="http://schemas.microsoft.com/office/drawing/2014/main" id="{A0A46B3B-EDD4-BD11-F07B-86708FDF0CF5}"/>
              </a:ext>
            </a:extLst>
          </p:cNvPr>
          <p:cNvSpPr/>
          <p:nvPr/>
        </p:nvSpPr>
        <p:spPr>
          <a:xfrm>
            <a:off x="8138160" y="3931920"/>
            <a:ext cx="3611880" cy="2148840"/>
          </a:xfrm>
          <a:prstGeom prst="roundRect">
            <a:avLst>
              <a:gd name="adj" fmla="val 4255"/>
            </a:avLst>
          </a:prstGeom>
          <a:solidFill>
            <a:srgbClr val="F6F3EC"/>
          </a:solidFill>
          <a:ln w="12700">
            <a:solidFill>
              <a:srgbClr val="D8DED9"/>
            </a:solidFill>
            <a:prstDash val="solid"/>
          </a:ln>
        </p:spPr>
        <p:txBody>
          <a:bodyPr/>
          <a:lstStyle/>
          <a:p>
            <a:endParaRPr lang="en-US"/>
          </a:p>
        </p:txBody>
      </p:sp>
      <p:sp>
        <p:nvSpPr>
          <p:cNvPr id="61" name="Shape 29">
            <a:extLst>
              <a:ext uri="{FF2B5EF4-FFF2-40B4-BE49-F238E27FC236}">
                <a16:creationId xmlns:a16="http://schemas.microsoft.com/office/drawing/2014/main" id="{DCFDB5EB-AB3B-6D1D-2EFE-ECA0D596E400}"/>
              </a:ext>
            </a:extLst>
          </p:cNvPr>
          <p:cNvSpPr/>
          <p:nvPr/>
        </p:nvSpPr>
        <p:spPr>
          <a:xfrm>
            <a:off x="8321040" y="4096512"/>
            <a:ext cx="329184" cy="329184"/>
          </a:xfrm>
          <a:prstGeom prst="roundRect">
            <a:avLst>
              <a:gd name="adj" fmla="val 50000"/>
            </a:avLst>
          </a:prstGeom>
          <a:solidFill>
            <a:srgbClr val="E2683F"/>
          </a:solidFill>
          <a:ln/>
        </p:spPr>
        <p:txBody>
          <a:bodyPr/>
          <a:lstStyle/>
          <a:p>
            <a:endParaRPr lang="en-US"/>
          </a:p>
        </p:txBody>
      </p:sp>
      <p:sp>
        <p:nvSpPr>
          <p:cNvPr id="63" name="Text 30">
            <a:extLst>
              <a:ext uri="{FF2B5EF4-FFF2-40B4-BE49-F238E27FC236}">
                <a16:creationId xmlns:a16="http://schemas.microsoft.com/office/drawing/2014/main" id="{BA37098A-5F7F-A7D2-D021-6FB11B395EA8}"/>
              </a:ext>
            </a:extLst>
          </p:cNvPr>
          <p:cNvSpPr/>
          <p:nvPr/>
        </p:nvSpPr>
        <p:spPr>
          <a:xfrm>
            <a:off x="8321040" y="4096512"/>
            <a:ext cx="329184" cy="329184"/>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6</a:t>
            </a:r>
            <a:endParaRPr lang="en-US" sz="1300" dirty="0"/>
          </a:p>
        </p:txBody>
      </p:sp>
      <p:sp>
        <p:nvSpPr>
          <p:cNvPr id="65" name="Text 31">
            <a:extLst>
              <a:ext uri="{FF2B5EF4-FFF2-40B4-BE49-F238E27FC236}">
                <a16:creationId xmlns:a16="http://schemas.microsoft.com/office/drawing/2014/main" id="{F33081E4-4CCC-B67E-B87E-0B4B5F6566F6}"/>
              </a:ext>
            </a:extLst>
          </p:cNvPr>
          <p:cNvSpPr/>
          <p:nvPr/>
        </p:nvSpPr>
        <p:spPr>
          <a:xfrm>
            <a:off x="8321040" y="4498848"/>
            <a:ext cx="3246120" cy="594360"/>
          </a:xfrm>
          <a:prstGeom prst="rect">
            <a:avLst/>
          </a:prstGeom>
          <a:noFill/>
          <a:ln/>
        </p:spPr>
        <p:txBody>
          <a:bodyPr wrap="square" rtlCol="0" anchor="ctr"/>
          <a:lstStyle/>
          <a:p>
            <a:pPr marL="0" indent="0">
              <a:buNone/>
            </a:pPr>
            <a:r>
              <a:rPr lang="en-US" sz="1250" b="1" dirty="0">
                <a:solidFill>
                  <a:srgbClr val="0E3B36"/>
                </a:solidFill>
                <a:latin typeface="Georgia" pitchFamily="34" charset="0"/>
                <a:ea typeface="Georgia" pitchFamily="34" charset="-122"/>
                <a:cs typeface="Georgia" pitchFamily="34" charset="-120"/>
              </a:rPr>
              <a:t>Class imbalance is a structural, not modelling, limit</a:t>
            </a:r>
            <a:endParaRPr lang="en-US" sz="1250" dirty="0"/>
          </a:p>
        </p:txBody>
      </p:sp>
      <p:sp>
        <p:nvSpPr>
          <p:cNvPr id="67" name="Text 32">
            <a:extLst>
              <a:ext uri="{FF2B5EF4-FFF2-40B4-BE49-F238E27FC236}">
                <a16:creationId xmlns:a16="http://schemas.microsoft.com/office/drawing/2014/main" id="{A4269DAA-BB1A-3932-AEBC-08B7AE8C52EB}"/>
              </a:ext>
            </a:extLst>
          </p:cNvPr>
          <p:cNvSpPr/>
          <p:nvPr/>
        </p:nvSpPr>
        <p:spPr>
          <a:xfrm>
            <a:off x="8321040" y="5074920"/>
            <a:ext cx="3246120" cy="868680"/>
          </a:xfrm>
          <a:prstGeom prst="rect">
            <a:avLst/>
          </a:prstGeom>
          <a:noFill/>
          <a:ln/>
        </p:spPr>
        <p:txBody>
          <a:bodyPr wrap="square" rtlCol="0" anchor="ctr"/>
          <a:lstStyle/>
          <a:p>
            <a:pPr marL="0" indent="0">
              <a:buNone/>
            </a:pPr>
            <a:r>
              <a:rPr lang="en-US" sz="1000" dirty="0">
                <a:solidFill>
                  <a:srgbClr val="1B2E2B"/>
                </a:solidFill>
                <a:latin typeface="Verdana" pitchFamily="34" charset="0"/>
                <a:ea typeface="Verdana" pitchFamily="34" charset="-122"/>
                <a:cs typeface="Verdana" pitchFamily="34" charset="-120"/>
              </a:rPr>
              <a:t>All five architectures — linear, ensemble, and two deep-learning designs — converge near-zero recall on Folkloric and Traditional use.</a:t>
            </a:r>
            <a:endParaRPr lang="en-US" sz="1000" dirty="0"/>
          </a:p>
        </p:txBody>
      </p:sp>
      <p:sp>
        <p:nvSpPr>
          <p:cNvPr id="69" name="Text 33">
            <a:extLst>
              <a:ext uri="{FF2B5EF4-FFF2-40B4-BE49-F238E27FC236}">
                <a16:creationId xmlns:a16="http://schemas.microsoft.com/office/drawing/2014/main" id="{4FF5A0A5-271B-9ACC-4C71-E7214370EBB4}"/>
              </a:ext>
            </a:extLst>
          </p:cNvPr>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Verdana" pitchFamily="34" charset="0"/>
                <a:ea typeface="Verdana" pitchFamily="34" charset="-122"/>
                <a:cs typeface="Verdana" pitchFamily="34" charset="-120"/>
              </a:rPr>
              <a:t>The Insight Architects — </a:t>
            </a:r>
            <a:r>
              <a:rPr lang="en-US" sz="900">
                <a:solidFill>
                  <a:srgbClr val="5C6E6A"/>
                </a:solidFill>
                <a:latin typeface="Verdana" pitchFamily="34" charset="0"/>
                <a:ea typeface="Verdana" pitchFamily="34" charset="-122"/>
                <a:cs typeface="Verdana" pitchFamily="34" charset="-120"/>
              </a:rPr>
              <a:t>KDHS 2022 </a:t>
            </a:r>
            <a:r>
              <a:rPr lang="en-US" sz="900" dirty="0">
                <a:solidFill>
                  <a:srgbClr val="5C6E6A"/>
                </a:solidFill>
                <a:latin typeface="Verdana" pitchFamily="34" charset="0"/>
                <a:ea typeface="Verdana" pitchFamily="34" charset="-122"/>
                <a:cs typeface="Verdana" pitchFamily="34" charset="-120"/>
              </a:rPr>
              <a:t>Capstone</a:t>
            </a:r>
            <a:endParaRPr lang="en-US" sz="900" dirty="0"/>
          </a:p>
        </p:txBody>
      </p:sp>
      <p:sp>
        <p:nvSpPr>
          <p:cNvPr id="71" name="Text 34">
            <a:extLst>
              <a:ext uri="{FF2B5EF4-FFF2-40B4-BE49-F238E27FC236}">
                <a16:creationId xmlns:a16="http://schemas.microsoft.com/office/drawing/2014/main" id="{DCEDCA18-E266-07AF-D2EE-6F451E3357FD}"/>
              </a:ext>
            </a:extLst>
          </p:cNvPr>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20 / 23</a:t>
            </a:r>
            <a:endParaRPr lang="en-US" sz="900" dirty="0">
              <a:latin typeface="Georgia" panose="02040502050405020303" pitchFamily="18" charset="0"/>
            </a:endParaRPr>
          </a:p>
        </p:txBody>
      </p:sp>
    </p:spTree>
    <p:extLst>
      <p:ext uri="{BB962C8B-B14F-4D97-AF65-F5344CB8AC3E}">
        <p14:creationId xmlns:p14="http://schemas.microsoft.com/office/powerpoint/2010/main" val="30804067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marL="0" indent="0">
              <a:buNone/>
            </a:pPr>
            <a:r>
              <a:rPr lang="en-US" sz="1100" b="1" kern="0" spc="200" dirty="0">
                <a:solidFill>
                  <a:srgbClr val="E2683F"/>
                </a:solidFill>
                <a:latin typeface="Georgia" panose="02040502050405020303" pitchFamily="18" charset="0"/>
                <a:ea typeface="Verdana" pitchFamily="34" charset="-122"/>
                <a:cs typeface="Verdana" pitchFamily="34" charset="-120"/>
              </a:rPr>
              <a:t>DEPLOYMENT</a:t>
            </a:r>
            <a:endParaRPr lang="en-US" sz="1100" dirty="0">
              <a:latin typeface="Georgia" panose="02040502050405020303" pitchFamily="18" charset="0"/>
            </a:endParaRPr>
          </a:p>
        </p:txBody>
      </p:sp>
      <p:sp>
        <p:nvSpPr>
          <p:cNvPr id="3" name="Text 1"/>
          <p:cNvSpPr/>
          <p:nvPr/>
        </p:nvSpPr>
        <p:spPr>
          <a:xfrm>
            <a:off x="548640" y="411480"/>
            <a:ext cx="11064240" cy="822960"/>
          </a:xfrm>
          <a:prstGeom prst="rect">
            <a:avLst/>
          </a:prstGeom>
          <a:noFill/>
          <a:ln/>
        </p:spPr>
        <p:txBody>
          <a:bodyPr wrap="square" rtlCol="0" anchor="ctr"/>
          <a:lstStyle/>
          <a:p>
            <a:pPr marL="0" indent="0" algn="l">
              <a:buNone/>
            </a:pPr>
            <a:r>
              <a:rPr lang="en-US" sz="3000" b="1" dirty="0">
                <a:solidFill>
                  <a:srgbClr val="0E3B36"/>
                </a:solidFill>
                <a:latin typeface="Georgia" pitchFamily="34" charset="0"/>
                <a:ea typeface="Georgia" pitchFamily="34" charset="-122"/>
                <a:cs typeface="Georgia" pitchFamily="34" charset="-120"/>
              </a:rPr>
              <a:t>The Live API</a:t>
            </a:r>
            <a:endParaRPr lang="en-US" sz="3000" dirty="0"/>
          </a:p>
        </p:txBody>
      </p:sp>
      <p:sp>
        <p:nvSpPr>
          <p:cNvPr id="4" name="Text 2"/>
          <p:cNvSpPr/>
          <p:nvPr/>
        </p:nvSpPr>
        <p:spPr>
          <a:xfrm>
            <a:off x="548640" y="1097280"/>
            <a:ext cx="10515600" cy="457200"/>
          </a:xfrm>
          <a:prstGeom prst="rect">
            <a:avLst/>
          </a:prstGeom>
          <a:noFill/>
          <a:ln/>
        </p:spPr>
        <p:txBody>
          <a:bodyPr wrap="square" rtlCol="0" anchor="ctr"/>
          <a:lstStyle/>
          <a:p>
            <a:pPr marL="0" indent="0">
              <a:buNone/>
            </a:pPr>
            <a:r>
              <a:rPr lang="en-US" sz="1600" b="1" dirty="0">
                <a:solidFill>
                  <a:srgbClr val="E2683F"/>
                </a:solidFill>
                <a:latin typeface="Georgia" panose="02040502050405020303" pitchFamily="18" charset="0"/>
                <a:ea typeface="Verdana" pitchFamily="34" charset="-122"/>
                <a:cs typeface="Verdana" pitchFamily="34" charset="-120"/>
                <a:hlinkClick r:id="rId3" action="ppaction://hlinksldjump"/>
              </a:rPr>
              <a:t>kdhs-contraceptive-api.onrender.com</a:t>
            </a:r>
            <a:endParaRPr lang="en-US" sz="1600" dirty="0">
              <a:latin typeface="Georgia" panose="02040502050405020303" pitchFamily="18" charset="0"/>
            </a:endParaRPr>
          </a:p>
        </p:txBody>
      </p:sp>
      <p:sp>
        <p:nvSpPr>
          <p:cNvPr id="5" name="Shape 3"/>
          <p:cNvSpPr/>
          <p:nvPr/>
        </p:nvSpPr>
        <p:spPr>
          <a:xfrm>
            <a:off x="548640" y="2011680"/>
            <a:ext cx="2057400" cy="1005840"/>
          </a:xfrm>
          <a:prstGeom prst="roundRect">
            <a:avLst>
              <a:gd name="adj" fmla="val 7273"/>
            </a:avLst>
          </a:prstGeom>
          <a:solidFill>
            <a:srgbClr val="0E3B36"/>
          </a:solidFill>
          <a:ln/>
        </p:spPr>
        <p:txBody>
          <a:bodyPr/>
          <a:lstStyle/>
          <a:p>
            <a:endParaRPr lang="en-US"/>
          </a:p>
        </p:txBody>
      </p:sp>
      <p:sp>
        <p:nvSpPr>
          <p:cNvPr id="6" name="Text 4"/>
          <p:cNvSpPr/>
          <p:nvPr/>
        </p:nvSpPr>
        <p:spPr>
          <a:xfrm>
            <a:off x="621792" y="2011680"/>
            <a:ext cx="1911096" cy="1005840"/>
          </a:xfrm>
          <a:prstGeom prst="rect">
            <a:avLst/>
          </a:prstGeom>
          <a:noFill/>
          <a:ln/>
        </p:spPr>
        <p:txBody>
          <a:bodyPr wrap="square" rtlCol="0" anchor="ctr"/>
          <a:lstStyle/>
          <a:p>
            <a:pPr marL="0" indent="0" algn="ctr">
              <a:buNone/>
            </a:pPr>
            <a:r>
              <a:rPr lang="en-US" sz="1000" dirty="0">
                <a:solidFill>
                  <a:srgbClr val="FFFFFF"/>
                </a:solidFill>
                <a:latin typeface="Georgia" panose="02040502050405020303" pitchFamily="18" charset="0"/>
                <a:ea typeface="Verdana" pitchFamily="34" charset="-122"/>
                <a:cs typeface="Verdana" pitchFamily="34" charset="-120"/>
              </a:rPr>
              <a:t>Respondent JSON record</a:t>
            </a:r>
            <a:endParaRPr lang="en-US" sz="1000" dirty="0">
              <a:latin typeface="Georgia" panose="02040502050405020303" pitchFamily="18" charset="0"/>
            </a:endParaRPr>
          </a:p>
        </p:txBody>
      </p:sp>
      <p:sp>
        <p:nvSpPr>
          <p:cNvPr id="7" name="Text 5"/>
          <p:cNvSpPr/>
          <p:nvPr/>
        </p:nvSpPr>
        <p:spPr>
          <a:xfrm>
            <a:off x="2587752" y="2240280"/>
            <a:ext cx="502920" cy="548640"/>
          </a:xfrm>
          <a:prstGeom prst="rect">
            <a:avLst/>
          </a:prstGeom>
          <a:noFill/>
          <a:ln/>
        </p:spPr>
        <p:txBody>
          <a:bodyPr wrap="square" rtlCol="0" anchor="ctr"/>
          <a:lstStyle/>
          <a:p>
            <a:pPr marL="0" indent="0" algn="ctr">
              <a:buNone/>
            </a:pPr>
            <a:r>
              <a:rPr lang="en-US" sz="1600" b="1" dirty="0">
                <a:solidFill>
                  <a:srgbClr val="D9A441"/>
                </a:solidFill>
                <a:latin typeface="Verdana" pitchFamily="34" charset="0"/>
                <a:ea typeface="Verdana" pitchFamily="34" charset="-122"/>
                <a:cs typeface="Verdana" pitchFamily="34" charset="-120"/>
              </a:rPr>
              <a:t>→</a:t>
            </a:r>
            <a:endParaRPr lang="en-US" sz="1600" dirty="0"/>
          </a:p>
        </p:txBody>
      </p:sp>
      <p:sp>
        <p:nvSpPr>
          <p:cNvPr id="8" name="Shape 6"/>
          <p:cNvSpPr/>
          <p:nvPr/>
        </p:nvSpPr>
        <p:spPr>
          <a:xfrm>
            <a:off x="2834640" y="2011680"/>
            <a:ext cx="2057400" cy="1005840"/>
          </a:xfrm>
          <a:prstGeom prst="roundRect">
            <a:avLst>
              <a:gd name="adj" fmla="val 7273"/>
            </a:avLst>
          </a:prstGeom>
          <a:solidFill>
            <a:srgbClr val="0E3B36"/>
          </a:solidFill>
          <a:ln/>
        </p:spPr>
        <p:txBody>
          <a:bodyPr/>
          <a:lstStyle/>
          <a:p>
            <a:endParaRPr lang="en-US"/>
          </a:p>
        </p:txBody>
      </p:sp>
      <p:sp>
        <p:nvSpPr>
          <p:cNvPr id="9" name="Text 7"/>
          <p:cNvSpPr/>
          <p:nvPr/>
        </p:nvSpPr>
        <p:spPr>
          <a:xfrm>
            <a:off x="2907792" y="2011680"/>
            <a:ext cx="1911096" cy="1005840"/>
          </a:xfrm>
          <a:prstGeom prst="rect">
            <a:avLst/>
          </a:prstGeom>
          <a:noFill/>
          <a:ln/>
        </p:spPr>
        <p:txBody>
          <a:bodyPr wrap="square" rtlCol="0" anchor="ctr"/>
          <a:lstStyle/>
          <a:p>
            <a:pPr marL="0" indent="0" algn="ctr">
              <a:buNone/>
            </a:pPr>
            <a:r>
              <a:rPr lang="en-US" sz="1000" dirty="0">
                <a:solidFill>
                  <a:srgbClr val="FFFFFF"/>
                </a:solidFill>
                <a:latin typeface="Georgia" panose="02040502050405020303" pitchFamily="18" charset="0"/>
                <a:ea typeface="Verdana" pitchFamily="34" charset="-122"/>
                <a:cs typeface="Verdana" pitchFamily="34" charset="-120"/>
              </a:rPr>
              <a:t>engineer_features() (shared module)</a:t>
            </a:r>
            <a:endParaRPr lang="en-US" sz="1000" dirty="0">
              <a:latin typeface="Georgia" panose="02040502050405020303" pitchFamily="18" charset="0"/>
            </a:endParaRPr>
          </a:p>
        </p:txBody>
      </p:sp>
      <p:sp>
        <p:nvSpPr>
          <p:cNvPr id="10" name="Text 8"/>
          <p:cNvSpPr/>
          <p:nvPr/>
        </p:nvSpPr>
        <p:spPr>
          <a:xfrm>
            <a:off x="4873752" y="2240280"/>
            <a:ext cx="502920" cy="548640"/>
          </a:xfrm>
          <a:prstGeom prst="rect">
            <a:avLst/>
          </a:prstGeom>
          <a:noFill/>
          <a:ln/>
        </p:spPr>
        <p:txBody>
          <a:bodyPr wrap="square" rtlCol="0" anchor="ctr"/>
          <a:lstStyle/>
          <a:p>
            <a:pPr marL="0" indent="0" algn="ctr">
              <a:buNone/>
            </a:pPr>
            <a:r>
              <a:rPr lang="en-US" sz="1600" b="1" dirty="0">
                <a:solidFill>
                  <a:srgbClr val="D9A441"/>
                </a:solidFill>
                <a:latin typeface="Verdana" pitchFamily="34" charset="0"/>
                <a:ea typeface="Verdana" pitchFamily="34" charset="-122"/>
                <a:cs typeface="Verdana" pitchFamily="34" charset="-120"/>
              </a:rPr>
              <a:t>→</a:t>
            </a:r>
            <a:endParaRPr lang="en-US" sz="1600" dirty="0"/>
          </a:p>
        </p:txBody>
      </p:sp>
      <p:sp>
        <p:nvSpPr>
          <p:cNvPr id="11" name="Shape 9"/>
          <p:cNvSpPr/>
          <p:nvPr/>
        </p:nvSpPr>
        <p:spPr>
          <a:xfrm>
            <a:off x="5120640" y="2011680"/>
            <a:ext cx="2057400" cy="1005840"/>
          </a:xfrm>
          <a:prstGeom prst="roundRect">
            <a:avLst>
              <a:gd name="adj" fmla="val 7273"/>
            </a:avLst>
          </a:prstGeom>
          <a:solidFill>
            <a:srgbClr val="0E3B36"/>
          </a:solidFill>
          <a:ln/>
        </p:spPr>
        <p:txBody>
          <a:bodyPr/>
          <a:lstStyle/>
          <a:p>
            <a:endParaRPr lang="en-US"/>
          </a:p>
        </p:txBody>
      </p:sp>
      <p:sp>
        <p:nvSpPr>
          <p:cNvPr id="12" name="Text 10"/>
          <p:cNvSpPr/>
          <p:nvPr/>
        </p:nvSpPr>
        <p:spPr>
          <a:xfrm>
            <a:off x="5193792" y="2011680"/>
            <a:ext cx="1911096" cy="1005840"/>
          </a:xfrm>
          <a:prstGeom prst="rect">
            <a:avLst/>
          </a:prstGeom>
          <a:noFill/>
          <a:ln/>
        </p:spPr>
        <p:txBody>
          <a:bodyPr wrap="square" rtlCol="0" anchor="ctr"/>
          <a:lstStyle/>
          <a:p>
            <a:pPr marL="0" indent="0" algn="ctr">
              <a:buNone/>
            </a:pPr>
            <a:r>
              <a:rPr lang="en-US" sz="1000" dirty="0">
                <a:solidFill>
                  <a:srgbClr val="FFFFFF"/>
                </a:solidFill>
                <a:latin typeface="Georgia" panose="02040502050405020303" pitchFamily="18" charset="0"/>
                <a:ea typeface="Verdana" pitchFamily="34" charset="-122"/>
                <a:cs typeface="Verdana" pitchFamily="34" charset="-120"/>
              </a:rPr>
              <a:t>Preprocessing (scaler + encoder)</a:t>
            </a:r>
            <a:endParaRPr lang="en-US" sz="1000" dirty="0">
              <a:latin typeface="Georgia" panose="02040502050405020303" pitchFamily="18" charset="0"/>
            </a:endParaRPr>
          </a:p>
        </p:txBody>
      </p:sp>
      <p:sp>
        <p:nvSpPr>
          <p:cNvPr id="13" name="Text 11"/>
          <p:cNvSpPr/>
          <p:nvPr/>
        </p:nvSpPr>
        <p:spPr>
          <a:xfrm>
            <a:off x="7159752" y="2240280"/>
            <a:ext cx="502920" cy="548640"/>
          </a:xfrm>
          <a:prstGeom prst="rect">
            <a:avLst/>
          </a:prstGeom>
          <a:noFill/>
          <a:ln/>
        </p:spPr>
        <p:txBody>
          <a:bodyPr wrap="square" rtlCol="0" anchor="ctr"/>
          <a:lstStyle/>
          <a:p>
            <a:pPr marL="0" indent="0" algn="ctr">
              <a:buNone/>
            </a:pPr>
            <a:r>
              <a:rPr lang="en-US" sz="1600" b="1" dirty="0">
                <a:solidFill>
                  <a:srgbClr val="D9A441"/>
                </a:solidFill>
                <a:latin typeface="Verdana" pitchFamily="34" charset="0"/>
                <a:ea typeface="Verdana" pitchFamily="34" charset="-122"/>
                <a:cs typeface="Verdana" pitchFamily="34" charset="-120"/>
              </a:rPr>
              <a:t>→</a:t>
            </a:r>
            <a:endParaRPr lang="en-US" sz="1600" dirty="0"/>
          </a:p>
        </p:txBody>
      </p:sp>
      <p:sp>
        <p:nvSpPr>
          <p:cNvPr id="14" name="Shape 12"/>
          <p:cNvSpPr/>
          <p:nvPr/>
        </p:nvSpPr>
        <p:spPr>
          <a:xfrm>
            <a:off x="7406640" y="2011680"/>
            <a:ext cx="2057400" cy="1005840"/>
          </a:xfrm>
          <a:prstGeom prst="roundRect">
            <a:avLst>
              <a:gd name="adj" fmla="val 7273"/>
            </a:avLst>
          </a:prstGeom>
          <a:solidFill>
            <a:srgbClr val="0E3B36"/>
          </a:solidFill>
          <a:ln/>
        </p:spPr>
        <p:txBody>
          <a:bodyPr/>
          <a:lstStyle/>
          <a:p>
            <a:endParaRPr lang="en-US"/>
          </a:p>
        </p:txBody>
      </p:sp>
      <p:sp>
        <p:nvSpPr>
          <p:cNvPr id="15" name="Text 13"/>
          <p:cNvSpPr/>
          <p:nvPr/>
        </p:nvSpPr>
        <p:spPr>
          <a:xfrm>
            <a:off x="7479792" y="2011680"/>
            <a:ext cx="1911096" cy="1005840"/>
          </a:xfrm>
          <a:prstGeom prst="rect">
            <a:avLst/>
          </a:prstGeom>
          <a:noFill/>
          <a:ln/>
        </p:spPr>
        <p:txBody>
          <a:bodyPr wrap="square" rtlCol="0" anchor="ctr"/>
          <a:lstStyle/>
          <a:p>
            <a:pPr marL="0" indent="0" algn="ctr">
              <a:buNone/>
            </a:pPr>
            <a:r>
              <a:rPr lang="en-US" sz="1000" dirty="0">
                <a:solidFill>
                  <a:srgbClr val="FFFFFF"/>
                </a:solidFill>
                <a:latin typeface="Georgia" panose="02040502050405020303" pitchFamily="18" charset="0"/>
                <a:ea typeface="Verdana" pitchFamily="34" charset="-122"/>
                <a:cs typeface="Verdana" pitchFamily="34" charset="-120"/>
              </a:rPr>
              <a:t>LightGBM prediction</a:t>
            </a:r>
            <a:endParaRPr lang="en-US" sz="1000" dirty="0">
              <a:latin typeface="Georgia" panose="02040502050405020303" pitchFamily="18" charset="0"/>
            </a:endParaRPr>
          </a:p>
        </p:txBody>
      </p:sp>
      <p:sp>
        <p:nvSpPr>
          <p:cNvPr id="16" name="Text 14"/>
          <p:cNvSpPr/>
          <p:nvPr/>
        </p:nvSpPr>
        <p:spPr>
          <a:xfrm>
            <a:off x="9445752" y="2240280"/>
            <a:ext cx="502920" cy="548640"/>
          </a:xfrm>
          <a:prstGeom prst="rect">
            <a:avLst/>
          </a:prstGeom>
          <a:noFill/>
          <a:ln/>
        </p:spPr>
        <p:txBody>
          <a:bodyPr wrap="square" rtlCol="0" anchor="ctr"/>
          <a:lstStyle/>
          <a:p>
            <a:pPr marL="0" indent="0" algn="ctr">
              <a:buNone/>
            </a:pPr>
            <a:r>
              <a:rPr lang="en-US" sz="1600" b="1" dirty="0">
                <a:solidFill>
                  <a:srgbClr val="D9A441"/>
                </a:solidFill>
                <a:latin typeface="Verdana" pitchFamily="34" charset="0"/>
                <a:ea typeface="Verdana" pitchFamily="34" charset="-122"/>
                <a:cs typeface="Verdana" pitchFamily="34" charset="-120"/>
              </a:rPr>
              <a:t>→</a:t>
            </a:r>
            <a:endParaRPr lang="en-US" sz="1600" dirty="0"/>
          </a:p>
        </p:txBody>
      </p:sp>
      <p:sp>
        <p:nvSpPr>
          <p:cNvPr id="17" name="Shape 15"/>
          <p:cNvSpPr/>
          <p:nvPr/>
        </p:nvSpPr>
        <p:spPr>
          <a:xfrm>
            <a:off x="9692640" y="2011680"/>
            <a:ext cx="2057400" cy="1005840"/>
          </a:xfrm>
          <a:prstGeom prst="roundRect">
            <a:avLst>
              <a:gd name="adj" fmla="val 7273"/>
            </a:avLst>
          </a:prstGeom>
          <a:solidFill>
            <a:srgbClr val="E2683F"/>
          </a:solidFill>
          <a:ln/>
        </p:spPr>
        <p:txBody>
          <a:bodyPr/>
          <a:lstStyle/>
          <a:p>
            <a:endParaRPr lang="en-US"/>
          </a:p>
        </p:txBody>
      </p:sp>
      <p:sp>
        <p:nvSpPr>
          <p:cNvPr id="18" name="Text 16"/>
          <p:cNvSpPr/>
          <p:nvPr/>
        </p:nvSpPr>
        <p:spPr>
          <a:xfrm>
            <a:off x="9765792" y="2011680"/>
            <a:ext cx="1911096" cy="1005840"/>
          </a:xfrm>
          <a:prstGeom prst="rect">
            <a:avLst/>
          </a:prstGeom>
          <a:noFill/>
          <a:ln/>
        </p:spPr>
        <p:txBody>
          <a:bodyPr wrap="square" rtlCol="0" anchor="ctr"/>
          <a:lstStyle/>
          <a:p>
            <a:pPr marL="0" indent="0" algn="ctr">
              <a:buNone/>
            </a:pPr>
            <a:r>
              <a:rPr lang="en-US" sz="1000" dirty="0">
                <a:solidFill>
                  <a:srgbClr val="FFFFFF"/>
                </a:solidFill>
                <a:latin typeface="Georgia" panose="02040502050405020303" pitchFamily="18" charset="0"/>
                <a:ea typeface="Verdana" pitchFamily="34" charset="-122"/>
                <a:cs typeface="Verdana" pitchFamily="34" charset="-120"/>
              </a:rPr>
              <a:t>API response: class + probabilities + risk_flag</a:t>
            </a:r>
            <a:endParaRPr lang="en-US" sz="1000" dirty="0">
              <a:latin typeface="Georgia" panose="02040502050405020303" pitchFamily="18" charset="0"/>
            </a:endParaRPr>
          </a:p>
        </p:txBody>
      </p:sp>
      <p:sp>
        <p:nvSpPr>
          <p:cNvPr id="19" name="Text 17"/>
          <p:cNvSpPr/>
          <p:nvPr/>
        </p:nvSpPr>
        <p:spPr>
          <a:xfrm>
            <a:off x="548640" y="3429000"/>
            <a:ext cx="10515600" cy="548640"/>
          </a:xfrm>
          <a:prstGeom prst="rect">
            <a:avLst/>
          </a:prstGeom>
          <a:noFill/>
          <a:ln/>
        </p:spPr>
        <p:txBody>
          <a:bodyPr wrap="square" rtlCol="0" anchor="ctr"/>
          <a:lstStyle/>
          <a:p>
            <a:pPr marL="0" indent="0">
              <a:buNone/>
            </a:pPr>
            <a:r>
              <a:rPr lang="en-US" sz="1600" i="1" dirty="0">
                <a:solidFill>
                  <a:srgbClr val="0E3B36"/>
                </a:solidFill>
                <a:latin typeface="Georgia" pitchFamily="34" charset="0"/>
                <a:ea typeface="Georgia" pitchFamily="34" charset="-122"/>
                <a:cs typeface="Georgia" pitchFamily="34" charset="-120"/>
              </a:rPr>
              <a:t>"A county health officer can get a prediction from a browser — no code required."</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2215218491"/>
              </p:ext>
            </p:extLst>
          </p:nvPr>
        </p:nvGraphicFramePr>
        <p:xfrm>
          <a:off x="548640" y="4160520"/>
          <a:ext cx="10881360" cy="2194560"/>
        </p:xfrm>
        <a:graphic>
          <a:graphicData uri="http://schemas.openxmlformats.org/drawingml/2006/table">
            <a:tbl>
              <a:tblPr/>
              <a:tblGrid>
                <a:gridCol w="2926080">
                  <a:extLst>
                    <a:ext uri="{9D8B030D-6E8A-4147-A177-3AD203B41FA5}">
                      <a16:colId xmlns:a16="http://schemas.microsoft.com/office/drawing/2014/main" val="20000"/>
                    </a:ext>
                  </a:extLst>
                </a:gridCol>
                <a:gridCol w="7955280">
                  <a:extLst>
                    <a:ext uri="{9D8B030D-6E8A-4147-A177-3AD203B41FA5}">
                      <a16:colId xmlns:a16="http://schemas.microsoft.com/office/drawing/2014/main" val="20001"/>
                    </a:ext>
                  </a:extLst>
                </a:gridCol>
              </a:tblGrid>
              <a:tr h="438912">
                <a:tc>
                  <a:txBody>
                    <a:bodyPr/>
                    <a:lstStyle/>
                    <a:p>
                      <a:pPr marL="0" indent="0">
                        <a:buNone/>
                      </a:pPr>
                      <a:r>
                        <a:rPr lang="en-US" sz="1600" b="1" dirty="0">
                          <a:solidFill>
                            <a:srgbClr val="FFFFFF"/>
                          </a:solidFill>
                          <a:latin typeface="Georgia" panose="02040502050405020303" pitchFamily="18" charset="0"/>
                          <a:ea typeface="Verdana" pitchFamily="34" charset="-122"/>
                          <a:cs typeface="Verdana" pitchFamily="34" charset="-120"/>
                        </a:rPr>
                        <a:t>Endpoint</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tc>
                  <a:txBody>
                    <a:bodyPr/>
                    <a:lstStyle/>
                    <a:p>
                      <a:pPr marL="0" indent="0">
                        <a:buNone/>
                      </a:pPr>
                      <a:r>
                        <a:rPr lang="en-US" sz="1600" b="1" dirty="0">
                          <a:solidFill>
                            <a:srgbClr val="FFFFFF"/>
                          </a:solidFill>
                          <a:latin typeface="Georgia" panose="02040502050405020303" pitchFamily="18" charset="0"/>
                          <a:ea typeface="Verdana" pitchFamily="34" charset="-122"/>
                          <a:cs typeface="Verdana" pitchFamily="34" charset="-120"/>
                        </a:rPr>
                        <a:t>What it does</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solidFill>
                      <a:srgbClr val="0E3B36"/>
                    </a:solidFill>
                  </a:tcPr>
                </a:tc>
                <a:extLst>
                  <a:ext uri="{0D108BD9-81ED-4DB2-BD59-A6C34878D82A}">
                    <a16:rowId xmlns:a16="http://schemas.microsoft.com/office/drawing/2014/main" val="10000"/>
                  </a:ext>
                </a:extLst>
              </a:tr>
              <a:tr h="438912">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GET  /</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Opens the HTML form for manual predictions</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GET  /health</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Confirms the server is running and the model is loaded</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POST /predict</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Accepts one respondent record, returns prediction + probabilities</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POST /predict_batch</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tc>
                  <a:txBody>
                    <a:bodyPr/>
                    <a:lstStyle/>
                    <a:p>
                      <a:pPr marL="0" indent="0">
                        <a:buNone/>
                      </a:pPr>
                      <a:r>
                        <a:rPr lang="en-US" sz="1600" dirty="0">
                          <a:solidFill>
                            <a:srgbClr val="1B2E2B"/>
                          </a:solidFill>
                          <a:latin typeface="Georgia" panose="02040502050405020303" pitchFamily="18" charset="0"/>
                          <a:ea typeface="Verdana" pitchFamily="34" charset="-122"/>
                          <a:cs typeface="Verdana" pitchFamily="34" charset="-120"/>
                        </a:rPr>
                        <a:t>Accepts a list of respondent records, returns a list of predictions</a:t>
                      </a:r>
                      <a:endParaRPr lang="en-US" sz="1600" dirty="0">
                        <a:latin typeface="Georgia" panose="02040502050405020303" pitchFamily="18" charset="0"/>
                        <a:ea typeface="Verdana" charset="0"/>
                        <a:cs typeface="Verdana" charset="0"/>
                      </a:endParaRPr>
                    </a:p>
                  </a:txBody>
                  <a:tcPr anchor="ctr">
                    <a:lnL w="9525" cap="flat" cmpd="sng" algn="ctr">
                      <a:solidFill>
                        <a:srgbClr val="D8DED9"/>
                      </a:solidFill>
                      <a:prstDash val="solid"/>
                      <a:round/>
                      <a:headEnd type="none" w="med" len="med"/>
                      <a:tailEnd type="none" w="med" len="med"/>
                    </a:lnL>
                    <a:lnR w="9525" cap="flat" cmpd="sng" algn="ctr">
                      <a:solidFill>
                        <a:srgbClr val="D8DED9"/>
                      </a:solidFill>
                      <a:prstDash val="solid"/>
                      <a:round/>
                      <a:headEnd type="none" w="med" len="med"/>
                      <a:tailEnd type="none" w="med" len="med"/>
                    </a:lnR>
                    <a:lnT w="9525" cap="flat" cmpd="sng" algn="ctr">
                      <a:solidFill>
                        <a:srgbClr val="D8DED9"/>
                      </a:solidFill>
                      <a:prstDash val="solid"/>
                      <a:round/>
                      <a:headEnd type="none" w="med" len="med"/>
                      <a:tailEnd type="none" w="med" len="med"/>
                    </a:lnT>
                    <a:lnB w="9525" cap="flat" cmpd="sng" algn="ctr">
                      <a:solidFill>
                        <a:srgbClr val="D8DE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1" name="Text 18"/>
          <p:cNvSpPr/>
          <p:nvPr/>
        </p:nvSpPr>
        <p:spPr>
          <a:xfrm>
            <a:off x="548640" y="6473952"/>
            <a:ext cx="7315200" cy="274320"/>
          </a:xfrm>
          <a:prstGeom prst="rect">
            <a:avLst/>
          </a:prstGeom>
          <a:noFill/>
          <a:ln/>
        </p:spPr>
        <p:txBody>
          <a:bodyPr wrap="square" rtlCol="0" anchor="ctr"/>
          <a:lstStyle/>
          <a:p>
            <a:pPr marL="0" indent="0">
              <a:buNone/>
            </a:pPr>
            <a:r>
              <a:rPr lang="en-US" sz="900" dirty="0">
                <a:solidFill>
                  <a:srgbClr val="5C6E6A"/>
                </a:solidFill>
                <a:latin typeface="Georgia" panose="02040502050405020303" pitchFamily="18" charset="0"/>
                <a:ea typeface="Verdana" pitchFamily="34" charset="-122"/>
                <a:cs typeface="Verdana" pitchFamily="34" charset="-120"/>
              </a:rPr>
              <a:t>The Insight Architects — </a:t>
            </a:r>
            <a:r>
              <a:rPr lang="en-US" sz="900">
                <a:solidFill>
                  <a:srgbClr val="5C6E6A"/>
                </a:solidFill>
                <a:latin typeface="Georgia" panose="02040502050405020303" pitchFamily="18" charset="0"/>
                <a:ea typeface="Verdana" pitchFamily="34" charset="-122"/>
                <a:cs typeface="Verdana" pitchFamily="34" charset="-120"/>
              </a:rPr>
              <a:t>KDHS 2022 </a:t>
            </a:r>
            <a:r>
              <a:rPr lang="en-US" sz="900" dirty="0">
                <a:solidFill>
                  <a:srgbClr val="5C6E6A"/>
                </a:solidFill>
                <a:latin typeface="Georgia" panose="02040502050405020303" pitchFamily="18" charset="0"/>
                <a:ea typeface="Verdana" pitchFamily="34" charset="-122"/>
                <a:cs typeface="Verdana" pitchFamily="34" charset="-120"/>
              </a:rPr>
              <a:t>Capstone</a:t>
            </a:r>
            <a:endParaRPr lang="en-US" sz="900" dirty="0">
              <a:latin typeface="Georgia" panose="02040502050405020303" pitchFamily="18" charset="0"/>
            </a:endParaRPr>
          </a:p>
        </p:txBody>
      </p:sp>
      <p:sp>
        <p:nvSpPr>
          <p:cNvPr id="22" name="Text 19"/>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21 /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3" name="Text 0">
            <a:extLst>
              <a:ext uri="{FF2B5EF4-FFF2-40B4-BE49-F238E27FC236}">
                <a16:creationId xmlns:a16="http://schemas.microsoft.com/office/drawing/2014/main" id="{87588ABF-3AEE-6CC5-FF3B-CF04D0412DD9}"/>
              </a:ext>
            </a:extLst>
          </p:cNvPr>
          <p:cNvSpPr/>
          <p:nvPr/>
        </p:nvSpPr>
        <p:spPr>
          <a:xfrm>
            <a:off x="548640" y="164592"/>
            <a:ext cx="9144000" cy="274320"/>
          </a:xfrm>
          <a:prstGeom prst="rect">
            <a:avLst/>
          </a:prstGeom>
          <a:noFill/>
          <a:ln/>
        </p:spPr>
        <p:txBody>
          <a:bodyPr wrap="square" rtlCol="0" anchor="ctr"/>
          <a:lstStyle/>
          <a:p>
            <a:pPr marL="0" indent="0">
              <a:buNone/>
            </a:pPr>
            <a:r>
              <a:rPr lang="en-US" sz="1400" b="1" kern="0" spc="200" dirty="0">
                <a:solidFill>
                  <a:srgbClr val="E2683F"/>
                </a:solidFill>
                <a:latin typeface="Georgia" panose="02040502050405020303" pitchFamily="18" charset="0"/>
                <a:ea typeface="Verdana" pitchFamily="34" charset="-122"/>
                <a:cs typeface="Verdana" pitchFamily="34" charset="-120"/>
              </a:rPr>
              <a:t>RECOMMENDATIONS</a:t>
            </a:r>
            <a:endParaRPr lang="en-US" sz="1400" dirty="0">
              <a:latin typeface="Georgia" panose="02040502050405020303" pitchFamily="18" charset="0"/>
            </a:endParaRPr>
          </a:p>
        </p:txBody>
      </p:sp>
      <p:sp>
        <p:nvSpPr>
          <p:cNvPr id="27" name="Text 2">
            <a:extLst>
              <a:ext uri="{FF2B5EF4-FFF2-40B4-BE49-F238E27FC236}">
                <a16:creationId xmlns:a16="http://schemas.microsoft.com/office/drawing/2014/main" id="{3E4AA1CE-2BC8-8DC2-0D24-967FDEE02225}"/>
              </a:ext>
            </a:extLst>
          </p:cNvPr>
          <p:cNvSpPr/>
          <p:nvPr/>
        </p:nvSpPr>
        <p:spPr>
          <a:xfrm>
            <a:off x="548640" y="685800"/>
            <a:ext cx="10515600" cy="365760"/>
          </a:xfrm>
          <a:prstGeom prst="rect">
            <a:avLst/>
          </a:prstGeom>
          <a:noFill/>
          <a:ln/>
        </p:spPr>
        <p:txBody>
          <a:bodyPr wrap="square" rtlCol="0" anchor="ctr"/>
          <a:lstStyle/>
          <a:p>
            <a:pPr marL="0" indent="0">
              <a:buNone/>
            </a:pPr>
            <a:r>
              <a:rPr lang="en-US" dirty="0">
                <a:solidFill>
                  <a:srgbClr val="5C6E6A"/>
                </a:solidFill>
                <a:latin typeface="Georgia" panose="02040502050405020303" pitchFamily="18" charset="0"/>
                <a:ea typeface="Verdana" pitchFamily="34" charset="-122"/>
                <a:cs typeface="Verdana" pitchFamily="34" charset="-120"/>
              </a:rPr>
              <a:t>Turning each insight into a concrete, fundable action.</a:t>
            </a:r>
            <a:endParaRPr lang="en-US" dirty="0">
              <a:latin typeface="Georgia" panose="02040502050405020303" pitchFamily="18" charset="0"/>
            </a:endParaRPr>
          </a:p>
        </p:txBody>
      </p:sp>
      <p:sp>
        <p:nvSpPr>
          <p:cNvPr id="29" name="Shape 3">
            <a:extLst>
              <a:ext uri="{FF2B5EF4-FFF2-40B4-BE49-F238E27FC236}">
                <a16:creationId xmlns:a16="http://schemas.microsoft.com/office/drawing/2014/main" id="{C6D28969-AB55-7932-E200-92DE4239CE73}"/>
              </a:ext>
            </a:extLst>
          </p:cNvPr>
          <p:cNvSpPr/>
          <p:nvPr/>
        </p:nvSpPr>
        <p:spPr>
          <a:xfrm>
            <a:off x="457200" y="1417320"/>
            <a:ext cx="3611880" cy="2395728"/>
          </a:xfrm>
          <a:prstGeom prst="roundRect">
            <a:avLst>
              <a:gd name="adj" fmla="val 3817"/>
            </a:avLst>
          </a:prstGeom>
          <a:solidFill>
            <a:srgbClr val="0E3B36"/>
          </a:solidFill>
          <a:ln/>
        </p:spPr>
        <p:txBody>
          <a:bodyPr/>
          <a:lstStyle/>
          <a:p>
            <a:endParaRPr lang="en-US"/>
          </a:p>
        </p:txBody>
      </p:sp>
      <p:sp>
        <p:nvSpPr>
          <p:cNvPr id="31" name="Text 4">
            <a:extLst>
              <a:ext uri="{FF2B5EF4-FFF2-40B4-BE49-F238E27FC236}">
                <a16:creationId xmlns:a16="http://schemas.microsoft.com/office/drawing/2014/main" id="{47B14FFF-ABC5-F9F4-CCC7-82E70C73696E}"/>
              </a:ext>
            </a:extLst>
          </p:cNvPr>
          <p:cNvSpPr/>
          <p:nvPr/>
        </p:nvSpPr>
        <p:spPr>
          <a:xfrm>
            <a:off x="640080" y="1563624"/>
            <a:ext cx="3246120" cy="566928"/>
          </a:xfrm>
          <a:prstGeom prst="rect">
            <a:avLst/>
          </a:prstGeom>
          <a:noFill/>
          <a:ln/>
        </p:spPr>
        <p:txBody>
          <a:bodyPr wrap="square" rtlCol="0" anchor="ctr"/>
          <a:lstStyle/>
          <a:p>
            <a:pPr marL="0" indent="0">
              <a:buNone/>
            </a:pPr>
            <a:r>
              <a:rPr lang="en-US" sz="1300" b="1" dirty="0">
                <a:solidFill>
                  <a:srgbClr val="D9A441"/>
                </a:solidFill>
                <a:latin typeface="Georgia" pitchFamily="34" charset="0"/>
                <a:ea typeface="Georgia" pitchFamily="34" charset="-122"/>
                <a:cs typeface="Georgia" pitchFamily="34" charset="-120"/>
              </a:rPr>
              <a:t>Focus on the hardest-hit counties first</a:t>
            </a:r>
            <a:endParaRPr lang="en-US" sz="1300" dirty="0"/>
          </a:p>
        </p:txBody>
      </p:sp>
      <p:sp>
        <p:nvSpPr>
          <p:cNvPr id="33" name="Text 5">
            <a:extLst>
              <a:ext uri="{FF2B5EF4-FFF2-40B4-BE49-F238E27FC236}">
                <a16:creationId xmlns:a16="http://schemas.microsoft.com/office/drawing/2014/main" id="{C98B602D-A1DF-1AF0-D128-5449129C91C7}"/>
              </a:ext>
            </a:extLst>
          </p:cNvPr>
          <p:cNvSpPr/>
          <p:nvPr/>
        </p:nvSpPr>
        <p:spPr>
          <a:xfrm>
            <a:off x="640080" y="2148840"/>
            <a:ext cx="3246120" cy="1527048"/>
          </a:xfrm>
          <a:prstGeom prst="rect">
            <a:avLst/>
          </a:prstGeom>
          <a:noFill/>
          <a:ln/>
        </p:spPr>
        <p:txBody>
          <a:bodyPr wrap="square" rtlCol="0" anchor="ctr"/>
          <a:lstStyle/>
          <a:p>
            <a:pPr marL="0" indent="0">
              <a:buNone/>
            </a:pPr>
            <a:r>
              <a:rPr lang="en-US" sz="950" dirty="0">
                <a:solidFill>
                  <a:srgbClr val="E5EFEA"/>
                </a:solidFill>
                <a:latin typeface="Georgia" panose="02040502050405020303" pitchFamily="18" charset="0"/>
                <a:ea typeface="Verdana" pitchFamily="34" charset="-122"/>
                <a:cs typeface="Verdana" pitchFamily="34" charset="-120"/>
              </a:rPr>
              <a:t>Nine counties — Mandera, Wajir, Garissa, Marsabit, Turkana, Samburu, West Pokot, Isiolo and Tana River — are dramatically behind the rest of the country. Give them their own dedicated budget and staff, rather than spreading resources evenly nationwide.</a:t>
            </a:r>
            <a:endParaRPr lang="en-US" sz="950" dirty="0">
              <a:latin typeface="Georgia" panose="02040502050405020303" pitchFamily="18" charset="0"/>
            </a:endParaRPr>
          </a:p>
        </p:txBody>
      </p:sp>
      <p:sp>
        <p:nvSpPr>
          <p:cNvPr id="35" name="Shape 6">
            <a:extLst>
              <a:ext uri="{FF2B5EF4-FFF2-40B4-BE49-F238E27FC236}">
                <a16:creationId xmlns:a16="http://schemas.microsoft.com/office/drawing/2014/main" id="{0B31362E-3488-B619-7BBC-4A4CAFEEF0C3}"/>
              </a:ext>
            </a:extLst>
          </p:cNvPr>
          <p:cNvSpPr/>
          <p:nvPr/>
        </p:nvSpPr>
        <p:spPr>
          <a:xfrm>
            <a:off x="4297680" y="1417320"/>
            <a:ext cx="3611880" cy="2395728"/>
          </a:xfrm>
          <a:prstGeom prst="roundRect">
            <a:avLst>
              <a:gd name="adj" fmla="val 3817"/>
            </a:avLst>
          </a:prstGeom>
          <a:solidFill>
            <a:srgbClr val="0E3B36"/>
          </a:solidFill>
          <a:ln/>
        </p:spPr>
        <p:txBody>
          <a:bodyPr/>
          <a:lstStyle/>
          <a:p>
            <a:endParaRPr lang="en-US"/>
          </a:p>
        </p:txBody>
      </p:sp>
      <p:sp>
        <p:nvSpPr>
          <p:cNvPr id="37" name="Text 7">
            <a:extLst>
              <a:ext uri="{FF2B5EF4-FFF2-40B4-BE49-F238E27FC236}">
                <a16:creationId xmlns:a16="http://schemas.microsoft.com/office/drawing/2014/main" id="{D3EE5F6C-EF13-3ADD-E6EA-BB6024BB8C6B}"/>
              </a:ext>
            </a:extLst>
          </p:cNvPr>
          <p:cNvSpPr/>
          <p:nvPr/>
        </p:nvSpPr>
        <p:spPr>
          <a:xfrm>
            <a:off x="4480560" y="1563624"/>
            <a:ext cx="3246120" cy="566928"/>
          </a:xfrm>
          <a:prstGeom prst="rect">
            <a:avLst/>
          </a:prstGeom>
          <a:noFill/>
          <a:ln/>
        </p:spPr>
        <p:txBody>
          <a:bodyPr wrap="square" rtlCol="0" anchor="ctr"/>
          <a:lstStyle/>
          <a:p>
            <a:pPr marL="0" indent="0">
              <a:buNone/>
            </a:pPr>
            <a:r>
              <a:rPr lang="en-US" sz="1300" b="1" dirty="0">
                <a:solidFill>
                  <a:srgbClr val="D9A441"/>
                </a:solidFill>
                <a:latin typeface="Georgia" pitchFamily="34" charset="0"/>
                <a:ea typeface="Georgia" pitchFamily="34" charset="-122"/>
                <a:cs typeface="Georgia" pitchFamily="34" charset="-120"/>
              </a:rPr>
              <a:t>Use a simple checklist to find women most in need</a:t>
            </a:r>
            <a:endParaRPr lang="en-US" sz="1300" dirty="0"/>
          </a:p>
        </p:txBody>
      </p:sp>
      <p:sp>
        <p:nvSpPr>
          <p:cNvPr id="39" name="Text 8">
            <a:extLst>
              <a:ext uri="{FF2B5EF4-FFF2-40B4-BE49-F238E27FC236}">
                <a16:creationId xmlns:a16="http://schemas.microsoft.com/office/drawing/2014/main" id="{02C81871-E863-6346-4234-4768236E82F8}"/>
              </a:ext>
            </a:extLst>
          </p:cNvPr>
          <p:cNvSpPr/>
          <p:nvPr/>
        </p:nvSpPr>
        <p:spPr>
          <a:xfrm>
            <a:off x="4480560" y="2148840"/>
            <a:ext cx="3246120" cy="1527048"/>
          </a:xfrm>
          <a:prstGeom prst="rect">
            <a:avLst/>
          </a:prstGeom>
          <a:noFill/>
          <a:ln/>
        </p:spPr>
        <p:txBody>
          <a:bodyPr wrap="square" rtlCol="0" anchor="ctr"/>
          <a:lstStyle/>
          <a:p>
            <a:pPr marL="0" indent="0">
              <a:buNone/>
            </a:pPr>
            <a:r>
              <a:rPr lang="en-US" sz="950" dirty="0">
                <a:solidFill>
                  <a:srgbClr val="E5EFEA"/>
                </a:solidFill>
                <a:latin typeface="Georgia" panose="02040502050405020303" pitchFamily="18" charset="0"/>
                <a:ea typeface="Verdana" pitchFamily="34" charset="-122"/>
                <a:cs typeface="Verdana" pitchFamily="34" charset="-120"/>
              </a:rPr>
              <a:t>Look for four things together: she has a partner, she isn't employed, she's in the poorest wealth group, and she lives in a dry/remote county. Health workers can check these without any special training or software.</a:t>
            </a:r>
            <a:endParaRPr lang="en-US" sz="950" dirty="0">
              <a:latin typeface="Georgia" panose="02040502050405020303" pitchFamily="18" charset="0"/>
            </a:endParaRPr>
          </a:p>
        </p:txBody>
      </p:sp>
      <p:sp>
        <p:nvSpPr>
          <p:cNvPr id="41" name="Shape 9">
            <a:extLst>
              <a:ext uri="{FF2B5EF4-FFF2-40B4-BE49-F238E27FC236}">
                <a16:creationId xmlns:a16="http://schemas.microsoft.com/office/drawing/2014/main" id="{35B18C72-1D02-E87A-F458-5B093E2D0D29}"/>
              </a:ext>
            </a:extLst>
          </p:cNvPr>
          <p:cNvSpPr/>
          <p:nvPr/>
        </p:nvSpPr>
        <p:spPr>
          <a:xfrm>
            <a:off x="8138160" y="1417320"/>
            <a:ext cx="3611880" cy="2395728"/>
          </a:xfrm>
          <a:prstGeom prst="roundRect">
            <a:avLst>
              <a:gd name="adj" fmla="val 3817"/>
            </a:avLst>
          </a:prstGeom>
          <a:solidFill>
            <a:srgbClr val="0E3B36"/>
          </a:solidFill>
          <a:ln/>
        </p:spPr>
        <p:txBody>
          <a:bodyPr/>
          <a:lstStyle/>
          <a:p>
            <a:endParaRPr lang="en-US"/>
          </a:p>
        </p:txBody>
      </p:sp>
      <p:sp>
        <p:nvSpPr>
          <p:cNvPr id="43" name="Text 10">
            <a:extLst>
              <a:ext uri="{FF2B5EF4-FFF2-40B4-BE49-F238E27FC236}">
                <a16:creationId xmlns:a16="http://schemas.microsoft.com/office/drawing/2014/main" id="{578ECF35-9E12-1164-ED89-21A514D185FD}"/>
              </a:ext>
            </a:extLst>
          </p:cNvPr>
          <p:cNvSpPr/>
          <p:nvPr/>
        </p:nvSpPr>
        <p:spPr>
          <a:xfrm>
            <a:off x="8321040" y="1563624"/>
            <a:ext cx="3246120" cy="566928"/>
          </a:xfrm>
          <a:prstGeom prst="rect">
            <a:avLst/>
          </a:prstGeom>
          <a:noFill/>
          <a:ln/>
        </p:spPr>
        <p:txBody>
          <a:bodyPr wrap="square" rtlCol="0" anchor="ctr"/>
          <a:lstStyle/>
          <a:p>
            <a:pPr marL="0" indent="0">
              <a:buNone/>
            </a:pPr>
            <a:r>
              <a:rPr lang="en-US" sz="1300" b="1" dirty="0">
                <a:solidFill>
                  <a:srgbClr val="D9A441"/>
                </a:solidFill>
                <a:latin typeface="Georgia" pitchFamily="34" charset="0"/>
                <a:ea typeface="Georgia" pitchFamily="34" charset="-122"/>
                <a:cs typeface="Georgia" pitchFamily="34" charset="-120"/>
              </a:rPr>
              <a:t>Spend the most on the poorest of the poor</a:t>
            </a:r>
            <a:endParaRPr lang="en-US" sz="1300" dirty="0"/>
          </a:p>
        </p:txBody>
      </p:sp>
      <p:sp>
        <p:nvSpPr>
          <p:cNvPr id="45" name="Text 11">
            <a:extLst>
              <a:ext uri="{FF2B5EF4-FFF2-40B4-BE49-F238E27FC236}">
                <a16:creationId xmlns:a16="http://schemas.microsoft.com/office/drawing/2014/main" id="{7293371F-124F-73AC-CE91-C57BB2E22E79}"/>
              </a:ext>
            </a:extLst>
          </p:cNvPr>
          <p:cNvSpPr/>
          <p:nvPr/>
        </p:nvSpPr>
        <p:spPr>
          <a:xfrm>
            <a:off x="8321040" y="2148840"/>
            <a:ext cx="3246120" cy="1527048"/>
          </a:xfrm>
          <a:prstGeom prst="rect">
            <a:avLst/>
          </a:prstGeom>
          <a:noFill/>
          <a:ln/>
        </p:spPr>
        <p:txBody>
          <a:bodyPr wrap="square" rtlCol="0" anchor="ctr"/>
          <a:lstStyle/>
          <a:p>
            <a:pPr marL="0" indent="0">
              <a:buNone/>
            </a:pPr>
            <a:r>
              <a:rPr lang="en-US" sz="950" dirty="0">
                <a:solidFill>
                  <a:srgbClr val="E5EFEA"/>
                </a:solidFill>
                <a:latin typeface="Georgia" panose="02040502050405020303" pitchFamily="18" charset="0"/>
                <a:ea typeface="Verdana" pitchFamily="34" charset="-122"/>
                <a:cs typeface="Verdana" pitchFamily="34" charset="-120"/>
              </a:rPr>
              <a:t>Support jumps sharply once a household moves out of the very poorest group, then barely changes after that. So subsidies and free supplies should be aimed squarely at the poorest households, not spread thinly across everyone.</a:t>
            </a:r>
            <a:endParaRPr lang="en-US" sz="950" dirty="0">
              <a:latin typeface="Georgia" panose="02040502050405020303" pitchFamily="18" charset="0"/>
            </a:endParaRPr>
          </a:p>
        </p:txBody>
      </p:sp>
      <p:sp>
        <p:nvSpPr>
          <p:cNvPr id="47" name="Shape 12">
            <a:extLst>
              <a:ext uri="{FF2B5EF4-FFF2-40B4-BE49-F238E27FC236}">
                <a16:creationId xmlns:a16="http://schemas.microsoft.com/office/drawing/2014/main" id="{A31D2E33-F62D-9849-D8C3-3477A8CF0D7F}"/>
              </a:ext>
            </a:extLst>
          </p:cNvPr>
          <p:cNvSpPr/>
          <p:nvPr/>
        </p:nvSpPr>
        <p:spPr>
          <a:xfrm>
            <a:off x="457200" y="3950208"/>
            <a:ext cx="3611880" cy="2395728"/>
          </a:xfrm>
          <a:prstGeom prst="roundRect">
            <a:avLst>
              <a:gd name="adj" fmla="val 3817"/>
            </a:avLst>
          </a:prstGeom>
          <a:solidFill>
            <a:srgbClr val="144742"/>
          </a:solidFill>
          <a:ln/>
        </p:spPr>
        <p:txBody>
          <a:bodyPr/>
          <a:lstStyle/>
          <a:p>
            <a:endParaRPr lang="en-US"/>
          </a:p>
        </p:txBody>
      </p:sp>
      <p:sp>
        <p:nvSpPr>
          <p:cNvPr id="49" name="Text 13">
            <a:extLst>
              <a:ext uri="{FF2B5EF4-FFF2-40B4-BE49-F238E27FC236}">
                <a16:creationId xmlns:a16="http://schemas.microsoft.com/office/drawing/2014/main" id="{856F0C55-BF04-C499-47A8-43054DF5994B}"/>
              </a:ext>
            </a:extLst>
          </p:cNvPr>
          <p:cNvSpPr/>
          <p:nvPr/>
        </p:nvSpPr>
        <p:spPr>
          <a:xfrm>
            <a:off x="640080" y="4096512"/>
            <a:ext cx="3246120" cy="566928"/>
          </a:xfrm>
          <a:prstGeom prst="rect">
            <a:avLst/>
          </a:prstGeom>
          <a:noFill/>
          <a:ln/>
        </p:spPr>
        <p:txBody>
          <a:bodyPr wrap="square" rtlCol="0" anchor="ctr"/>
          <a:lstStyle/>
          <a:p>
            <a:pPr marL="0" indent="0">
              <a:buNone/>
            </a:pPr>
            <a:r>
              <a:rPr lang="en-US" sz="1300" b="1" dirty="0">
                <a:solidFill>
                  <a:srgbClr val="D9A441"/>
                </a:solidFill>
                <a:latin typeface="Georgia" pitchFamily="34" charset="0"/>
                <a:ea typeface="Georgia" pitchFamily="34" charset="-122"/>
                <a:cs typeface="Georgia" pitchFamily="34" charset="-120"/>
              </a:rPr>
              <a:t>Support women's employment as a family-planning strategy</a:t>
            </a:r>
            <a:endParaRPr lang="en-US" sz="1300" dirty="0"/>
          </a:p>
        </p:txBody>
      </p:sp>
      <p:sp>
        <p:nvSpPr>
          <p:cNvPr id="51" name="Text 14">
            <a:extLst>
              <a:ext uri="{FF2B5EF4-FFF2-40B4-BE49-F238E27FC236}">
                <a16:creationId xmlns:a16="http://schemas.microsoft.com/office/drawing/2014/main" id="{14461DF3-937A-F722-F8EA-DD6DA50FD69D}"/>
              </a:ext>
            </a:extLst>
          </p:cNvPr>
          <p:cNvSpPr/>
          <p:nvPr/>
        </p:nvSpPr>
        <p:spPr>
          <a:xfrm>
            <a:off x="640080" y="4681728"/>
            <a:ext cx="3246120" cy="1527048"/>
          </a:xfrm>
          <a:prstGeom prst="rect">
            <a:avLst/>
          </a:prstGeom>
          <a:noFill/>
          <a:ln/>
        </p:spPr>
        <p:txBody>
          <a:bodyPr wrap="square" rtlCol="0" anchor="ctr"/>
          <a:lstStyle/>
          <a:p>
            <a:pPr marL="0" indent="0">
              <a:buNone/>
            </a:pPr>
            <a:r>
              <a:rPr lang="en-US" sz="950" dirty="0">
                <a:solidFill>
                  <a:srgbClr val="E5EFEA"/>
                </a:solidFill>
                <a:latin typeface="Georgia" panose="02040502050405020303" pitchFamily="18" charset="0"/>
                <a:ea typeface="Verdana" pitchFamily="34" charset="-122"/>
                <a:cs typeface="Verdana" pitchFamily="34" charset="-120"/>
              </a:rPr>
              <a:t>Whether a woman is employed is one of the strongest — and most changeable — factors we found. Programmes that help women find work are also, in effect, family-planning programmes. Fund and track them together.</a:t>
            </a:r>
            <a:endParaRPr lang="en-US" sz="950" dirty="0">
              <a:latin typeface="Georgia" panose="02040502050405020303" pitchFamily="18" charset="0"/>
            </a:endParaRPr>
          </a:p>
        </p:txBody>
      </p:sp>
      <p:sp>
        <p:nvSpPr>
          <p:cNvPr id="53" name="Shape 15">
            <a:extLst>
              <a:ext uri="{FF2B5EF4-FFF2-40B4-BE49-F238E27FC236}">
                <a16:creationId xmlns:a16="http://schemas.microsoft.com/office/drawing/2014/main" id="{327F512A-9548-9E1D-5BEB-C95A15A5437C}"/>
              </a:ext>
            </a:extLst>
          </p:cNvPr>
          <p:cNvSpPr/>
          <p:nvPr/>
        </p:nvSpPr>
        <p:spPr>
          <a:xfrm>
            <a:off x="4297680" y="3950208"/>
            <a:ext cx="3611880" cy="2395728"/>
          </a:xfrm>
          <a:prstGeom prst="roundRect">
            <a:avLst>
              <a:gd name="adj" fmla="val 3817"/>
            </a:avLst>
          </a:prstGeom>
          <a:solidFill>
            <a:srgbClr val="144742"/>
          </a:solidFill>
          <a:ln/>
        </p:spPr>
        <p:txBody>
          <a:bodyPr/>
          <a:lstStyle/>
          <a:p>
            <a:endParaRPr lang="en-US"/>
          </a:p>
        </p:txBody>
      </p:sp>
      <p:sp>
        <p:nvSpPr>
          <p:cNvPr id="55" name="Text 16">
            <a:extLst>
              <a:ext uri="{FF2B5EF4-FFF2-40B4-BE49-F238E27FC236}">
                <a16:creationId xmlns:a16="http://schemas.microsoft.com/office/drawing/2014/main" id="{4C30AC94-FEE5-D087-F041-4567905E6F3B}"/>
              </a:ext>
            </a:extLst>
          </p:cNvPr>
          <p:cNvSpPr/>
          <p:nvPr/>
        </p:nvSpPr>
        <p:spPr>
          <a:xfrm>
            <a:off x="4480560" y="4096512"/>
            <a:ext cx="3246120" cy="566928"/>
          </a:xfrm>
          <a:prstGeom prst="rect">
            <a:avLst/>
          </a:prstGeom>
          <a:noFill/>
          <a:ln/>
        </p:spPr>
        <p:txBody>
          <a:bodyPr wrap="square" rtlCol="0" anchor="ctr"/>
          <a:lstStyle/>
          <a:p>
            <a:pPr marL="0" indent="0">
              <a:buNone/>
            </a:pPr>
            <a:r>
              <a:rPr lang="en-US" sz="1300" b="1" dirty="0">
                <a:solidFill>
                  <a:srgbClr val="D9A441"/>
                </a:solidFill>
                <a:latin typeface="Georgia" pitchFamily="34" charset="0"/>
                <a:ea typeface="Georgia" pitchFamily="34" charset="-122"/>
                <a:cs typeface="Georgia" pitchFamily="34" charset="-120"/>
              </a:rPr>
              <a:t>Watch county-level scores like a dashboard</a:t>
            </a:r>
            <a:endParaRPr lang="en-US" sz="1300" dirty="0"/>
          </a:p>
        </p:txBody>
      </p:sp>
      <p:sp>
        <p:nvSpPr>
          <p:cNvPr id="57" name="Text 17">
            <a:extLst>
              <a:ext uri="{FF2B5EF4-FFF2-40B4-BE49-F238E27FC236}">
                <a16:creationId xmlns:a16="http://schemas.microsoft.com/office/drawing/2014/main" id="{156A604A-C315-53A5-26ED-0BB26E8CBA2A}"/>
              </a:ext>
            </a:extLst>
          </p:cNvPr>
          <p:cNvSpPr/>
          <p:nvPr/>
        </p:nvSpPr>
        <p:spPr>
          <a:xfrm>
            <a:off x="4480560" y="4681728"/>
            <a:ext cx="3246120" cy="1527048"/>
          </a:xfrm>
          <a:prstGeom prst="rect">
            <a:avLst/>
          </a:prstGeom>
          <a:noFill/>
          <a:ln/>
        </p:spPr>
        <p:txBody>
          <a:bodyPr wrap="square" rtlCol="0" anchor="ctr"/>
          <a:lstStyle/>
          <a:p>
            <a:pPr marL="0" indent="0">
              <a:buNone/>
            </a:pPr>
            <a:r>
              <a:rPr lang="en-US" sz="950" dirty="0">
                <a:solidFill>
                  <a:srgbClr val="E5EFEA"/>
                </a:solidFill>
                <a:latin typeface="Georgia" panose="02040502050405020303" pitchFamily="18" charset="0"/>
                <a:ea typeface="Verdana" pitchFamily="34" charset="-122"/>
                <a:cs typeface="Verdana" pitchFamily="34" charset="-120"/>
              </a:rPr>
              <a:t>Instead of waiting years for the next national survey, use the model's county-by-county predictions as an early-warning dashboard to see which areas are falling behind and act sooner.</a:t>
            </a:r>
            <a:endParaRPr lang="en-US" sz="950" dirty="0">
              <a:latin typeface="Georgia" panose="02040502050405020303" pitchFamily="18" charset="0"/>
            </a:endParaRPr>
          </a:p>
        </p:txBody>
      </p:sp>
      <p:sp>
        <p:nvSpPr>
          <p:cNvPr id="59" name="Shape 18">
            <a:extLst>
              <a:ext uri="{FF2B5EF4-FFF2-40B4-BE49-F238E27FC236}">
                <a16:creationId xmlns:a16="http://schemas.microsoft.com/office/drawing/2014/main" id="{9F4CAD2A-638D-338C-1985-BA097B4E3C59}"/>
              </a:ext>
            </a:extLst>
          </p:cNvPr>
          <p:cNvSpPr/>
          <p:nvPr/>
        </p:nvSpPr>
        <p:spPr>
          <a:xfrm>
            <a:off x="8138160" y="3950208"/>
            <a:ext cx="3611880" cy="2395728"/>
          </a:xfrm>
          <a:prstGeom prst="roundRect">
            <a:avLst>
              <a:gd name="adj" fmla="val 3817"/>
            </a:avLst>
          </a:prstGeom>
          <a:solidFill>
            <a:srgbClr val="144742"/>
          </a:solidFill>
          <a:ln/>
        </p:spPr>
        <p:txBody>
          <a:bodyPr/>
          <a:lstStyle/>
          <a:p>
            <a:endParaRPr lang="en-US"/>
          </a:p>
        </p:txBody>
      </p:sp>
      <p:sp>
        <p:nvSpPr>
          <p:cNvPr id="61" name="Text 19">
            <a:extLst>
              <a:ext uri="{FF2B5EF4-FFF2-40B4-BE49-F238E27FC236}">
                <a16:creationId xmlns:a16="http://schemas.microsoft.com/office/drawing/2014/main" id="{08100B41-B64D-7293-DA57-45C6EC617D77}"/>
              </a:ext>
            </a:extLst>
          </p:cNvPr>
          <p:cNvSpPr/>
          <p:nvPr/>
        </p:nvSpPr>
        <p:spPr>
          <a:xfrm>
            <a:off x="8321040" y="4096512"/>
            <a:ext cx="3246120" cy="566928"/>
          </a:xfrm>
          <a:prstGeom prst="rect">
            <a:avLst/>
          </a:prstGeom>
          <a:noFill/>
          <a:ln/>
        </p:spPr>
        <p:txBody>
          <a:bodyPr wrap="square" rtlCol="0" anchor="ctr"/>
          <a:lstStyle/>
          <a:p>
            <a:pPr marL="0" indent="0">
              <a:buNone/>
            </a:pPr>
            <a:r>
              <a:rPr lang="en-US" sz="1300" b="1" dirty="0">
                <a:solidFill>
                  <a:srgbClr val="D9A441"/>
                </a:solidFill>
                <a:latin typeface="Georgia" pitchFamily="34" charset="0"/>
                <a:ea typeface="Georgia" pitchFamily="34" charset="-122"/>
                <a:cs typeface="Georgia" pitchFamily="34" charset="-120"/>
              </a:rPr>
              <a:t>Give frontline workers the prediction tool</a:t>
            </a:r>
            <a:endParaRPr lang="en-US" sz="1300" dirty="0"/>
          </a:p>
        </p:txBody>
      </p:sp>
      <p:sp>
        <p:nvSpPr>
          <p:cNvPr id="63" name="Text 20">
            <a:extLst>
              <a:ext uri="{FF2B5EF4-FFF2-40B4-BE49-F238E27FC236}">
                <a16:creationId xmlns:a16="http://schemas.microsoft.com/office/drawing/2014/main" id="{7BC67D69-F086-B8FB-CBFC-CA86D905515F}"/>
              </a:ext>
            </a:extLst>
          </p:cNvPr>
          <p:cNvSpPr/>
          <p:nvPr/>
        </p:nvSpPr>
        <p:spPr>
          <a:xfrm>
            <a:off x="8321040" y="4681728"/>
            <a:ext cx="3246120" cy="1527048"/>
          </a:xfrm>
          <a:prstGeom prst="rect">
            <a:avLst/>
          </a:prstGeom>
          <a:noFill/>
          <a:ln/>
        </p:spPr>
        <p:txBody>
          <a:bodyPr wrap="square" rtlCol="0" anchor="ctr"/>
          <a:lstStyle/>
          <a:p>
            <a:pPr marL="0" indent="0">
              <a:buNone/>
            </a:pPr>
            <a:r>
              <a:rPr lang="en-US" sz="950" dirty="0">
                <a:solidFill>
                  <a:srgbClr val="E5EFEA"/>
                </a:solidFill>
                <a:latin typeface="Georgia" panose="02040502050405020303" pitchFamily="18" charset="0"/>
                <a:ea typeface="Verdana" pitchFamily="34" charset="-122"/>
                <a:cs typeface="Verdana" pitchFamily="34" charset="-120"/>
              </a:rPr>
              <a:t>A simple web tool (kdhs-contraceptive-api.onrender.com) is already live — no coding needed. It helps decide who to visit first, but should always be used alongside a health worker's own judgment, not instead of it.</a:t>
            </a:r>
            <a:endParaRPr lang="en-US" sz="950" dirty="0">
              <a:latin typeface="Georgia" panose="02040502050405020303" pitchFamily="18" charset="0"/>
            </a:endParaRPr>
          </a:p>
        </p:txBody>
      </p:sp>
      <p:sp>
        <p:nvSpPr>
          <p:cNvPr id="65" name="Text 21">
            <a:extLst>
              <a:ext uri="{FF2B5EF4-FFF2-40B4-BE49-F238E27FC236}">
                <a16:creationId xmlns:a16="http://schemas.microsoft.com/office/drawing/2014/main" id="{94904F8A-4403-B5B5-C5C3-28895B1355F9}"/>
              </a:ext>
            </a:extLst>
          </p:cNvPr>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22/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0E3B3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3B36"/>
          </a:solidFill>
          <a:ln/>
        </p:spPr>
        <p:txBody>
          <a:bodyPr/>
          <a:lstStyle/>
          <a:p>
            <a:endParaRPr lang="en-US"/>
          </a:p>
        </p:txBody>
      </p:sp>
      <p:sp>
        <p:nvSpPr>
          <p:cNvPr id="3" name="Text 1"/>
          <p:cNvSpPr/>
          <p:nvPr/>
        </p:nvSpPr>
        <p:spPr>
          <a:xfrm>
            <a:off x="822960" y="2103120"/>
            <a:ext cx="10058400" cy="118872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4" name="Text 2"/>
          <p:cNvSpPr/>
          <p:nvPr/>
        </p:nvSpPr>
        <p:spPr>
          <a:xfrm>
            <a:off x="822960" y="3154680"/>
            <a:ext cx="10058400" cy="548640"/>
          </a:xfrm>
          <a:prstGeom prst="rect">
            <a:avLst/>
          </a:prstGeom>
          <a:noFill/>
          <a:ln/>
        </p:spPr>
        <p:txBody>
          <a:bodyPr wrap="square" rtlCol="0" anchor="ctr"/>
          <a:lstStyle/>
          <a:p>
            <a:pPr marL="0" indent="0">
              <a:buNone/>
            </a:pPr>
            <a:r>
              <a:rPr lang="en-US" sz="1800" dirty="0">
                <a:solidFill>
                  <a:srgbClr val="D9A441"/>
                </a:solidFill>
                <a:latin typeface="Verdana" pitchFamily="34" charset="0"/>
                <a:ea typeface="Verdana" pitchFamily="34" charset="-122"/>
                <a:cs typeface="Verdana" pitchFamily="34" charset="-120"/>
              </a:rPr>
              <a:t>Questions &amp; Discussion</a:t>
            </a:r>
            <a:endParaRPr lang="en-US" sz="1800" dirty="0"/>
          </a:p>
        </p:txBody>
      </p:sp>
      <p:sp>
        <p:nvSpPr>
          <p:cNvPr id="5" name="Shape 3"/>
          <p:cNvSpPr/>
          <p:nvPr/>
        </p:nvSpPr>
        <p:spPr>
          <a:xfrm>
            <a:off x="822960" y="3931920"/>
            <a:ext cx="2926080" cy="0"/>
          </a:xfrm>
          <a:prstGeom prst="line">
            <a:avLst/>
          </a:prstGeom>
          <a:noFill/>
          <a:ln w="25400">
            <a:solidFill>
              <a:srgbClr val="E2683F"/>
            </a:solidFill>
            <a:prstDash val="solid"/>
          </a:ln>
        </p:spPr>
        <p:txBody>
          <a:bodyPr/>
          <a:lstStyle/>
          <a:p>
            <a:endParaRPr lang="en-US"/>
          </a:p>
        </p:txBody>
      </p:sp>
      <p:sp>
        <p:nvSpPr>
          <p:cNvPr id="6" name="Text 4"/>
          <p:cNvSpPr/>
          <p:nvPr/>
        </p:nvSpPr>
        <p:spPr>
          <a:xfrm>
            <a:off x="822960" y="4206240"/>
            <a:ext cx="5486400" cy="320040"/>
          </a:xfrm>
          <a:prstGeom prst="rect">
            <a:avLst/>
          </a:prstGeom>
          <a:noFill/>
          <a:ln/>
        </p:spPr>
        <p:txBody>
          <a:bodyPr wrap="square" rtlCol="0" anchor="ctr"/>
          <a:lstStyle/>
          <a:p>
            <a:pPr marL="0" indent="0">
              <a:buNone/>
            </a:pPr>
            <a:r>
              <a:rPr lang="en-US" sz="1200" b="1" kern="0" spc="200" dirty="0">
                <a:solidFill>
                  <a:srgbClr val="D9A441"/>
                </a:solidFill>
                <a:latin typeface="Georgia" panose="02040502050405020303" pitchFamily="18" charset="0"/>
                <a:ea typeface="Verdana" pitchFamily="34" charset="-122"/>
                <a:cs typeface="Verdana" pitchFamily="34" charset="-120"/>
              </a:rPr>
              <a:t>THE INSIGHT ARCHITECTS</a:t>
            </a:r>
            <a:endParaRPr lang="en-US" sz="1200" dirty="0">
              <a:latin typeface="Georgia" panose="02040502050405020303" pitchFamily="18" charset="0"/>
            </a:endParaRPr>
          </a:p>
        </p:txBody>
      </p:sp>
      <p:sp>
        <p:nvSpPr>
          <p:cNvPr id="7" name="Text 5"/>
          <p:cNvSpPr/>
          <p:nvPr/>
        </p:nvSpPr>
        <p:spPr>
          <a:xfrm>
            <a:off x="822960" y="4572000"/>
            <a:ext cx="2377440" cy="320040"/>
          </a:xfrm>
          <a:prstGeom prst="rect">
            <a:avLst/>
          </a:prstGeom>
          <a:noFill/>
          <a:ln/>
        </p:spPr>
        <p:txBody>
          <a:bodyPr wrap="square" rtlCol="0" anchor="ctr"/>
          <a:lstStyle/>
          <a:p>
            <a:pPr marL="0" indent="0">
              <a:buNone/>
            </a:pPr>
            <a:r>
              <a:rPr lang="en-US" sz="1150" dirty="0">
                <a:solidFill>
                  <a:srgbClr val="FFFFFF"/>
                </a:solidFill>
                <a:latin typeface="Georgia" panose="02040502050405020303" pitchFamily="18" charset="0"/>
                <a:ea typeface="Verdana" pitchFamily="34" charset="-122"/>
              </a:rPr>
              <a:t>Clare Simiyu</a:t>
            </a:r>
            <a:endParaRPr lang="en-US" sz="1150" dirty="0">
              <a:latin typeface="Georgia" panose="02040502050405020303" pitchFamily="18" charset="0"/>
            </a:endParaRPr>
          </a:p>
        </p:txBody>
      </p:sp>
      <p:sp>
        <p:nvSpPr>
          <p:cNvPr id="8" name="Text 6"/>
          <p:cNvSpPr/>
          <p:nvPr/>
        </p:nvSpPr>
        <p:spPr>
          <a:xfrm>
            <a:off x="3291840" y="4572000"/>
            <a:ext cx="2377440" cy="320040"/>
          </a:xfrm>
          <a:prstGeom prst="rect">
            <a:avLst/>
          </a:prstGeom>
          <a:noFill/>
          <a:ln/>
        </p:spPr>
        <p:txBody>
          <a:bodyPr wrap="square" rtlCol="0" anchor="ctr"/>
          <a:lstStyle/>
          <a:p>
            <a:pPr marL="0" indent="0">
              <a:buNone/>
            </a:pPr>
            <a:r>
              <a:rPr lang="en-US" sz="1150" dirty="0">
                <a:solidFill>
                  <a:srgbClr val="FFFFFF"/>
                </a:solidFill>
                <a:latin typeface="Georgia" panose="02040502050405020303" pitchFamily="18" charset="0"/>
                <a:ea typeface="Verdana" pitchFamily="34" charset="-122"/>
              </a:rPr>
              <a:t>Antony Sila </a:t>
            </a:r>
            <a:endParaRPr lang="en-US" sz="1150" dirty="0">
              <a:latin typeface="Georgia" panose="02040502050405020303" pitchFamily="18" charset="0"/>
            </a:endParaRPr>
          </a:p>
        </p:txBody>
      </p:sp>
      <p:sp>
        <p:nvSpPr>
          <p:cNvPr id="9" name="Text 7"/>
          <p:cNvSpPr/>
          <p:nvPr/>
        </p:nvSpPr>
        <p:spPr>
          <a:xfrm>
            <a:off x="5760720" y="4572000"/>
            <a:ext cx="2377440" cy="320040"/>
          </a:xfrm>
          <a:prstGeom prst="rect">
            <a:avLst/>
          </a:prstGeom>
          <a:noFill/>
          <a:ln/>
        </p:spPr>
        <p:txBody>
          <a:bodyPr wrap="square" rtlCol="0" anchor="ctr"/>
          <a:lstStyle/>
          <a:p>
            <a:pPr marL="0" indent="0">
              <a:buNone/>
            </a:pPr>
            <a:r>
              <a:rPr lang="en-US" sz="1150" dirty="0">
                <a:solidFill>
                  <a:srgbClr val="FFFFFF"/>
                </a:solidFill>
                <a:latin typeface="Georgia" panose="02040502050405020303" pitchFamily="18" charset="0"/>
                <a:ea typeface="Verdana" pitchFamily="34" charset="-122"/>
              </a:rPr>
              <a:t>David Theuri</a:t>
            </a:r>
            <a:endParaRPr lang="en-US" sz="1150" dirty="0">
              <a:latin typeface="Georgia" panose="02040502050405020303" pitchFamily="18" charset="0"/>
            </a:endParaRPr>
          </a:p>
        </p:txBody>
      </p:sp>
      <p:sp>
        <p:nvSpPr>
          <p:cNvPr id="10" name="Text 8"/>
          <p:cNvSpPr/>
          <p:nvPr/>
        </p:nvSpPr>
        <p:spPr>
          <a:xfrm>
            <a:off x="822960" y="4937760"/>
            <a:ext cx="2377440" cy="320040"/>
          </a:xfrm>
          <a:prstGeom prst="rect">
            <a:avLst/>
          </a:prstGeom>
          <a:noFill/>
          <a:ln/>
        </p:spPr>
        <p:txBody>
          <a:bodyPr wrap="square" rtlCol="0" anchor="ctr"/>
          <a:lstStyle/>
          <a:p>
            <a:pPr marL="0" indent="0">
              <a:buNone/>
            </a:pPr>
            <a:r>
              <a:rPr lang="en-US" sz="1150" dirty="0">
                <a:solidFill>
                  <a:srgbClr val="FFFFFF"/>
                </a:solidFill>
                <a:latin typeface="Georgia" panose="02040502050405020303" pitchFamily="18" charset="0"/>
                <a:ea typeface="Verdana" pitchFamily="34" charset="-122"/>
              </a:rPr>
              <a:t>Shadrack Symekah</a:t>
            </a:r>
            <a:endParaRPr lang="en-US" sz="1150" dirty="0">
              <a:latin typeface="Georgia" panose="02040502050405020303" pitchFamily="18" charset="0"/>
            </a:endParaRPr>
          </a:p>
        </p:txBody>
      </p:sp>
      <p:sp>
        <p:nvSpPr>
          <p:cNvPr id="11" name="Text 9"/>
          <p:cNvSpPr/>
          <p:nvPr/>
        </p:nvSpPr>
        <p:spPr>
          <a:xfrm>
            <a:off x="3291840" y="4937760"/>
            <a:ext cx="2377440" cy="320040"/>
          </a:xfrm>
          <a:prstGeom prst="rect">
            <a:avLst/>
          </a:prstGeom>
          <a:noFill/>
          <a:ln/>
        </p:spPr>
        <p:txBody>
          <a:bodyPr wrap="square" rtlCol="0" anchor="ctr"/>
          <a:lstStyle/>
          <a:p>
            <a:pPr marL="0" indent="0">
              <a:buNone/>
            </a:pPr>
            <a:r>
              <a:rPr lang="en-US" sz="1150" dirty="0">
                <a:solidFill>
                  <a:srgbClr val="FFFFFF"/>
                </a:solidFill>
                <a:latin typeface="Georgia" panose="02040502050405020303" pitchFamily="18" charset="0"/>
                <a:ea typeface="Verdana" pitchFamily="34" charset="-122"/>
              </a:rPr>
              <a:t>Joy </a:t>
            </a:r>
            <a:r>
              <a:rPr lang="en-US" sz="1150" dirty="0" err="1">
                <a:solidFill>
                  <a:srgbClr val="FFFFFF"/>
                </a:solidFill>
                <a:latin typeface="Georgia" panose="02040502050405020303" pitchFamily="18" charset="0"/>
                <a:ea typeface="Verdana" pitchFamily="34" charset="-122"/>
              </a:rPr>
              <a:t>Nyuguto</a:t>
            </a:r>
            <a:endParaRPr lang="en-US" sz="1150" dirty="0">
              <a:latin typeface="Georgia" panose="02040502050405020303" pitchFamily="18" charset="0"/>
            </a:endParaRPr>
          </a:p>
        </p:txBody>
      </p:sp>
      <p:sp>
        <p:nvSpPr>
          <p:cNvPr id="12" name="Text 10"/>
          <p:cNvSpPr/>
          <p:nvPr/>
        </p:nvSpPr>
        <p:spPr>
          <a:xfrm>
            <a:off x="5760720" y="4937760"/>
            <a:ext cx="2377440" cy="320040"/>
          </a:xfrm>
          <a:prstGeom prst="rect">
            <a:avLst/>
          </a:prstGeom>
          <a:noFill/>
          <a:ln/>
        </p:spPr>
        <p:txBody>
          <a:bodyPr wrap="square" rtlCol="0" anchor="ctr"/>
          <a:lstStyle/>
          <a:p>
            <a:pPr marL="0" indent="0">
              <a:buNone/>
            </a:pPr>
            <a:r>
              <a:rPr lang="en-US" sz="1150" dirty="0">
                <a:solidFill>
                  <a:srgbClr val="FFFFFF"/>
                </a:solidFill>
                <a:latin typeface="Georgia" panose="02040502050405020303" pitchFamily="18" charset="0"/>
                <a:ea typeface="Verdana" pitchFamily="34" charset="-122"/>
              </a:rPr>
              <a:t>Martin </a:t>
            </a:r>
            <a:r>
              <a:rPr lang="en-US" sz="1150" dirty="0" err="1">
                <a:solidFill>
                  <a:srgbClr val="FFFFFF"/>
                </a:solidFill>
                <a:latin typeface="Georgia" panose="02040502050405020303" pitchFamily="18" charset="0"/>
                <a:ea typeface="Verdana" pitchFamily="34" charset="-122"/>
              </a:rPr>
              <a:t>Kitema</a:t>
            </a:r>
            <a:endParaRPr lang="en-US" sz="1150" dirty="0">
              <a:latin typeface="Georgia" panose="02040502050405020303" pitchFamily="18" charset="0"/>
            </a:endParaRPr>
          </a:p>
        </p:txBody>
      </p:sp>
      <p:sp>
        <p:nvSpPr>
          <p:cNvPr id="13" name="Text 11"/>
          <p:cNvSpPr/>
          <p:nvPr/>
        </p:nvSpPr>
        <p:spPr>
          <a:xfrm>
            <a:off x="822960" y="5623560"/>
            <a:ext cx="7315200" cy="320040"/>
          </a:xfrm>
          <a:prstGeom prst="rect">
            <a:avLst/>
          </a:prstGeom>
          <a:noFill/>
          <a:ln/>
        </p:spPr>
        <p:txBody>
          <a:bodyPr wrap="square" rtlCol="0" anchor="ctr"/>
          <a:lstStyle/>
          <a:p>
            <a:pPr marL="0" indent="0">
              <a:buNone/>
            </a:pPr>
            <a:r>
              <a:rPr lang="en-US" sz="1200" dirty="0">
                <a:solidFill>
                  <a:srgbClr val="BFE3DC"/>
                </a:solidFill>
                <a:latin typeface="Georgia" panose="02040502050405020303" pitchFamily="18" charset="0"/>
                <a:ea typeface="Verdana" pitchFamily="34" charset="-122"/>
                <a:cs typeface="Verdana" pitchFamily="34" charset="-120"/>
              </a:rPr>
              <a:t>Live URL:  kdhs-contraceptive-api.onrender.com</a:t>
            </a:r>
            <a:endParaRPr lang="en-US" sz="1200" dirty="0">
              <a:latin typeface="Georgia" panose="02040502050405020303" pitchFamily="18" charset="0"/>
            </a:endParaRPr>
          </a:p>
        </p:txBody>
      </p:sp>
      <p:sp>
        <p:nvSpPr>
          <p:cNvPr id="14" name="Text 12"/>
          <p:cNvSpPr/>
          <p:nvPr/>
        </p:nvSpPr>
        <p:spPr>
          <a:xfrm>
            <a:off x="822960" y="5989320"/>
            <a:ext cx="7315200" cy="320040"/>
          </a:xfrm>
          <a:prstGeom prst="rect">
            <a:avLst/>
          </a:prstGeom>
          <a:noFill/>
          <a:ln/>
        </p:spPr>
        <p:txBody>
          <a:bodyPr wrap="square" rtlCol="0" anchor="ctr"/>
          <a:lstStyle/>
          <a:p>
            <a:pPr marL="0" indent="0">
              <a:buNone/>
            </a:pPr>
            <a:r>
              <a:rPr lang="en-US" sz="1200" dirty="0">
                <a:solidFill>
                  <a:srgbClr val="BFE3DC"/>
                </a:solidFill>
                <a:latin typeface="Georgia" panose="02040502050405020303" pitchFamily="18" charset="0"/>
                <a:ea typeface="Verdana" pitchFamily="34" charset="-122"/>
                <a:cs typeface="Verdana" pitchFamily="34" charset="-120"/>
              </a:rPr>
              <a:t>GitHub:  github.com/insight-architects</a:t>
            </a:r>
            <a:r>
              <a:rPr lang="en-US" sz="1200">
                <a:solidFill>
                  <a:srgbClr val="BFE3DC"/>
                </a:solidFill>
                <a:latin typeface="Georgia" panose="02040502050405020303" pitchFamily="18" charset="0"/>
                <a:ea typeface="Verdana" pitchFamily="34" charset="-122"/>
                <a:cs typeface="Verdana" pitchFamily="34" charset="-120"/>
              </a:rPr>
              <a:t>/kdhs-2022-capstone</a:t>
            </a:r>
            <a:endParaRPr lang="en-US" sz="1200" dirty="0">
              <a:latin typeface="Georgia" panose="02040502050405020303" pitchFamily="18" charset="0"/>
            </a:endParaRPr>
          </a:p>
        </p:txBody>
      </p:sp>
      <p:sp>
        <p:nvSpPr>
          <p:cNvPr id="15" name="Text 13"/>
          <p:cNvSpPr/>
          <p:nvPr/>
        </p:nvSpPr>
        <p:spPr>
          <a:xfrm>
            <a:off x="11430000" y="6473952"/>
            <a:ext cx="640080" cy="274320"/>
          </a:xfrm>
          <a:prstGeom prst="rect">
            <a:avLst/>
          </a:prstGeom>
          <a:noFill/>
          <a:ln/>
        </p:spPr>
        <p:txBody>
          <a:bodyPr wrap="square" rtlCol="0" anchor="ctr"/>
          <a:lstStyle/>
          <a:p>
            <a:pPr marL="0" indent="0" algn="r">
              <a:buNone/>
            </a:pPr>
            <a:r>
              <a:rPr lang="en-US" sz="900" dirty="0">
                <a:solidFill>
                  <a:srgbClr val="5C6E6A"/>
                </a:solidFill>
                <a:latin typeface="Georgia" panose="02040502050405020303" pitchFamily="18" charset="0"/>
                <a:ea typeface="Verdana" pitchFamily="34" charset="-122"/>
                <a:cs typeface="Verdana" pitchFamily="34" charset="-120"/>
              </a:rPr>
              <a:t>23/ 23</a:t>
            </a:r>
            <a:endParaRPr lang="en-US" sz="900" dirty="0">
              <a:latin typeface="Georgia" panose="02040502050405020303"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2555</Words>
  <Application>Microsoft Office PowerPoint</Application>
  <PresentationFormat>Widescreen</PresentationFormat>
  <Paragraphs>412</Paragraphs>
  <Slides>23</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Georgia</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Joy Nyuguto</cp:lastModifiedBy>
  <cp:revision>4</cp:revision>
  <dcterms:created xsi:type="dcterms:W3CDTF">2026-07-13T06:23:49Z</dcterms:created>
  <dcterms:modified xsi:type="dcterms:W3CDTF">2026-07-20T09:54:42Z</dcterms:modified>
</cp:coreProperties>
</file>