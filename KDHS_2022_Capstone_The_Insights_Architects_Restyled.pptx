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5989320" y="1554480"/>
            <a:ext cx="5806440" cy="4343400"/>
          </a:xfrm>
          <a:prstGeom prst="roundRect">
            <a:avLst>
              <a:gd name="adj" fmla="val 4000"/>
            </a:avLst>
          </a:prstGeom>
          <a:solidFill>
            <a:srgbClr val="FFFFFF"/>
          </a:solidFill>
          <a:ln w="12700">
            <a:solidFill>
              <a:srgbClr val="E91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2.png"/>
          <p:cNvPicPr>
            <a:picLocks noChangeAspect="1"/>
          </p:cNvPicPr>
          <p:nvPr/>
        </p:nvPicPr>
        <p:blipFill>
          <a:blip r:embed="rId3"/>
          <a:stretch>
            <a:fillRect/>
          </a:stretch>
        </p:blipFill>
        <p:spPr>
          <a:xfrm>
            <a:off x="6172200" y="1764792"/>
            <a:ext cx="5440680" cy="3840480"/>
          </a:xfrm>
          <a:prstGeom prst="rect">
            <a:avLst/>
          </a:prstGeom>
        </p:spPr>
      </p:pic>
      <p:sp>
        <p:nvSpPr>
          <p:cNvPr id="5" name="TextBox 4"/>
          <p:cNvSpPr txBox="1"/>
          <p:nvPr/>
        </p:nvSpPr>
        <p:spPr>
          <a:xfrm>
            <a:off x="594360" y="502920"/>
            <a:ext cx="7315200" cy="320040"/>
          </a:xfrm>
          <a:prstGeom prst="rect">
            <a:avLst/>
          </a:prstGeom>
          <a:noFill/>
        </p:spPr>
        <p:txBody>
          <a:bodyPr wrap="square" anchor="t" lIns="0" rIns="0" tIns="0" bIns="0">
            <a:spAutoFit/>
          </a:bodyPr>
          <a:lstStyle/>
          <a:p>
            <a:pPr algn="l">
              <a:lnSpc>
                <a:spcPct val="100000"/>
              </a:lnSpc>
              <a:spcAft>
                <a:spcPts val="400"/>
              </a:spcAft>
            </a:pPr>
            <a:r>
              <a:rPr sz="1400" b="1" i="0">
                <a:solidFill>
                  <a:srgbClr val="FF5CA8"/>
                </a:solidFill>
                <a:latin typeface="Segoe UI"/>
              </a:rPr>
              <a:t>THE INSIGHT ARCHITECTS</a:t>
            </a:r>
          </a:p>
        </p:txBody>
      </p:sp>
      <p:sp>
        <p:nvSpPr>
          <p:cNvPr id="6" name="TextBox 5"/>
          <p:cNvSpPr txBox="1"/>
          <p:nvPr/>
        </p:nvSpPr>
        <p:spPr>
          <a:xfrm>
            <a:off x="594360" y="960120"/>
            <a:ext cx="5852160" cy="1828800"/>
          </a:xfrm>
          <a:prstGeom prst="rect">
            <a:avLst/>
          </a:prstGeom>
          <a:noFill/>
        </p:spPr>
        <p:txBody>
          <a:bodyPr wrap="square" anchor="t" lIns="0" rIns="0" tIns="0" bIns="0">
            <a:spAutoFit/>
          </a:bodyPr>
          <a:lstStyle/>
          <a:p>
            <a:pPr algn="l">
              <a:lnSpc>
                <a:spcPct val="102000"/>
              </a:lnSpc>
              <a:spcAft>
                <a:spcPts val="0"/>
              </a:spcAft>
            </a:pPr>
            <a:r>
              <a:rPr sz="4000" b="1" i="0">
                <a:solidFill>
                  <a:srgbClr val="FFFFFF"/>
                </a:solidFill>
                <a:latin typeface="Segoe UI"/>
              </a:rPr>
              <a:t>Predicting</a:t>
            </a:r>
          </a:p>
          <a:p>
            <a:pPr algn="l">
              <a:lnSpc>
                <a:spcPct val="102000"/>
              </a:lnSpc>
              <a:spcAft>
                <a:spcPts val="0"/>
              </a:spcAft>
            </a:pPr>
            <a:r>
              <a:rPr sz="4000" b="1" i="0">
                <a:solidFill>
                  <a:srgbClr val="FFFFFF"/>
                </a:solidFill>
                <a:latin typeface="Segoe UI"/>
              </a:rPr>
              <a:t>Contraceptive</a:t>
            </a:r>
          </a:p>
          <a:p>
            <a:pPr algn="l">
              <a:lnSpc>
                <a:spcPct val="102000"/>
              </a:lnSpc>
              <a:spcAft>
                <a:spcPts val="0"/>
              </a:spcAft>
            </a:pPr>
            <a:r>
              <a:rPr sz="4000" b="1" i="0">
                <a:solidFill>
                  <a:srgbClr val="FFFFFF"/>
                </a:solidFill>
                <a:latin typeface="Segoe UI"/>
              </a:rPr>
              <a:t>Use in Kenya</a:t>
            </a:r>
          </a:p>
        </p:txBody>
      </p:sp>
      <p:sp>
        <p:nvSpPr>
          <p:cNvPr id="7" name="Rectangle 6"/>
          <p:cNvSpPr/>
          <p:nvPr/>
        </p:nvSpPr>
        <p:spPr>
          <a:xfrm>
            <a:off x="621792" y="2852928"/>
            <a:ext cx="1371600" cy="5486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3063240"/>
            <a:ext cx="5212080" cy="1188720"/>
          </a:xfrm>
          <a:prstGeom prst="rect">
            <a:avLst/>
          </a:prstGeom>
          <a:noFill/>
        </p:spPr>
        <p:txBody>
          <a:bodyPr wrap="square" anchor="t" lIns="0" rIns="0" tIns="0" bIns="0">
            <a:spAutoFit/>
          </a:bodyPr>
          <a:lstStyle/>
          <a:p>
            <a:pPr algn="l">
              <a:lnSpc>
                <a:spcPct val="120000"/>
              </a:lnSpc>
              <a:spcAft>
                <a:spcPts val="400"/>
              </a:spcAft>
            </a:pPr>
            <a:r>
              <a:rPr sz="1500" b="0" i="0">
                <a:solidFill>
                  <a:srgbClr val="BFA9B5"/>
                </a:solidFill>
                <a:latin typeface="Segoe UI"/>
              </a:rPr>
              <a:t>What 32,156 women in the 2022 Kenya Demographic &amp; Health Survey tell us about who uses family planning — and who is being left behind.</a:t>
            </a:r>
          </a:p>
        </p:txBody>
      </p:sp>
      <p:sp>
        <p:nvSpPr>
          <p:cNvPr id="9" name="Oval 8"/>
          <p:cNvSpPr/>
          <p:nvPr/>
        </p:nvSpPr>
        <p:spPr>
          <a:xfrm>
            <a:off x="594360" y="4434840"/>
            <a:ext cx="128016" cy="128016"/>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4389120"/>
            <a:ext cx="20116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Claire Simiyu</a:t>
            </a:r>
          </a:p>
        </p:txBody>
      </p:sp>
      <p:sp>
        <p:nvSpPr>
          <p:cNvPr id="11" name="Oval 10"/>
          <p:cNvSpPr/>
          <p:nvPr/>
        </p:nvSpPr>
        <p:spPr>
          <a:xfrm>
            <a:off x="2788920" y="4434840"/>
            <a:ext cx="128016" cy="128016"/>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26663" y="4389120"/>
            <a:ext cx="20116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Antony Sila</a:t>
            </a:r>
          </a:p>
        </p:txBody>
      </p:sp>
      <p:sp>
        <p:nvSpPr>
          <p:cNvPr id="13" name="Oval 12"/>
          <p:cNvSpPr/>
          <p:nvPr/>
        </p:nvSpPr>
        <p:spPr>
          <a:xfrm>
            <a:off x="594360" y="4855464"/>
            <a:ext cx="128016" cy="128016"/>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 y="4809744"/>
            <a:ext cx="20116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David Theuri</a:t>
            </a:r>
          </a:p>
        </p:txBody>
      </p:sp>
      <p:sp>
        <p:nvSpPr>
          <p:cNvPr id="15" name="Oval 14"/>
          <p:cNvSpPr/>
          <p:nvPr/>
        </p:nvSpPr>
        <p:spPr>
          <a:xfrm>
            <a:off x="2788920" y="4855464"/>
            <a:ext cx="128016" cy="128016"/>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26663" y="4809744"/>
            <a:ext cx="20116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Shadrack Symekah</a:t>
            </a:r>
          </a:p>
        </p:txBody>
      </p:sp>
      <p:sp>
        <p:nvSpPr>
          <p:cNvPr id="17" name="Oval 16"/>
          <p:cNvSpPr/>
          <p:nvPr/>
        </p:nvSpPr>
        <p:spPr>
          <a:xfrm>
            <a:off x="594360" y="5276088"/>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 y="5230368"/>
            <a:ext cx="20116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Joy Nyuguto</a:t>
            </a:r>
          </a:p>
        </p:txBody>
      </p:sp>
      <p:sp>
        <p:nvSpPr>
          <p:cNvPr id="19" name="Oval 18"/>
          <p:cNvSpPr/>
          <p:nvPr/>
        </p:nvSpPr>
        <p:spPr>
          <a:xfrm>
            <a:off x="2788920" y="5276088"/>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26663" y="5230368"/>
            <a:ext cx="20116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Martin Kitema</a:t>
            </a:r>
          </a:p>
        </p:txBody>
      </p:sp>
      <p:sp>
        <p:nvSpPr>
          <p:cNvPr id="21" name="TextBox 20"/>
          <p:cNvSpPr txBox="1"/>
          <p:nvPr/>
        </p:nvSpPr>
        <p:spPr>
          <a:xfrm>
            <a:off x="594360" y="5806440"/>
            <a:ext cx="5943600" cy="320040"/>
          </a:xfrm>
          <a:prstGeom prst="rect">
            <a:avLst/>
          </a:prstGeom>
          <a:noFill/>
        </p:spPr>
        <p:txBody>
          <a:bodyPr wrap="square" anchor="t" lIns="0" rIns="0" tIns="0" bIns="0">
            <a:spAutoFit/>
          </a:bodyPr>
          <a:lstStyle/>
          <a:p>
            <a:pPr algn="l">
              <a:lnSpc>
                <a:spcPct val="100000"/>
              </a:lnSpc>
              <a:spcAft>
                <a:spcPts val="400"/>
              </a:spcAft>
            </a:pPr>
            <a:r>
              <a:rPr sz="1150" b="0" i="0">
                <a:solidFill>
                  <a:srgbClr val="BFA9B5"/>
                </a:solidFill>
                <a:latin typeface="Segoe UI"/>
              </a:rPr>
              <a:t>Live tool:  </a:t>
            </a:r>
            <a:r>
              <a:rPr sz="1150" b="1" i="0">
                <a:solidFill>
                  <a:srgbClr val="FF5CA8"/>
                </a:solidFill>
                <a:latin typeface="Segoe UI"/>
              </a:rPr>
              <a:t>kdhs-contraceptive-api.onrender.com</a:t>
            </a:r>
          </a:p>
        </p:txBody>
      </p:sp>
      <p:sp>
        <p:nvSpPr>
          <p:cNvPr id="22" name="Rectangle 21"/>
          <p:cNvSpPr/>
          <p:nvPr/>
        </p:nvSpPr>
        <p:spPr>
          <a:xfrm>
            <a:off x="0" y="6711696"/>
            <a:ext cx="5394960" cy="14630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94960" y="6711696"/>
            <a:ext cx="3474720"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6711696"/>
            <a:ext cx="3322015" cy="146304"/>
          </a:xfrm>
          <a:prstGeom prst="rect">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WHY THIS PROJECT EXISTS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One country. Two realities.</a:t>
            </a:r>
          </a:p>
        </p:txBody>
      </p:sp>
      <p:sp>
        <p:nvSpPr>
          <p:cNvPr id="5" name="Rounded Rectangle 4"/>
          <p:cNvSpPr/>
          <p:nvPr/>
        </p:nvSpPr>
        <p:spPr>
          <a:xfrm>
            <a:off x="822960" y="1600200"/>
            <a:ext cx="5029200" cy="28803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600200"/>
            <a:ext cx="5029200" cy="128016"/>
          </a:xfrm>
          <a:prstGeom prst="roundRect">
            <a:avLst>
              <a:gd name="adj" fmla="val 50000"/>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65960"/>
            <a:ext cx="5029200" cy="1234440"/>
          </a:xfrm>
          <a:prstGeom prst="rect">
            <a:avLst/>
          </a:prstGeom>
          <a:noFill/>
        </p:spPr>
        <p:txBody>
          <a:bodyPr wrap="square" anchor="t" lIns="0" rIns="0" tIns="0" bIns="0">
            <a:spAutoFit/>
          </a:bodyPr>
          <a:lstStyle/>
          <a:p>
            <a:pPr algn="ctr">
              <a:lnSpc>
                <a:spcPct val="100000"/>
              </a:lnSpc>
              <a:spcAft>
                <a:spcPts val="400"/>
              </a:spcAft>
            </a:pPr>
            <a:r>
              <a:rPr sz="7200" b="1" i="0">
                <a:solidFill>
                  <a:srgbClr val="E91E63"/>
                </a:solidFill>
                <a:latin typeface="Segoe UI"/>
              </a:rPr>
              <a:t>57%</a:t>
            </a:r>
          </a:p>
        </p:txBody>
      </p:sp>
      <p:sp>
        <p:nvSpPr>
          <p:cNvPr id="8" name="TextBox 7"/>
          <p:cNvSpPr txBox="1"/>
          <p:nvPr/>
        </p:nvSpPr>
        <p:spPr>
          <a:xfrm>
            <a:off x="822960" y="3337560"/>
            <a:ext cx="5029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1A1418"/>
                </a:solidFill>
                <a:latin typeface="Segoe UI"/>
              </a:rPr>
              <a:t>EMBU COUNTY</a:t>
            </a:r>
          </a:p>
        </p:txBody>
      </p:sp>
      <p:sp>
        <p:nvSpPr>
          <p:cNvPr id="9" name="TextBox 8"/>
          <p:cNvSpPr txBox="1"/>
          <p:nvPr/>
        </p:nvSpPr>
        <p:spPr>
          <a:xfrm>
            <a:off x="822960" y="3749039"/>
            <a:ext cx="5029200" cy="457200"/>
          </a:xfrm>
          <a:prstGeom prst="rect">
            <a:avLst/>
          </a:prstGeom>
          <a:noFill/>
        </p:spPr>
        <p:txBody>
          <a:bodyPr wrap="square" anchor="t" lIns="0" rIns="0" tIns="0" bIns="0">
            <a:spAutoFit/>
          </a:bodyPr>
          <a:lstStyle/>
          <a:p>
            <a:pPr algn="ctr">
              <a:lnSpc>
                <a:spcPct val="100000"/>
              </a:lnSpc>
              <a:spcAft>
                <a:spcPts val="400"/>
              </a:spcAft>
            </a:pPr>
            <a:r>
              <a:rPr sz="1150" b="0" i="0">
                <a:solidFill>
                  <a:srgbClr val="6E5F68"/>
                </a:solidFill>
                <a:latin typeface="Segoe UI"/>
              </a:rPr>
              <a:t>of women aged 15–49 use modern contraception</a:t>
            </a:r>
          </a:p>
        </p:txBody>
      </p:sp>
      <p:sp>
        <p:nvSpPr>
          <p:cNvPr id="10" name="Rounded Rectangle 9"/>
          <p:cNvSpPr/>
          <p:nvPr/>
        </p:nvSpPr>
        <p:spPr>
          <a:xfrm>
            <a:off x="6355080" y="1600200"/>
            <a:ext cx="5029200" cy="28803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55080" y="1600200"/>
            <a:ext cx="5029200" cy="12801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65960"/>
            <a:ext cx="5029200" cy="1234440"/>
          </a:xfrm>
          <a:prstGeom prst="rect">
            <a:avLst/>
          </a:prstGeom>
          <a:noFill/>
        </p:spPr>
        <p:txBody>
          <a:bodyPr wrap="square" anchor="t" lIns="0" rIns="0" tIns="0" bIns="0">
            <a:spAutoFit/>
          </a:bodyPr>
          <a:lstStyle/>
          <a:p>
            <a:pPr algn="ctr">
              <a:lnSpc>
                <a:spcPct val="100000"/>
              </a:lnSpc>
              <a:spcAft>
                <a:spcPts val="400"/>
              </a:spcAft>
            </a:pPr>
            <a:r>
              <a:rPr sz="7200" b="1" i="0">
                <a:solidFill>
                  <a:srgbClr val="261E24"/>
                </a:solidFill>
                <a:latin typeface="Segoe UI"/>
              </a:rPr>
              <a:t>1.2%</a:t>
            </a:r>
          </a:p>
        </p:txBody>
      </p:sp>
      <p:sp>
        <p:nvSpPr>
          <p:cNvPr id="13" name="TextBox 12"/>
          <p:cNvSpPr txBox="1"/>
          <p:nvPr/>
        </p:nvSpPr>
        <p:spPr>
          <a:xfrm>
            <a:off x="6355080" y="3337560"/>
            <a:ext cx="5029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1A1418"/>
                </a:solidFill>
                <a:latin typeface="Segoe UI"/>
              </a:rPr>
              <a:t>MANDERA COUNTY</a:t>
            </a:r>
          </a:p>
        </p:txBody>
      </p:sp>
      <p:sp>
        <p:nvSpPr>
          <p:cNvPr id="14" name="TextBox 13"/>
          <p:cNvSpPr txBox="1"/>
          <p:nvPr/>
        </p:nvSpPr>
        <p:spPr>
          <a:xfrm>
            <a:off x="6355080" y="3749039"/>
            <a:ext cx="5029200" cy="457200"/>
          </a:xfrm>
          <a:prstGeom prst="rect">
            <a:avLst/>
          </a:prstGeom>
          <a:noFill/>
        </p:spPr>
        <p:txBody>
          <a:bodyPr wrap="square" anchor="t" lIns="0" rIns="0" tIns="0" bIns="0">
            <a:spAutoFit/>
          </a:bodyPr>
          <a:lstStyle/>
          <a:p>
            <a:pPr algn="ctr">
              <a:lnSpc>
                <a:spcPct val="100000"/>
              </a:lnSpc>
              <a:spcAft>
                <a:spcPts val="400"/>
              </a:spcAft>
            </a:pPr>
            <a:r>
              <a:rPr sz="1150" b="0" i="0">
                <a:solidFill>
                  <a:srgbClr val="6E5F68"/>
                </a:solidFill>
                <a:latin typeface="Segoe UI"/>
              </a:rPr>
              <a:t>of women aged 15–49 use modern contraception</a:t>
            </a:r>
          </a:p>
        </p:txBody>
      </p:sp>
      <p:sp>
        <p:nvSpPr>
          <p:cNvPr id="15" name="TextBox 14"/>
          <p:cNvSpPr txBox="1"/>
          <p:nvPr/>
        </p:nvSpPr>
        <p:spPr>
          <a:xfrm>
            <a:off x="5394960" y="2697480"/>
            <a:ext cx="1417320" cy="731520"/>
          </a:xfrm>
          <a:prstGeom prst="rect">
            <a:avLst/>
          </a:prstGeom>
          <a:noFill/>
        </p:spPr>
        <p:txBody>
          <a:bodyPr wrap="square" anchor="t" lIns="0" rIns="0" tIns="0" bIns="0">
            <a:spAutoFit/>
          </a:bodyPr>
          <a:lstStyle/>
          <a:p>
            <a:pPr algn="ctr">
              <a:lnSpc>
                <a:spcPct val="100000"/>
              </a:lnSpc>
              <a:spcAft>
                <a:spcPts val="400"/>
              </a:spcAft>
            </a:pPr>
            <a:r>
              <a:rPr sz="3000" b="1" i="0">
                <a:solidFill>
                  <a:srgbClr val="BFA9B5"/>
                </a:solidFill>
                <a:latin typeface="Segoe UI"/>
              </a:rPr>
              <a:t>vs</a:t>
            </a:r>
          </a:p>
        </p:txBody>
      </p:sp>
      <p:sp>
        <p:nvSpPr>
          <p:cNvPr id="16" name="Rounded Rectangle 15"/>
          <p:cNvSpPr/>
          <p:nvPr/>
        </p:nvSpPr>
        <p:spPr>
          <a:xfrm>
            <a:off x="822960" y="4800600"/>
            <a:ext cx="10561320" cy="141732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910328"/>
            <a:ext cx="64008" cy="119786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946904"/>
            <a:ext cx="1019556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WHY IT MATTERS</a:t>
            </a:r>
          </a:p>
        </p:txBody>
      </p:sp>
      <p:sp>
        <p:nvSpPr>
          <p:cNvPr id="19" name="TextBox 18"/>
          <p:cNvSpPr txBox="1"/>
          <p:nvPr/>
        </p:nvSpPr>
        <p:spPr>
          <a:xfrm>
            <a:off x="1024128" y="5239512"/>
            <a:ext cx="10177272" cy="868680"/>
          </a:xfrm>
          <a:prstGeom prst="rect">
            <a:avLst/>
          </a:prstGeom>
          <a:noFill/>
        </p:spPr>
        <p:txBody>
          <a:bodyPr wrap="square" anchor="t" lIns="0" rIns="0" tIns="0" bIns="0">
            <a:spAutoFit/>
          </a:bodyPr>
          <a:lstStyle/>
          <a:p>
            <a:pPr algn="l">
              <a:lnSpc>
                <a:spcPct val="108000"/>
              </a:lnSpc>
              <a:spcAft>
                <a:spcPts val="400"/>
              </a:spcAft>
            </a:pPr>
            <a:r>
              <a:rPr sz="1350" b="0" i="0">
                <a:solidFill>
                  <a:srgbClr val="1A1418"/>
                </a:solidFill>
                <a:latin typeface="Segoe UI"/>
              </a:rPr>
              <a:t>Behind every data point is a real woman navigating her choices within the realities of her county and household. </a:t>
            </a:r>
            <a:r>
              <a:rPr sz="1350" b="1" i="0">
                <a:solidFill>
                  <a:srgbClr val="1A1418"/>
                </a:solidFill>
                <a:latin typeface="Segoe UI"/>
              </a:rPr>
              <a:t>A 56-point gap between two counties in one country means help is not reaching the women who need it most. </a:t>
            </a:r>
            <a:r>
              <a:rPr sz="1350" b="0" i="0">
                <a:solidFill>
                  <a:srgbClr val="1A1418"/>
                </a:solidFill>
                <a:latin typeface="Segoe UI"/>
              </a:rPr>
              <a:t>This project predicts who is being left behind, explains why, and puts that knowledge into planners' hands.</a:t>
            </a:r>
          </a:p>
        </p:txBody>
      </p:sp>
      <p:sp>
        <p:nvSpPr>
          <p:cNvPr id="20" name="Rectangle 19"/>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22" name="TextBox 21"/>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02 / 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OUR OBJECTIVES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Five questions we promised to answer</a:t>
            </a:r>
          </a:p>
        </p:txBody>
      </p:sp>
      <p:sp>
        <p:nvSpPr>
          <p:cNvPr id="5" name="TextBox 4"/>
          <p:cNvSpPr txBox="1"/>
          <p:nvPr/>
        </p:nvSpPr>
        <p:spPr>
          <a:xfrm>
            <a:off x="502920" y="1280160"/>
            <a:ext cx="11155680" cy="548640"/>
          </a:xfrm>
          <a:prstGeom prst="rect">
            <a:avLst/>
          </a:prstGeom>
          <a:noFill/>
        </p:spPr>
        <p:txBody>
          <a:bodyPr wrap="square" anchor="t" lIns="0" rIns="0" tIns="0" bIns="0">
            <a:spAutoFit/>
          </a:bodyPr>
          <a:lstStyle/>
          <a:p>
            <a:pPr algn="l">
              <a:lnSpc>
                <a:spcPct val="115000"/>
              </a:lnSpc>
              <a:spcAft>
                <a:spcPts val="400"/>
              </a:spcAft>
            </a:pPr>
            <a:r>
              <a:rPr sz="1400" b="0" i="1">
                <a:solidFill>
                  <a:srgbClr val="BFA9B5"/>
                </a:solidFill>
                <a:latin typeface="Segoe UI"/>
              </a:rPr>
              <a:t>Our mission, in plain words: help Kenya's health planners find the women family planning is not reaching — and give them a working tool to act on it.</a:t>
            </a:r>
          </a:p>
        </p:txBody>
      </p:sp>
      <p:sp>
        <p:nvSpPr>
          <p:cNvPr id="6" name="Rounded Rectangle 5"/>
          <p:cNvSpPr/>
          <p:nvPr/>
        </p:nvSpPr>
        <p:spPr>
          <a:xfrm>
            <a:off x="502920" y="2011680"/>
            <a:ext cx="2112264" cy="35204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2212848"/>
            <a:ext cx="566928" cy="566928"/>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331720"/>
            <a:ext cx="566928"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Q1</a:t>
            </a:r>
          </a:p>
        </p:txBody>
      </p:sp>
      <p:sp>
        <p:nvSpPr>
          <p:cNvPr id="9" name="TextBox 8"/>
          <p:cNvSpPr txBox="1"/>
          <p:nvPr/>
        </p:nvSpPr>
        <p:spPr>
          <a:xfrm>
            <a:off x="685800" y="2926080"/>
            <a:ext cx="178308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THE PICTURE</a:t>
            </a:r>
          </a:p>
        </p:txBody>
      </p:sp>
      <p:sp>
        <p:nvSpPr>
          <p:cNvPr id="10" name="TextBox 9"/>
          <p:cNvSpPr txBox="1"/>
          <p:nvPr/>
        </p:nvSpPr>
        <p:spPr>
          <a:xfrm>
            <a:off x="685800" y="3310128"/>
            <a:ext cx="1783080" cy="15544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How many women use a modern method, a traditional one, a folkloric one — or none at all?</a:t>
            </a:r>
          </a:p>
        </p:txBody>
      </p:sp>
      <p:sp>
        <p:nvSpPr>
          <p:cNvPr id="11" name="TextBox 10"/>
          <p:cNvSpPr txBox="1"/>
          <p:nvPr/>
        </p:nvSpPr>
        <p:spPr>
          <a:xfrm>
            <a:off x="685800" y="5120640"/>
            <a:ext cx="1783080" cy="274320"/>
          </a:xfrm>
          <a:prstGeom prst="rect">
            <a:avLst/>
          </a:prstGeom>
          <a:noFill/>
        </p:spPr>
        <p:txBody>
          <a:bodyPr wrap="square" anchor="t" lIns="0" rIns="0" tIns="0" bIns="0">
            <a:spAutoFit/>
          </a:bodyPr>
          <a:lstStyle/>
          <a:p>
            <a:pPr algn="l">
              <a:lnSpc>
                <a:spcPct val="100000"/>
              </a:lnSpc>
              <a:spcAft>
                <a:spcPts val="400"/>
              </a:spcAft>
            </a:pPr>
            <a:r>
              <a:rPr sz="900" b="1" i="0">
                <a:solidFill>
                  <a:srgbClr val="E91E63"/>
                </a:solidFill>
                <a:latin typeface="Segoe UI"/>
              </a:rPr>
              <a:t>Answered in Part 2</a:t>
            </a:r>
          </a:p>
        </p:txBody>
      </p:sp>
      <p:sp>
        <p:nvSpPr>
          <p:cNvPr id="12" name="Rounded Rectangle 11"/>
          <p:cNvSpPr/>
          <p:nvPr/>
        </p:nvSpPr>
        <p:spPr>
          <a:xfrm>
            <a:off x="2798063" y="2011680"/>
            <a:ext cx="2112264" cy="35204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80944" y="2212848"/>
            <a:ext cx="566928" cy="566928"/>
          </a:xfrm>
          <a:prstGeom prst="ellipse">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80944" y="2331720"/>
            <a:ext cx="566928"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Q2</a:t>
            </a:r>
          </a:p>
        </p:txBody>
      </p:sp>
      <p:sp>
        <p:nvSpPr>
          <p:cNvPr id="15" name="TextBox 14"/>
          <p:cNvSpPr txBox="1"/>
          <p:nvPr/>
        </p:nvSpPr>
        <p:spPr>
          <a:xfrm>
            <a:off x="2980944" y="2926080"/>
            <a:ext cx="178308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PLACES &amp; PEOPLE</a:t>
            </a:r>
          </a:p>
        </p:txBody>
      </p:sp>
      <p:sp>
        <p:nvSpPr>
          <p:cNvPr id="16" name="TextBox 15"/>
          <p:cNvSpPr txBox="1"/>
          <p:nvPr/>
        </p:nvSpPr>
        <p:spPr>
          <a:xfrm>
            <a:off x="2980944" y="3310128"/>
            <a:ext cx="1783080" cy="15544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Which counties have the most non-use, and what do the women at highest risk have in common?</a:t>
            </a:r>
          </a:p>
        </p:txBody>
      </p:sp>
      <p:sp>
        <p:nvSpPr>
          <p:cNvPr id="17" name="TextBox 16"/>
          <p:cNvSpPr txBox="1"/>
          <p:nvPr/>
        </p:nvSpPr>
        <p:spPr>
          <a:xfrm>
            <a:off x="2980944" y="5120640"/>
            <a:ext cx="1783080" cy="274320"/>
          </a:xfrm>
          <a:prstGeom prst="rect">
            <a:avLst/>
          </a:prstGeom>
          <a:noFill/>
        </p:spPr>
        <p:txBody>
          <a:bodyPr wrap="square" anchor="t" lIns="0" rIns="0" tIns="0" bIns="0">
            <a:spAutoFit/>
          </a:bodyPr>
          <a:lstStyle/>
          <a:p>
            <a:pPr algn="l">
              <a:lnSpc>
                <a:spcPct val="100000"/>
              </a:lnSpc>
              <a:spcAft>
                <a:spcPts val="400"/>
              </a:spcAft>
            </a:pPr>
            <a:r>
              <a:rPr sz="900" b="1" i="0">
                <a:solidFill>
                  <a:srgbClr val="E91E63"/>
                </a:solidFill>
                <a:latin typeface="Segoe UI"/>
              </a:rPr>
              <a:t>Answered in Parts 2 &amp; 5</a:t>
            </a:r>
          </a:p>
        </p:txBody>
      </p:sp>
      <p:sp>
        <p:nvSpPr>
          <p:cNvPr id="18" name="Rounded Rectangle 17"/>
          <p:cNvSpPr/>
          <p:nvPr/>
        </p:nvSpPr>
        <p:spPr>
          <a:xfrm>
            <a:off x="5093207" y="2011680"/>
            <a:ext cx="2112264" cy="35204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276088" y="2212848"/>
            <a:ext cx="566928" cy="566928"/>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76088" y="2331720"/>
            <a:ext cx="566928"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Q3</a:t>
            </a:r>
          </a:p>
        </p:txBody>
      </p:sp>
      <p:sp>
        <p:nvSpPr>
          <p:cNvPr id="21" name="TextBox 20"/>
          <p:cNvSpPr txBox="1"/>
          <p:nvPr/>
        </p:nvSpPr>
        <p:spPr>
          <a:xfrm>
            <a:off x="5276088" y="2926080"/>
            <a:ext cx="178308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MONEY vs SCHOOL</a:t>
            </a:r>
          </a:p>
        </p:txBody>
      </p:sp>
      <p:sp>
        <p:nvSpPr>
          <p:cNvPr id="22" name="TextBox 21"/>
          <p:cNvSpPr txBox="1"/>
          <p:nvPr/>
        </p:nvSpPr>
        <p:spPr>
          <a:xfrm>
            <a:off x="5276088" y="3310128"/>
            <a:ext cx="1783080" cy="15544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How do wealth and education work together to shape whether a woman uses contraception?</a:t>
            </a:r>
          </a:p>
        </p:txBody>
      </p:sp>
      <p:sp>
        <p:nvSpPr>
          <p:cNvPr id="23" name="TextBox 22"/>
          <p:cNvSpPr txBox="1"/>
          <p:nvPr/>
        </p:nvSpPr>
        <p:spPr>
          <a:xfrm>
            <a:off x="5276088" y="5120640"/>
            <a:ext cx="1783080" cy="274320"/>
          </a:xfrm>
          <a:prstGeom prst="rect">
            <a:avLst/>
          </a:prstGeom>
          <a:noFill/>
        </p:spPr>
        <p:txBody>
          <a:bodyPr wrap="square" anchor="t" lIns="0" rIns="0" tIns="0" bIns="0">
            <a:spAutoFit/>
          </a:bodyPr>
          <a:lstStyle/>
          <a:p>
            <a:pPr algn="l">
              <a:lnSpc>
                <a:spcPct val="100000"/>
              </a:lnSpc>
              <a:spcAft>
                <a:spcPts val="400"/>
              </a:spcAft>
            </a:pPr>
            <a:r>
              <a:rPr sz="900" b="1" i="0">
                <a:solidFill>
                  <a:srgbClr val="E91E63"/>
                </a:solidFill>
                <a:latin typeface="Segoe UI"/>
              </a:rPr>
              <a:t>Answered in Part 2</a:t>
            </a:r>
          </a:p>
        </p:txBody>
      </p:sp>
      <p:sp>
        <p:nvSpPr>
          <p:cNvPr id="24" name="Rounded Rectangle 23"/>
          <p:cNvSpPr/>
          <p:nvPr/>
        </p:nvSpPr>
        <p:spPr>
          <a:xfrm>
            <a:off x="7388352" y="2011680"/>
            <a:ext cx="2112264" cy="35204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571231" y="2212848"/>
            <a:ext cx="566928" cy="566928"/>
          </a:xfrm>
          <a:prstGeom prst="ellipse">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71231" y="2331720"/>
            <a:ext cx="566928"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Q4</a:t>
            </a:r>
          </a:p>
        </p:txBody>
      </p:sp>
      <p:sp>
        <p:nvSpPr>
          <p:cNvPr id="27" name="TextBox 26"/>
          <p:cNvSpPr txBox="1"/>
          <p:nvPr/>
        </p:nvSpPr>
        <p:spPr>
          <a:xfrm>
            <a:off x="7571231" y="2926080"/>
            <a:ext cx="178308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TOWN vs COUNTRY</a:t>
            </a:r>
          </a:p>
        </p:txBody>
      </p:sp>
      <p:sp>
        <p:nvSpPr>
          <p:cNvPr id="28" name="TextBox 27"/>
          <p:cNvSpPr txBox="1"/>
          <p:nvPr/>
        </p:nvSpPr>
        <p:spPr>
          <a:xfrm>
            <a:off x="7571231" y="3310128"/>
            <a:ext cx="1783080" cy="15544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Does living in a city or the countryside still matter once wealth and education are taken into account?</a:t>
            </a:r>
          </a:p>
        </p:txBody>
      </p:sp>
      <p:sp>
        <p:nvSpPr>
          <p:cNvPr id="29" name="TextBox 28"/>
          <p:cNvSpPr txBox="1"/>
          <p:nvPr/>
        </p:nvSpPr>
        <p:spPr>
          <a:xfrm>
            <a:off x="7571231" y="5120640"/>
            <a:ext cx="1783080" cy="274320"/>
          </a:xfrm>
          <a:prstGeom prst="rect">
            <a:avLst/>
          </a:prstGeom>
          <a:noFill/>
        </p:spPr>
        <p:txBody>
          <a:bodyPr wrap="square" anchor="t" lIns="0" rIns="0" tIns="0" bIns="0">
            <a:spAutoFit/>
          </a:bodyPr>
          <a:lstStyle/>
          <a:p>
            <a:pPr algn="l">
              <a:lnSpc>
                <a:spcPct val="100000"/>
              </a:lnSpc>
              <a:spcAft>
                <a:spcPts val="400"/>
              </a:spcAft>
            </a:pPr>
            <a:r>
              <a:rPr sz="900" b="1" i="0">
                <a:solidFill>
                  <a:srgbClr val="E91E63"/>
                </a:solidFill>
                <a:latin typeface="Segoe UI"/>
              </a:rPr>
              <a:t>Answered in Part 2</a:t>
            </a:r>
          </a:p>
        </p:txBody>
      </p:sp>
      <p:sp>
        <p:nvSpPr>
          <p:cNvPr id="30" name="Rounded Rectangle 29"/>
          <p:cNvSpPr/>
          <p:nvPr/>
        </p:nvSpPr>
        <p:spPr>
          <a:xfrm>
            <a:off x="9683496" y="2011680"/>
            <a:ext cx="2112264" cy="35204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866376" y="2212848"/>
            <a:ext cx="566928" cy="566928"/>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66376" y="2331720"/>
            <a:ext cx="566928"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Q5</a:t>
            </a:r>
          </a:p>
        </p:txBody>
      </p:sp>
      <p:sp>
        <p:nvSpPr>
          <p:cNvPr id="33" name="TextBox 32"/>
          <p:cNvSpPr txBox="1"/>
          <p:nvPr/>
        </p:nvSpPr>
        <p:spPr>
          <a:xfrm>
            <a:off x="9866376" y="2926080"/>
            <a:ext cx="1783080" cy="36576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THE PREDICTOR</a:t>
            </a:r>
          </a:p>
        </p:txBody>
      </p:sp>
      <p:sp>
        <p:nvSpPr>
          <p:cNvPr id="34" name="TextBox 33"/>
          <p:cNvSpPr txBox="1"/>
          <p:nvPr/>
        </p:nvSpPr>
        <p:spPr>
          <a:xfrm>
            <a:off x="9866376" y="3310128"/>
            <a:ext cx="1783080" cy="15544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Which prediction model works best — and what actually drives its decisions?</a:t>
            </a:r>
          </a:p>
        </p:txBody>
      </p:sp>
      <p:sp>
        <p:nvSpPr>
          <p:cNvPr id="35" name="TextBox 34"/>
          <p:cNvSpPr txBox="1"/>
          <p:nvPr/>
        </p:nvSpPr>
        <p:spPr>
          <a:xfrm>
            <a:off x="9866376" y="5120640"/>
            <a:ext cx="1783080" cy="274320"/>
          </a:xfrm>
          <a:prstGeom prst="rect">
            <a:avLst/>
          </a:prstGeom>
          <a:noFill/>
        </p:spPr>
        <p:txBody>
          <a:bodyPr wrap="square" anchor="t" lIns="0" rIns="0" tIns="0" bIns="0">
            <a:spAutoFit/>
          </a:bodyPr>
          <a:lstStyle/>
          <a:p>
            <a:pPr algn="l">
              <a:lnSpc>
                <a:spcPct val="100000"/>
              </a:lnSpc>
              <a:spcAft>
                <a:spcPts val="400"/>
              </a:spcAft>
            </a:pPr>
            <a:r>
              <a:rPr sz="900" b="1" i="0">
                <a:solidFill>
                  <a:srgbClr val="E91E63"/>
                </a:solidFill>
                <a:latin typeface="Segoe UI"/>
              </a:rPr>
              <a:t>Answered in Parts 3 &amp; 4</a:t>
            </a:r>
          </a:p>
        </p:txBody>
      </p:sp>
      <p:sp>
        <p:nvSpPr>
          <p:cNvPr id="36" name="TextBox 35"/>
          <p:cNvSpPr txBox="1"/>
          <p:nvPr/>
        </p:nvSpPr>
        <p:spPr>
          <a:xfrm>
            <a:off x="502920" y="5760720"/>
            <a:ext cx="11155680" cy="457200"/>
          </a:xfrm>
          <a:prstGeom prst="rect">
            <a:avLst/>
          </a:prstGeom>
          <a:noFill/>
        </p:spPr>
        <p:txBody>
          <a:bodyPr wrap="square" anchor="t" lIns="0" rIns="0" tIns="0" bIns="0">
            <a:spAutoFit/>
          </a:bodyPr>
          <a:lstStyle/>
          <a:p>
            <a:pPr algn="ctr">
              <a:lnSpc>
                <a:spcPct val="100000"/>
              </a:lnSpc>
              <a:spcAft>
                <a:spcPts val="400"/>
              </a:spcAft>
            </a:pPr>
            <a:r>
              <a:rPr sz="1150" b="0" i="0">
                <a:solidFill>
                  <a:srgbClr val="BFA9B5"/>
                </a:solidFill>
                <a:latin typeface="Segoe UI"/>
              </a:rPr>
              <a:t>Watch for the pink tags on the slides ahead — each one marks a question being answered.</a:t>
            </a:r>
          </a:p>
        </p:txBody>
      </p:sp>
      <p:sp>
        <p:nvSpPr>
          <p:cNvPr id="37" name="Rectangle 3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39" name="TextBox 3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03 / 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THE JOURNEY</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How we'll walk you through it</a:t>
            </a:r>
          </a:p>
        </p:txBody>
      </p:sp>
      <p:sp>
        <p:nvSpPr>
          <p:cNvPr id="5" name="Rounded Rectangle 4"/>
          <p:cNvSpPr/>
          <p:nvPr/>
        </p:nvSpPr>
        <p:spPr>
          <a:xfrm>
            <a:off x="502920" y="1737360"/>
            <a:ext cx="2112264" cy="32918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4.png"/>
          <p:cNvPicPr>
            <a:picLocks noChangeAspect="1"/>
          </p:cNvPicPr>
          <p:nvPr/>
        </p:nvPicPr>
        <p:blipFill>
          <a:blip r:embed="rId3"/>
          <a:stretch>
            <a:fillRect/>
          </a:stretch>
        </p:blipFill>
        <p:spPr>
          <a:xfrm>
            <a:off x="1010412" y="2057400"/>
            <a:ext cx="1097280" cy="1097280"/>
          </a:xfrm>
          <a:prstGeom prst="rect">
            <a:avLst/>
          </a:prstGeom>
        </p:spPr>
      </p:pic>
      <p:sp>
        <p:nvSpPr>
          <p:cNvPr id="7" name="TextBox 6"/>
          <p:cNvSpPr txBox="1"/>
          <p:nvPr/>
        </p:nvSpPr>
        <p:spPr>
          <a:xfrm>
            <a:off x="594360" y="3337560"/>
            <a:ext cx="1929384" cy="365760"/>
          </a:xfrm>
          <a:prstGeom prst="rect">
            <a:avLst/>
          </a:prstGeom>
          <a:noFill/>
        </p:spPr>
        <p:txBody>
          <a:bodyPr wrap="square" anchor="t" lIns="0" rIns="0" tIns="0" bIns="0">
            <a:spAutoFit/>
          </a:bodyPr>
          <a:lstStyle/>
          <a:p>
            <a:pPr algn="ctr">
              <a:lnSpc>
                <a:spcPct val="100000"/>
              </a:lnSpc>
              <a:spcAft>
                <a:spcPts val="400"/>
              </a:spcAft>
            </a:pPr>
            <a:r>
              <a:rPr sz="1000" b="1" i="0">
                <a:solidFill>
                  <a:srgbClr val="E91E63"/>
                </a:solidFill>
                <a:latin typeface="Segoe UI"/>
              </a:rPr>
              <a:t>PART 1</a:t>
            </a:r>
          </a:p>
        </p:txBody>
      </p:sp>
      <p:sp>
        <p:nvSpPr>
          <p:cNvPr id="8" name="TextBox 7"/>
          <p:cNvSpPr txBox="1"/>
          <p:nvPr/>
        </p:nvSpPr>
        <p:spPr>
          <a:xfrm>
            <a:off x="594360" y="3611880"/>
            <a:ext cx="1929384" cy="365760"/>
          </a:xfrm>
          <a:prstGeom prst="rect">
            <a:avLst/>
          </a:prstGeom>
          <a:noFill/>
        </p:spPr>
        <p:txBody>
          <a:bodyPr wrap="square" anchor="t" lIns="0" rIns="0" tIns="0" bIns="0">
            <a:spAutoFit/>
          </a:bodyPr>
          <a:lstStyle/>
          <a:p>
            <a:pPr algn="ctr">
              <a:lnSpc>
                <a:spcPct val="100000"/>
              </a:lnSpc>
              <a:spcAft>
                <a:spcPts val="400"/>
              </a:spcAft>
            </a:pPr>
            <a:r>
              <a:rPr sz="1350" b="1" i="0">
                <a:solidFill>
                  <a:srgbClr val="1A1418"/>
                </a:solidFill>
                <a:latin typeface="Segoe UI"/>
              </a:rPr>
              <a:t>THE DATA</a:t>
            </a:r>
          </a:p>
        </p:txBody>
      </p:sp>
      <p:sp>
        <p:nvSpPr>
          <p:cNvPr id="9" name="TextBox 8"/>
          <p:cNvSpPr txBox="1"/>
          <p:nvPr/>
        </p:nvSpPr>
        <p:spPr>
          <a:xfrm>
            <a:off x="649224" y="4023360"/>
            <a:ext cx="1819656" cy="868680"/>
          </a:xfrm>
          <a:prstGeom prst="rect">
            <a:avLst/>
          </a:prstGeom>
          <a:noFill/>
        </p:spPr>
        <p:txBody>
          <a:bodyPr wrap="square" anchor="t" lIns="0" rIns="0" tIns="0" bIns="0">
            <a:spAutoFit/>
          </a:bodyPr>
          <a:lstStyle/>
          <a:p>
            <a:pPr algn="ctr">
              <a:lnSpc>
                <a:spcPct val="110000"/>
              </a:lnSpc>
              <a:spcAft>
                <a:spcPts val="400"/>
              </a:spcAft>
            </a:pPr>
            <a:r>
              <a:rPr sz="1050" b="0" i="0">
                <a:solidFill>
                  <a:srgbClr val="6E5F68"/>
                </a:solidFill>
                <a:latin typeface="Segoe UI"/>
              </a:rPr>
              <a:t>One national survey, 32,156 voices</a:t>
            </a:r>
          </a:p>
        </p:txBody>
      </p:sp>
      <p:sp>
        <p:nvSpPr>
          <p:cNvPr id="10" name="TextBox 9"/>
          <p:cNvSpPr txBox="1"/>
          <p:nvPr/>
        </p:nvSpPr>
        <p:spPr>
          <a:xfrm>
            <a:off x="2615184" y="3017520"/>
            <a:ext cx="18288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5CA8"/>
                </a:solidFill>
                <a:latin typeface="Segoe UI"/>
              </a:rPr>
              <a:t>→</a:t>
            </a:r>
          </a:p>
        </p:txBody>
      </p:sp>
      <p:sp>
        <p:nvSpPr>
          <p:cNvPr id="11" name="Rounded Rectangle 10"/>
          <p:cNvSpPr/>
          <p:nvPr/>
        </p:nvSpPr>
        <p:spPr>
          <a:xfrm>
            <a:off x="2798063" y="1737360"/>
            <a:ext cx="2112264" cy="32918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5.png"/>
          <p:cNvPicPr>
            <a:picLocks noChangeAspect="1"/>
          </p:cNvPicPr>
          <p:nvPr/>
        </p:nvPicPr>
        <p:blipFill>
          <a:blip r:embed="rId4"/>
          <a:stretch>
            <a:fillRect/>
          </a:stretch>
        </p:blipFill>
        <p:spPr>
          <a:xfrm>
            <a:off x="3305556" y="2057400"/>
            <a:ext cx="1097280" cy="1097280"/>
          </a:xfrm>
          <a:prstGeom prst="rect">
            <a:avLst/>
          </a:prstGeom>
        </p:spPr>
      </p:pic>
      <p:sp>
        <p:nvSpPr>
          <p:cNvPr id="13" name="TextBox 12"/>
          <p:cNvSpPr txBox="1"/>
          <p:nvPr/>
        </p:nvSpPr>
        <p:spPr>
          <a:xfrm>
            <a:off x="2889503" y="3337560"/>
            <a:ext cx="1929384" cy="365760"/>
          </a:xfrm>
          <a:prstGeom prst="rect">
            <a:avLst/>
          </a:prstGeom>
          <a:noFill/>
        </p:spPr>
        <p:txBody>
          <a:bodyPr wrap="square" anchor="t" lIns="0" rIns="0" tIns="0" bIns="0">
            <a:spAutoFit/>
          </a:bodyPr>
          <a:lstStyle/>
          <a:p>
            <a:pPr algn="ctr">
              <a:lnSpc>
                <a:spcPct val="100000"/>
              </a:lnSpc>
              <a:spcAft>
                <a:spcPts val="400"/>
              </a:spcAft>
            </a:pPr>
            <a:r>
              <a:rPr sz="1000" b="1" i="0">
                <a:solidFill>
                  <a:srgbClr val="E91E63"/>
                </a:solidFill>
                <a:latin typeface="Segoe UI"/>
              </a:rPr>
              <a:t>PART 2</a:t>
            </a:r>
          </a:p>
        </p:txBody>
      </p:sp>
      <p:sp>
        <p:nvSpPr>
          <p:cNvPr id="14" name="TextBox 13"/>
          <p:cNvSpPr txBox="1"/>
          <p:nvPr/>
        </p:nvSpPr>
        <p:spPr>
          <a:xfrm>
            <a:off x="2889503" y="3611880"/>
            <a:ext cx="1929384" cy="365760"/>
          </a:xfrm>
          <a:prstGeom prst="rect">
            <a:avLst/>
          </a:prstGeom>
          <a:noFill/>
        </p:spPr>
        <p:txBody>
          <a:bodyPr wrap="square" anchor="t" lIns="0" rIns="0" tIns="0" bIns="0">
            <a:spAutoFit/>
          </a:bodyPr>
          <a:lstStyle/>
          <a:p>
            <a:pPr algn="ctr">
              <a:lnSpc>
                <a:spcPct val="100000"/>
              </a:lnSpc>
              <a:spcAft>
                <a:spcPts val="400"/>
              </a:spcAft>
            </a:pPr>
            <a:r>
              <a:rPr sz="1350" b="1" i="0">
                <a:solidFill>
                  <a:srgbClr val="1A1418"/>
                </a:solidFill>
                <a:latin typeface="Segoe UI"/>
              </a:rPr>
              <a:t>WHAT IT SHOWS</a:t>
            </a:r>
          </a:p>
        </p:txBody>
      </p:sp>
      <p:sp>
        <p:nvSpPr>
          <p:cNvPr id="15" name="TextBox 14"/>
          <p:cNvSpPr txBox="1"/>
          <p:nvPr/>
        </p:nvSpPr>
        <p:spPr>
          <a:xfrm>
            <a:off x="2944368" y="4023360"/>
            <a:ext cx="1819656" cy="868680"/>
          </a:xfrm>
          <a:prstGeom prst="rect">
            <a:avLst/>
          </a:prstGeom>
          <a:noFill/>
        </p:spPr>
        <p:txBody>
          <a:bodyPr wrap="square" anchor="t" lIns="0" rIns="0" tIns="0" bIns="0">
            <a:spAutoFit/>
          </a:bodyPr>
          <a:lstStyle/>
          <a:p>
            <a:pPr algn="ctr">
              <a:lnSpc>
                <a:spcPct val="110000"/>
              </a:lnSpc>
              <a:spcAft>
                <a:spcPts val="400"/>
              </a:spcAft>
            </a:pPr>
            <a:r>
              <a:rPr sz="1050" b="0" i="0">
                <a:solidFill>
                  <a:srgbClr val="6E5F68"/>
                </a:solidFill>
                <a:latin typeface="Segoe UI"/>
              </a:rPr>
              <a:t>The patterns that answer Q1–Q4</a:t>
            </a:r>
          </a:p>
        </p:txBody>
      </p:sp>
      <p:sp>
        <p:nvSpPr>
          <p:cNvPr id="16" name="TextBox 15"/>
          <p:cNvSpPr txBox="1"/>
          <p:nvPr/>
        </p:nvSpPr>
        <p:spPr>
          <a:xfrm>
            <a:off x="4910327" y="3017520"/>
            <a:ext cx="18288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5CA8"/>
                </a:solidFill>
                <a:latin typeface="Segoe UI"/>
              </a:rPr>
              <a:t>→</a:t>
            </a:r>
          </a:p>
        </p:txBody>
      </p:sp>
      <p:sp>
        <p:nvSpPr>
          <p:cNvPr id="17" name="Rounded Rectangle 16"/>
          <p:cNvSpPr/>
          <p:nvPr/>
        </p:nvSpPr>
        <p:spPr>
          <a:xfrm>
            <a:off x="5093207" y="1737360"/>
            <a:ext cx="2112264" cy="32918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6.png"/>
          <p:cNvPicPr>
            <a:picLocks noChangeAspect="1"/>
          </p:cNvPicPr>
          <p:nvPr/>
        </p:nvPicPr>
        <p:blipFill>
          <a:blip r:embed="rId5"/>
          <a:stretch>
            <a:fillRect/>
          </a:stretch>
        </p:blipFill>
        <p:spPr>
          <a:xfrm>
            <a:off x="5600699" y="2057400"/>
            <a:ext cx="1097280" cy="1097280"/>
          </a:xfrm>
          <a:prstGeom prst="rect">
            <a:avLst/>
          </a:prstGeom>
        </p:spPr>
      </p:pic>
      <p:sp>
        <p:nvSpPr>
          <p:cNvPr id="19" name="TextBox 18"/>
          <p:cNvSpPr txBox="1"/>
          <p:nvPr/>
        </p:nvSpPr>
        <p:spPr>
          <a:xfrm>
            <a:off x="5184647" y="3337560"/>
            <a:ext cx="1929384" cy="365760"/>
          </a:xfrm>
          <a:prstGeom prst="rect">
            <a:avLst/>
          </a:prstGeom>
          <a:noFill/>
        </p:spPr>
        <p:txBody>
          <a:bodyPr wrap="square" anchor="t" lIns="0" rIns="0" tIns="0" bIns="0">
            <a:spAutoFit/>
          </a:bodyPr>
          <a:lstStyle/>
          <a:p>
            <a:pPr algn="ctr">
              <a:lnSpc>
                <a:spcPct val="100000"/>
              </a:lnSpc>
              <a:spcAft>
                <a:spcPts val="400"/>
              </a:spcAft>
            </a:pPr>
            <a:r>
              <a:rPr sz="1000" b="1" i="0">
                <a:solidFill>
                  <a:srgbClr val="E91E63"/>
                </a:solidFill>
                <a:latin typeface="Segoe UI"/>
              </a:rPr>
              <a:t>PART 3</a:t>
            </a:r>
          </a:p>
        </p:txBody>
      </p:sp>
      <p:sp>
        <p:nvSpPr>
          <p:cNvPr id="20" name="TextBox 19"/>
          <p:cNvSpPr txBox="1"/>
          <p:nvPr/>
        </p:nvSpPr>
        <p:spPr>
          <a:xfrm>
            <a:off x="5184647" y="3611880"/>
            <a:ext cx="1929384" cy="365760"/>
          </a:xfrm>
          <a:prstGeom prst="rect">
            <a:avLst/>
          </a:prstGeom>
          <a:noFill/>
        </p:spPr>
        <p:txBody>
          <a:bodyPr wrap="square" anchor="t" lIns="0" rIns="0" tIns="0" bIns="0">
            <a:spAutoFit/>
          </a:bodyPr>
          <a:lstStyle/>
          <a:p>
            <a:pPr algn="ctr">
              <a:lnSpc>
                <a:spcPct val="100000"/>
              </a:lnSpc>
              <a:spcAft>
                <a:spcPts val="400"/>
              </a:spcAft>
            </a:pPr>
            <a:r>
              <a:rPr sz="1350" b="1" i="0">
                <a:solidFill>
                  <a:srgbClr val="1A1418"/>
                </a:solidFill>
                <a:latin typeface="Segoe UI"/>
              </a:rPr>
              <a:t>THE MODEL</a:t>
            </a:r>
          </a:p>
        </p:txBody>
      </p:sp>
      <p:sp>
        <p:nvSpPr>
          <p:cNvPr id="21" name="TextBox 20"/>
          <p:cNvSpPr txBox="1"/>
          <p:nvPr/>
        </p:nvSpPr>
        <p:spPr>
          <a:xfrm>
            <a:off x="5239512" y="4023360"/>
            <a:ext cx="1819656" cy="868680"/>
          </a:xfrm>
          <a:prstGeom prst="rect">
            <a:avLst/>
          </a:prstGeom>
          <a:noFill/>
        </p:spPr>
        <p:txBody>
          <a:bodyPr wrap="square" anchor="t" lIns="0" rIns="0" tIns="0" bIns="0">
            <a:spAutoFit/>
          </a:bodyPr>
          <a:lstStyle/>
          <a:p>
            <a:pPr algn="ctr">
              <a:lnSpc>
                <a:spcPct val="110000"/>
              </a:lnSpc>
              <a:spcAft>
                <a:spcPts val="400"/>
              </a:spcAft>
            </a:pPr>
            <a:r>
              <a:rPr sz="1050" b="0" i="0">
                <a:solidFill>
                  <a:srgbClr val="6E5F68"/>
                </a:solidFill>
                <a:latin typeface="Segoe UI"/>
              </a:rPr>
              <a:t>Five approaches compete on fair ground</a:t>
            </a:r>
          </a:p>
        </p:txBody>
      </p:sp>
      <p:sp>
        <p:nvSpPr>
          <p:cNvPr id="22" name="TextBox 21"/>
          <p:cNvSpPr txBox="1"/>
          <p:nvPr/>
        </p:nvSpPr>
        <p:spPr>
          <a:xfrm>
            <a:off x="7205471" y="3017520"/>
            <a:ext cx="18288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5CA8"/>
                </a:solidFill>
                <a:latin typeface="Segoe UI"/>
              </a:rPr>
              <a:t>→</a:t>
            </a:r>
          </a:p>
        </p:txBody>
      </p:sp>
      <p:sp>
        <p:nvSpPr>
          <p:cNvPr id="23" name="Rounded Rectangle 22"/>
          <p:cNvSpPr/>
          <p:nvPr/>
        </p:nvSpPr>
        <p:spPr>
          <a:xfrm>
            <a:off x="7388352" y="1737360"/>
            <a:ext cx="2112264" cy="32918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7.png"/>
          <p:cNvPicPr>
            <a:picLocks noChangeAspect="1"/>
          </p:cNvPicPr>
          <p:nvPr/>
        </p:nvPicPr>
        <p:blipFill>
          <a:blip r:embed="rId6"/>
          <a:stretch>
            <a:fillRect/>
          </a:stretch>
        </p:blipFill>
        <p:spPr>
          <a:xfrm>
            <a:off x="7895844" y="2057400"/>
            <a:ext cx="1097280" cy="1097280"/>
          </a:xfrm>
          <a:prstGeom prst="rect">
            <a:avLst/>
          </a:prstGeom>
        </p:spPr>
      </p:pic>
      <p:sp>
        <p:nvSpPr>
          <p:cNvPr id="25" name="TextBox 24"/>
          <p:cNvSpPr txBox="1"/>
          <p:nvPr/>
        </p:nvSpPr>
        <p:spPr>
          <a:xfrm>
            <a:off x="7479792" y="3337560"/>
            <a:ext cx="1929384" cy="365760"/>
          </a:xfrm>
          <a:prstGeom prst="rect">
            <a:avLst/>
          </a:prstGeom>
          <a:noFill/>
        </p:spPr>
        <p:txBody>
          <a:bodyPr wrap="square" anchor="t" lIns="0" rIns="0" tIns="0" bIns="0">
            <a:spAutoFit/>
          </a:bodyPr>
          <a:lstStyle/>
          <a:p>
            <a:pPr algn="ctr">
              <a:lnSpc>
                <a:spcPct val="100000"/>
              </a:lnSpc>
              <a:spcAft>
                <a:spcPts val="400"/>
              </a:spcAft>
            </a:pPr>
            <a:r>
              <a:rPr sz="1000" b="1" i="0">
                <a:solidFill>
                  <a:srgbClr val="E91E63"/>
                </a:solidFill>
                <a:latin typeface="Segoe UI"/>
              </a:rPr>
              <a:t>PART 4</a:t>
            </a:r>
          </a:p>
        </p:txBody>
      </p:sp>
      <p:sp>
        <p:nvSpPr>
          <p:cNvPr id="26" name="TextBox 25"/>
          <p:cNvSpPr txBox="1"/>
          <p:nvPr/>
        </p:nvSpPr>
        <p:spPr>
          <a:xfrm>
            <a:off x="7479792" y="3611880"/>
            <a:ext cx="1929384" cy="365760"/>
          </a:xfrm>
          <a:prstGeom prst="rect">
            <a:avLst/>
          </a:prstGeom>
          <a:noFill/>
        </p:spPr>
        <p:txBody>
          <a:bodyPr wrap="square" anchor="t" lIns="0" rIns="0" tIns="0" bIns="0">
            <a:spAutoFit/>
          </a:bodyPr>
          <a:lstStyle/>
          <a:p>
            <a:pPr algn="ctr">
              <a:lnSpc>
                <a:spcPct val="100000"/>
              </a:lnSpc>
              <a:spcAft>
                <a:spcPts val="400"/>
              </a:spcAft>
            </a:pPr>
            <a:r>
              <a:rPr sz="1350" b="1" i="0">
                <a:solidFill>
                  <a:srgbClr val="1A1418"/>
                </a:solidFill>
                <a:latin typeface="Segoe UI"/>
              </a:rPr>
              <a:t>WHY IT DECIDES</a:t>
            </a:r>
          </a:p>
        </p:txBody>
      </p:sp>
      <p:sp>
        <p:nvSpPr>
          <p:cNvPr id="27" name="TextBox 26"/>
          <p:cNvSpPr txBox="1"/>
          <p:nvPr/>
        </p:nvSpPr>
        <p:spPr>
          <a:xfrm>
            <a:off x="7534656" y="4023360"/>
            <a:ext cx="1819656" cy="868680"/>
          </a:xfrm>
          <a:prstGeom prst="rect">
            <a:avLst/>
          </a:prstGeom>
          <a:noFill/>
        </p:spPr>
        <p:txBody>
          <a:bodyPr wrap="square" anchor="t" lIns="0" rIns="0" tIns="0" bIns="0">
            <a:spAutoFit/>
          </a:bodyPr>
          <a:lstStyle/>
          <a:p>
            <a:pPr algn="ctr">
              <a:lnSpc>
                <a:spcPct val="110000"/>
              </a:lnSpc>
              <a:spcAft>
                <a:spcPts val="400"/>
              </a:spcAft>
            </a:pPr>
            <a:r>
              <a:rPr sz="1050" b="0" i="0">
                <a:solidFill>
                  <a:srgbClr val="6E5F68"/>
                </a:solidFill>
                <a:latin typeface="Segoe UI"/>
              </a:rPr>
              <a:t>Every prediction, explained</a:t>
            </a:r>
          </a:p>
        </p:txBody>
      </p:sp>
      <p:sp>
        <p:nvSpPr>
          <p:cNvPr id="28" name="TextBox 27"/>
          <p:cNvSpPr txBox="1"/>
          <p:nvPr/>
        </p:nvSpPr>
        <p:spPr>
          <a:xfrm>
            <a:off x="9500616" y="3017520"/>
            <a:ext cx="18288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5CA8"/>
                </a:solidFill>
                <a:latin typeface="Segoe UI"/>
              </a:rPr>
              <a:t>→</a:t>
            </a:r>
          </a:p>
        </p:txBody>
      </p:sp>
      <p:sp>
        <p:nvSpPr>
          <p:cNvPr id="29" name="Rounded Rectangle 28"/>
          <p:cNvSpPr/>
          <p:nvPr/>
        </p:nvSpPr>
        <p:spPr>
          <a:xfrm>
            <a:off x="9683496" y="1737360"/>
            <a:ext cx="2112264" cy="32918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8.png"/>
          <p:cNvPicPr>
            <a:picLocks noChangeAspect="1"/>
          </p:cNvPicPr>
          <p:nvPr/>
        </p:nvPicPr>
        <p:blipFill>
          <a:blip r:embed="rId7"/>
          <a:stretch>
            <a:fillRect/>
          </a:stretch>
        </p:blipFill>
        <p:spPr>
          <a:xfrm>
            <a:off x="10190988" y="2057400"/>
            <a:ext cx="1097280" cy="1097280"/>
          </a:xfrm>
          <a:prstGeom prst="rect">
            <a:avLst/>
          </a:prstGeom>
        </p:spPr>
      </p:pic>
      <p:sp>
        <p:nvSpPr>
          <p:cNvPr id="31" name="TextBox 30"/>
          <p:cNvSpPr txBox="1"/>
          <p:nvPr/>
        </p:nvSpPr>
        <p:spPr>
          <a:xfrm>
            <a:off x="9774936" y="3337560"/>
            <a:ext cx="1929384" cy="365760"/>
          </a:xfrm>
          <a:prstGeom prst="rect">
            <a:avLst/>
          </a:prstGeom>
          <a:noFill/>
        </p:spPr>
        <p:txBody>
          <a:bodyPr wrap="square" anchor="t" lIns="0" rIns="0" tIns="0" bIns="0">
            <a:spAutoFit/>
          </a:bodyPr>
          <a:lstStyle/>
          <a:p>
            <a:pPr algn="ctr">
              <a:lnSpc>
                <a:spcPct val="100000"/>
              </a:lnSpc>
              <a:spcAft>
                <a:spcPts val="400"/>
              </a:spcAft>
            </a:pPr>
            <a:r>
              <a:rPr sz="1000" b="1" i="0">
                <a:solidFill>
                  <a:srgbClr val="E91E63"/>
                </a:solidFill>
                <a:latin typeface="Segoe UI"/>
              </a:rPr>
              <a:t>PART 5</a:t>
            </a:r>
          </a:p>
        </p:txBody>
      </p:sp>
      <p:sp>
        <p:nvSpPr>
          <p:cNvPr id="32" name="TextBox 31"/>
          <p:cNvSpPr txBox="1"/>
          <p:nvPr/>
        </p:nvSpPr>
        <p:spPr>
          <a:xfrm>
            <a:off x="9774936" y="3611880"/>
            <a:ext cx="1929384" cy="365760"/>
          </a:xfrm>
          <a:prstGeom prst="rect">
            <a:avLst/>
          </a:prstGeom>
          <a:noFill/>
        </p:spPr>
        <p:txBody>
          <a:bodyPr wrap="square" anchor="t" lIns="0" rIns="0" tIns="0" bIns="0">
            <a:spAutoFit/>
          </a:bodyPr>
          <a:lstStyle/>
          <a:p>
            <a:pPr algn="ctr">
              <a:lnSpc>
                <a:spcPct val="100000"/>
              </a:lnSpc>
              <a:spcAft>
                <a:spcPts val="400"/>
              </a:spcAft>
            </a:pPr>
            <a:r>
              <a:rPr sz="1350" b="1" i="0">
                <a:solidFill>
                  <a:srgbClr val="1A1418"/>
                </a:solidFill>
                <a:latin typeface="Segoe UI"/>
              </a:rPr>
              <a:t>ACTION</a:t>
            </a:r>
          </a:p>
        </p:txBody>
      </p:sp>
      <p:sp>
        <p:nvSpPr>
          <p:cNvPr id="33" name="TextBox 32"/>
          <p:cNvSpPr txBox="1"/>
          <p:nvPr/>
        </p:nvSpPr>
        <p:spPr>
          <a:xfrm>
            <a:off x="9829800" y="4023360"/>
            <a:ext cx="1819656" cy="868680"/>
          </a:xfrm>
          <a:prstGeom prst="rect">
            <a:avLst/>
          </a:prstGeom>
          <a:noFill/>
        </p:spPr>
        <p:txBody>
          <a:bodyPr wrap="square" anchor="t" lIns="0" rIns="0" tIns="0" bIns="0">
            <a:spAutoFit/>
          </a:bodyPr>
          <a:lstStyle/>
          <a:p>
            <a:pPr algn="ctr">
              <a:lnSpc>
                <a:spcPct val="110000"/>
              </a:lnSpc>
              <a:spcAft>
                <a:spcPts val="400"/>
              </a:spcAft>
            </a:pPr>
            <a:r>
              <a:rPr sz="1050" b="0" i="0">
                <a:solidFill>
                  <a:srgbClr val="6E5F68"/>
                </a:solidFill>
                <a:latin typeface="Segoe UI"/>
              </a:rPr>
              <a:t>Answers become fundable programmes</a:t>
            </a:r>
          </a:p>
        </p:txBody>
      </p:sp>
      <p:sp>
        <p:nvSpPr>
          <p:cNvPr id="34" name="TextBox 33"/>
          <p:cNvSpPr txBox="1"/>
          <p:nvPr/>
        </p:nvSpPr>
        <p:spPr>
          <a:xfrm>
            <a:off x="502920" y="5440680"/>
            <a:ext cx="11155680" cy="457200"/>
          </a:xfrm>
          <a:prstGeom prst="rect">
            <a:avLst/>
          </a:prstGeom>
          <a:noFill/>
        </p:spPr>
        <p:txBody>
          <a:bodyPr wrap="square" anchor="t" lIns="0" rIns="0" tIns="0" bIns="0">
            <a:spAutoFit/>
          </a:bodyPr>
          <a:lstStyle/>
          <a:p>
            <a:pPr algn="ctr">
              <a:lnSpc>
                <a:spcPct val="100000"/>
              </a:lnSpc>
              <a:spcAft>
                <a:spcPts val="400"/>
              </a:spcAft>
            </a:pPr>
            <a:r>
              <a:rPr sz="1250" b="1" i="0">
                <a:solidFill>
                  <a:srgbClr val="BFA9B5"/>
                </a:solidFill>
                <a:latin typeface="Segoe UI"/>
              </a:rPr>
              <a:t>Method: </a:t>
            </a:r>
            <a:r>
              <a:rPr sz="1250" b="0" i="0">
                <a:solidFill>
                  <a:srgbClr val="BFA9B5"/>
                </a:solidFill>
                <a:latin typeface="Segoe UI"/>
              </a:rPr>
              <a:t>CRISP-DM   ·   Tools: Python · scikit-learn · LightGBM · SHAP · Flask</a:t>
            </a:r>
          </a:p>
        </p:txBody>
      </p:sp>
      <p:sp>
        <p:nvSpPr>
          <p:cNvPr id="35" name="Rectangle 34"/>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37" name="TextBox 36"/>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04 / 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920240"/>
            <a:ext cx="7315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FF5CA8"/>
                </a:solidFill>
                <a:latin typeface="Segoe UI"/>
              </a:rPr>
              <a:t>PART 1 OF 5</a:t>
            </a:r>
          </a:p>
        </p:txBody>
      </p:sp>
      <p:sp>
        <p:nvSpPr>
          <p:cNvPr id="4" name="TextBox 3"/>
          <p:cNvSpPr txBox="1"/>
          <p:nvPr/>
        </p:nvSpPr>
        <p:spPr>
          <a:xfrm>
            <a:off x="822960" y="2331720"/>
            <a:ext cx="8412480" cy="1005840"/>
          </a:xfrm>
          <a:prstGeom prst="rect">
            <a:avLst/>
          </a:prstGeom>
          <a:noFill/>
        </p:spPr>
        <p:txBody>
          <a:bodyPr wrap="square" anchor="t" lIns="0" rIns="0" tIns="0" bIns="0">
            <a:spAutoFit/>
          </a:bodyPr>
          <a:lstStyle/>
          <a:p>
            <a:pPr algn="l">
              <a:lnSpc>
                <a:spcPct val="100000"/>
              </a:lnSpc>
              <a:spcAft>
                <a:spcPts val="400"/>
              </a:spcAft>
            </a:pPr>
            <a:r>
              <a:rPr sz="3800" b="1" i="0">
                <a:solidFill>
                  <a:srgbClr val="FFFFFF"/>
                </a:solidFill>
                <a:latin typeface="Segoe UI"/>
              </a:rPr>
              <a:t>The Data</a:t>
            </a:r>
          </a:p>
        </p:txBody>
      </p:sp>
      <p:sp>
        <p:nvSpPr>
          <p:cNvPr id="5" name="TextBox 4"/>
          <p:cNvSpPr txBox="1"/>
          <p:nvPr/>
        </p:nvSpPr>
        <p:spPr>
          <a:xfrm>
            <a:off x="822960" y="3337560"/>
            <a:ext cx="7863840" cy="1188720"/>
          </a:xfrm>
          <a:prstGeom prst="rect">
            <a:avLst/>
          </a:prstGeom>
          <a:noFill/>
        </p:spPr>
        <p:txBody>
          <a:bodyPr wrap="square" anchor="t" lIns="0" rIns="0" tIns="0" bIns="0">
            <a:spAutoFit/>
          </a:bodyPr>
          <a:lstStyle/>
          <a:p>
            <a:pPr algn="l">
              <a:lnSpc>
                <a:spcPct val="115000"/>
              </a:lnSpc>
              <a:spcAft>
                <a:spcPts val="400"/>
              </a:spcAft>
            </a:pPr>
            <a:r>
              <a:rPr sz="1500" b="0" i="0">
                <a:solidFill>
                  <a:srgbClr val="BFA9B5"/>
                </a:solidFill>
                <a:latin typeface="Segoe UI"/>
              </a:rPr>
              <a:t>One survey knocked on doors in all 47 counties and asked women about their lives. Everything in this project starts with their answers.</a:t>
            </a:r>
          </a:p>
        </p:txBody>
      </p:sp>
      <p:pic>
        <p:nvPicPr>
          <p:cNvPr id="6" name="Picture 5" descr="image4.png"/>
          <p:cNvPicPr>
            <a:picLocks noChangeAspect="1"/>
          </p:cNvPicPr>
          <p:nvPr/>
        </p:nvPicPr>
        <p:blipFill>
          <a:blip r:embed="rId3"/>
          <a:stretch>
            <a:fillRect/>
          </a:stretch>
        </p:blipFill>
        <p:spPr>
          <a:xfrm>
            <a:off x="9189720" y="2148840"/>
            <a:ext cx="2286000" cy="2286000"/>
          </a:xfrm>
          <a:prstGeom prst="rect">
            <a:avLst/>
          </a:prstGeom>
        </p:spPr>
      </p:pic>
      <p:sp>
        <p:nvSpPr>
          <p:cNvPr id="7" name="Rectangle 6"/>
          <p:cNvSpPr/>
          <p:nvPr/>
        </p:nvSpPr>
        <p:spPr>
          <a:xfrm>
            <a:off x="822960" y="4526280"/>
            <a:ext cx="1371600" cy="5029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0" name="TextBox 9"/>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05 /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1 · THE DATA</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32,156 women, in their own words</a:t>
            </a:r>
          </a:p>
        </p:txBody>
      </p:sp>
      <p:sp>
        <p:nvSpPr>
          <p:cNvPr id="5" name="Rounded Rectangle 4"/>
          <p:cNvSpPr/>
          <p:nvPr/>
        </p:nvSpPr>
        <p:spPr>
          <a:xfrm>
            <a:off x="502920" y="1371600"/>
            <a:ext cx="2651760" cy="1463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99616"/>
            <a:ext cx="2651760" cy="566928"/>
          </a:xfrm>
          <a:prstGeom prst="rect">
            <a:avLst/>
          </a:prstGeom>
          <a:noFill/>
        </p:spPr>
        <p:txBody>
          <a:bodyPr wrap="square" anchor="t" lIns="0" rIns="0" tIns="0" bIns="0">
            <a:spAutoFit/>
          </a:bodyPr>
          <a:lstStyle/>
          <a:p>
            <a:pPr algn="ctr">
              <a:lnSpc>
                <a:spcPct val="100000"/>
              </a:lnSpc>
              <a:spcAft>
                <a:spcPts val="400"/>
              </a:spcAft>
            </a:pPr>
            <a:r>
              <a:rPr sz="2800" b="1" i="0">
                <a:solidFill>
                  <a:srgbClr val="E91E63"/>
                </a:solidFill>
                <a:latin typeface="Segoe UI"/>
              </a:rPr>
              <a:t>32,156</a:t>
            </a:r>
          </a:p>
        </p:txBody>
      </p:sp>
      <p:sp>
        <p:nvSpPr>
          <p:cNvPr id="7" name="TextBox 6"/>
          <p:cNvSpPr txBox="1"/>
          <p:nvPr/>
        </p:nvSpPr>
        <p:spPr>
          <a:xfrm>
            <a:off x="612648" y="2231136"/>
            <a:ext cx="2432304" cy="530352"/>
          </a:xfrm>
          <a:prstGeom prst="rect">
            <a:avLst/>
          </a:prstGeom>
          <a:noFill/>
        </p:spPr>
        <p:txBody>
          <a:bodyPr wrap="square" anchor="t" lIns="0" rIns="0" tIns="0" bIns="0">
            <a:spAutoFit/>
          </a:bodyPr>
          <a:lstStyle/>
          <a:p>
            <a:pPr algn="ctr">
              <a:lnSpc>
                <a:spcPct val="100000"/>
              </a:lnSpc>
              <a:spcAft>
                <a:spcPts val="400"/>
              </a:spcAft>
            </a:pPr>
            <a:r>
              <a:rPr sz="1050" b="0" i="0">
                <a:solidFill>
                  <a:srgbClr val="6E5F68"/>
                </a:solidFill>
                <a:latin typeface="Segoe UI"/>
              </a:rPr>
              <a:t>women interviewed face-to-face</a:t>
            </a:r>
          </a:p>
        </p:txBody>
      </p:sp>
      <p:sp>
        <p:nvSpPr>
          <p:cNvPr id="8" name="Rounded Rectangle 7"/>
          <p:cNvSpPr/>
          <p:nvPr/>
        </p:nvSpPr>
        <p:spPr>
          <a:xfrm>
            <a:off x="3346704" y="1371600"/>
            <a:ext cx="2651760" cy="1463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46704" y="1499616"/>
            <a:ext cx="2651760" cy="566928"/>
          </a:xfrm>
          <a:prstGeom prst="rect">
            <a:avLst/>
          </a:prstGeom>
          <a:noFill/>
        </p:spPr>
        <p:txBody>
          <a:bodyPr wrap="square" anchor="t" lIns="0" rIns="0" tIns="0" bIns="0">
            <a:spAutoFit/>
          </a:bodyPr>
          <a:lstStyle/>
          <a:p>
            <a:pPr algn="ctr">
              <a:lnSpc>
                <a:spcPct val="100000"/>
              </a:lnSpc>
              <a:spcAft>
                <a:spcPts val="400"/>
              </a:spcAft>
            </a:pPr>
            <a:r>
              <a:rPr sz="2800" b="1" i="0">
                <a:solidFill>
                  <a:srgbClr val="261E24"/>
                </a:solidFill>
                <a:latin typeface="Segoe UI"/>
              </a:rPr>
              <a:t>47</a:t>
            </a:r>
          </a:p>
        </p:txBody>
      </p:sp>
      <p:sp>
        <p:nvSpPr>
          <p:cNvPr id="10" name="TextBox 9"/>
          <p:cNvSpPr txBox="1"/>
          <p:nvPr/>
        </p:nvSpPr>
        <p:spPr>
          <a:xfrm>
            <a:off x="3456432" y="2231136"/>
            <a:ext cx="2432304" cy="530352"/>
          </a:xfrm>
          <a:prstGeom prst="rect">
            <a:avLst/>
          </a:prstGeom>
          <a:noFill/>
        </p:spPr>
        <p:txBody>
          <a:bodyPr wrap="square" anchor="t" lIns="0" rIns="0" tIns="0" bIns="0">
            <a:spAutoFit/>
          </a:bodyPr>
          <a:lstStyle/>
          <a:p>
            <a:pPr algn="ctr">
              <a:lnSpc>
                <a:spcPct val="100000"/>
              </a:lnSpc>
              <a:spcAft>
                <a:spcPts val="400"/>
              </a:spcAft>
            </a:pPr>
            <a:r>
              <a:rPr sz="1050" b="0" i="0">
                <a:solidFill>
                  <a:srgbClr val="6E5F68"/>
                </a:solidFill>
                <a:latin typeface="Segoe UI"/>
              </a:rPr>
              <a:t>counties — every one in Kenya</a:t>
            </a:r>
          </a:p>
        </p:txBody>
      </p:sp>
      <p:sp>
        <p:nvSpPr>
          <p:cNvPr id="11" name="Rounded Rectangle 10"/>
          <p:cNvSpPr/>
          <p:nvPr/>
        </p:nvSpPr>
        <p:spPr>
          <a:xfrm>
            <a:off x="6190488" y="1371600"/>
            <a:ext cx="2651760" cy="1463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90488" y="1499616"/>
            <a:ext cx="2651760" cy="566928"/>
          </a:xfrm>
          <a:prstGeom prst="rect">
            <a:avLst/>
          </a:prstGeom>
          <a:noFill/>
        </p:spPr>
        <p:txBody>
          <a:bodyPr wrap="square" anchor="t" lIns="0" rIns="0" tIns="0" bIns="0">
            <a:spAutoFit/>
          </a:bodyPr>
          <a:lstStyle/>
          <a:p>
            <a:pPr algn="ctr">
              <a:lnSpc>
                <a:spcPct val="100000"/>
              </a:lnSpc>
              <a:spcAft>
                <a:spcPts val="400"/>
              </a:spcAft>
            </a:pPr>
            <a:r>
              <a:rPr sz="2800" b="1" i="0">
                <a:solidFill>
                  <a:srgbClr val="AD1457"/>
                </a:solidFill>
                <a:latin typeface="Segoe UI"/>
              </a:rPr>
              <a:t>15–49</a:t>
            </a:r>
          </a:p>
        </p:txBody>
      </p:sp>
      <p:sp>
        <p:nvSpPr>
          <p:cNvPr id="13" name="TextBox 12"/>
          <p:cNvSpPr txBox="1"/>
          <p:nvPr/>
        </p:nvSpPr>
        <p:spPr>
          <a:xfrm>
            <a:off x="6300216" y="2231136"/>
            <a:ext cx="2432304" cy="530352"/>
          </a:xfrm>
          <a:prstGeom prst="rect">
            <a:avLst/>
          </a:prstGeom>
          <a:noFill/>
        </p:spPr>
        <p:txBody>
          <a:bodyPr wrap="square" anchor="t" lIns="0" rIns="0" tIns="0" bIns="0">
            <a:spAutoFit/>
          </a:bodyPr>
          <a:lstStyle/>
          <a:p>
            <a:pPr algn="ctr">
              <a:lnSpc>
                <a:spcPct val="100000"/>
              </a:lnSpc>
              <a:spcAft>
                <a:spcPts val="400"/>
              </a:spcAft>
            </a:pPr>
            <a:r>
              <a:rPr sz="1050" b="0" i="0">
                <a:solidFill>
                  <a:srgbClr val="6E5F68"/>
                </a:solidFill>
                <a:latin typeface="Segoe UI"/>
              </a:rPr>
              <a:t>age range of respondents</a:t>
            </a:r>
          </a:p>
        </p:txBody>
      </p:sp>
      <p:sp>
        <p:nvSpPr>
          <p:cNvPr id="14" name="Rounded Rectangle 13"/>
          <p:cNvSpPr/>
          <p:nvPr/>
        </p:nvSpPr>
        <p:spPr>
          <a:xfrm>
            <a:off x="9034272" y="1371600"/>
            <a:ext cx="2651760" cy="1463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34272" y="1499616"/>
            <a:ext cx="2651760" cy="566928"/>
          </a:xfrm>
          <a:prstGeom prst="rect">
            <a:avLst/>
          </a:prstGeom>
          <a:noFill/>
        </p:spPr>
        <p:txBody>
          <a:bodyPr wrap="square" anchor="t" lIns="0" rIns="0" tIns="0" bIns="0">
            <a:spAutoFit/>
          </a:bodyPr>
          <a:lstStyle/>
          <a:p>
            <a:pPr algn="ctr">
              <a:lnSpc>
                <a:spcPct val="100000"/>
              </a:lnSpc>
              <a:spcAft>
                <a:spcPts val="400"/>
              </a:spcAft>
            </a:pPr>
            <a:r>
              <a:rPr sz="2800" b="1" i="0">
                <a:solidFill>
                  <a:srgbClr val="E91E63"/>
                </a:solidFill>
                <a:latin typeface="Segoe UI"/>
              </a:rPr>
              <a:t>5,925</a:t>
            </a:r>
          </a:p>
        </p:txBody>
      </p:sp>
      <p:sp>
        <p:nvSpPr>
          <p:cNvPr id="16" name="TextBox 15"/>
          <p:cNvSpPr txBox="1"/>
          <p:nvPr/>
        </p:nvSpPr>
        <p:spPr>
          <a:xfrm>
            <a:off x="9144000" y="2231136"/>
            <a:ext cx="2432304" cy="530352"/>
          </a:xfrm>
          <a:prstGeom prst="rect">
            <a:avLst/>
          </a:prstGeom>
          <a:noFill/>
        </p:spPr>
        <p:txBody>
          <a:bodyPr wrap="square" anchor="t" lIns="0" rIns="0" tIns="0" bIns="0">
            <a:spAutoFit/>
          </a:bodyPr>
          <a:lstStyle/>
          <a:p>
            <a:pPr algn="ctr">
              <a:lnSpc>
                <a:spcPct val="100000"/>
              </a:lnSpc>
              <a:spcAft>
                <a:spcPts val="400"/>
              </a:spcAft>
            </a:pPr>
            <a:r>
              <a:rPr sz="1050" b="0" i="0">
                <a:solidFill>
                  <a:srgbClr val="6E5F68"/>
                </a:solidFill>
                <a:latin typeface="Segoe UI"/>
              </a:rPr>
              <a:t>raw survey variables, distilled to the ones that matter</a:t>
            </a:r>
          </a:p>
        </p:txBody>
      </p:sp>
      <p:sp>
        <p:nvSpPr>
          <p:cNvPr id="17" name="Rounded Rectangle 16"/>
          <p:cNvSpPr/>
          <p:nvPr/>
        </p:nvSpPr>
        <p:spPr>
          <a:xfrm>
            <a:off x="502920" y="3108960"/>
            <a:ext cx="5486400" cy="301752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3218688"/>
            <a:ext cx="64008" cy="2798063"/>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3255264"/>
            <a:ext cx="512064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WHAT'S HERE</a:t>
            </a:r>
          </a:p>
        </p:txBody>
      </p:sp>
      <p:sp>
        <p:nvSpPr>
          <p:cNvPr id="20" name="TextBox 19"/>
          <p:cNvSpPr txBox="1"/>
          <p:nvPr/>
        </p:nvSpPr>
        <p:spPr>
          <a:xfrm>
            <a:off x="704088" y="3547872"/>
            <a:ext cx="5102352" cy="2468879"/>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The 2022 Kenya Demographic &amp; Health Survey (KDHS) — women's questionnaire. </a:t>
            </a:r>
            <a:r>
              <a:rPr sz="1250" b="0" i="0">
                <a:solidFill>
                  <a:srgbClr val="1A1418"/>
                </a:solidFill>
                <a:latin typeface="Segoe UI"/>
              </a:rPr>
              <a:t>For each woman: age, county, education, household wealth, religion, work status, marriage, children born and living — and which contraceptive method, if any, she currently uses.</a:t>
            </a:r>
          </a:p>
          <a:p>
            <a:pPr algn="l">
              <a:lnSpc>
                <a:spcPct val="108000"/>
              </a:lnSpc>
              <a:spcAft>
                <a:spcPts val="400"/>
              </a:spcAft>
            </a:pPr>
            <a:r>
              <a:rPr sz="1250" b="0" i="0">
                <a:solidFill>
                  <a:srgbClr val="1A1418"/>
                </a:solidFill>
                <a:latin typeface="Segoe UI"/>
              </a:rPr>
              <a:t>62% of respondents live in rural areas, 38% in urban ones, and every wealth group holds roughly a fifth of the sample — so every kind of woman is fairly represented.</a:t>
            </a:r>
          </a:p>
        </p:txBody>
      </p:sp>
      <p:sp>
        <p:nvSpPr>
          <p:cNvPr id="21" name="Rounded Rectangle 20"/>
          <p:cNvSpPr/>
          <p:nvPr/>
        </p:nvSpPr>
        <p:spPr>
          <a:xfrm>
            <a:off x="6217920" y="3108960"/>
            <a:ext cx="5486400" cy="301752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218688"/>
            <a:ext cx="64008" cy="2798063"/>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3255264"/>
            <a:ext cx="512064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WHY IT MATTERS</a:t>
            </a:r>
          </a:p>
        </p:txBody>
      </p:sp>
      <p:sp>
        <p:nvSpPr>
          <p:cNvPr id="24" name="TextBox 23"/>
          <p:cNvSpPr txBox="1"/>
          <p:nvPr/>
        </p:nvSpPr>
        <p:spPr>
          <a:xfrm>
            <a:off x="6419088" y="3547872"/>
            <a:ext cx="5102352" cy="2468879"/>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It is the most detailed, nationally representative snapshot of Kenyan women's reproductive health available </a:t>
            </a:r>
            <a:r>
              <a:rPr sz="1250" b="0" i="0">
                <a:solidFill>
                  <a:srgbClr val="1A1418"/>
                </a:solidFill>
                <a:latin typeface="Segoe UI"/>
              </a:rPr>
              <a:t>— the same lens the Ministry of Health uses to plan. A pattern found here describes the real Kenya of 2022.</a:t>
            </a:r>
          </a:p>
          <a:p>
            <a:pPr algn="l">
              <a:lnSpc>
                <a:spcPct val="108000"/>
              </a:lnSpc>
              <a:spcAft>
                <a:spcPts val="400"/>
              </a:spcAft>
            </a:pPr>
            <a:r>
              <a:rPr sz="1150" b="0" i="1">
                <a:solidFill>
                  <a:srgbClr val="6E5F68"/>
                </a:solidFill>
                <a:latin typeface="Segoe UI"/>
              </a:rPr>
              <a:t>Honesty notes: answers are self-reported, only women were interviewed, and one snapshot in time shows associations, not proof of cause.</a:t>
            </a:r>
          </a:p>
        </p:txBody>
      </p:sp>
      <p:sp>
        <p:nvSpPr>
          <p:cNvPr id="25" name="Rectangle 24"/>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27" name="TextBox 26"/>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06 / 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920240"/>
            <a:ext cx="7315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FF5CA8"/>
                </a:solidFill>
                <a:latin typeface="Segoe UI"/>
              </a:rPr>
              <a:t>PART 2 OF 5</a:t>
            </a:r>
          </a:p>
        </p:txBody>
      </p:sp>
      <p:sp>
        <p:nvSpPr>
          <p:cNvPr id="4" name="TextBox 3"/>
          <p:cNvSpPr txBox="1"/>
          <p:nvPr/>
        </p:nvSpPr>
        <p:spPr>
          <a:xfrm>
            <a:off x="822960" y="2331720"/>
            <a:ext cx="8412480" cy="1005840"/>
          </a:xfrm>
          <a:prstGeom prst="rect">
            <a:avLst/>
          </a:prstGeom>
          <a:noFill/>
        </p:spPr>
        <p:txBody>
          <a:bodyPr wrap="square" anchor="t" lIns="0" rIns="0" tIns="0" bIns="0">
            <a:spAutoFit/>
          </a:bodyPr>
          <a:lstStyle/>
          <a:p>
            <a:pPr algn="l">
              <a:lnSpc>
                <a:spcPct val="100000"/>
              </a:lnSpc>
              <a:spcAft>
                <a:spcPts val="400"/>
              </a:spcAft>
            </a:pPr>
            <a:r>
              <a:rPr sz="3800" b="1" i="0">
                <a:solidFill>
                  <a:srgbClr val="FFFFFF"/>
                </a:solidFill>
                <a:latin typeface="Segoe UI"/>
              </a:rPr>
              <a:t>What the Data Shows</a:t>
            </a:r>
          </a:p>
        </p:txBody>
      </p:sp>
      <p:sp>
        <p:nvSpPr>
          <p:cNvPr id="5" name="TextBox 4"/>
          <p:cNvSpPr txBox="1"/>
          <p:nvPr/>
        </p:nvSpPr>
        <p:spPr>
          <a:xfrm>
            <a:off x="822960" y="3337560"/>
            <a:ext cx="7863840" cy="1188720"/>
          </a:xfrm>
          <a:prstGeom prst="rect">
            <a:avLst/>
          </a:prstGeom>
          <a:noFill/>
        </p:spPr>
        <p:txBody>
          <a:bodyPr wrap="square" anchor="t" lIns="0" rIns="0" tIns="0" bIns="0">
            <a:spAutoFit/>
          </a:bodyPr>
          <a:lstStyle/>
          <a:p>
            <a:pPr algn="l">
              <a:lnSpc>
                <a:spcPct val="115000"/>
              </a:lnSpc>
              <a:spcAft>
                <a:spcPts val="400"/>
              </a:spcAft>
            </a:pPr>
            <a:r>
              <a:rPr sz="1500" b="0" i="0">
                <a:solidFill>
                  <a:srgbClr val="BFA9B5"/>
                </a:solidFill>
                <a:latin typeface="Segoe UI"/>
              </a:rPr>
              <a:t>Before any model, we let the data speak — and it answers four of our five questions directly.</a:t>
            </a:r>
          </a:p>
        </p:txBody>
      </p:sp>
      <p:pic>
        <p:nvPicPr>
          <p:cNvPr id="6" name="Picture 5" descr="image5.png"/>
          <p:cNvPicPr>
            <a:picLocks noChangeAspect="1"/>
          </p:cNvPicPr>
          <p:nvPr/>
        </p:nvPicPr>
        <p:blipFill>
          <a:blip r:embed="rId3"/>
          <a:stretch>
            <a:fillRect/>
          </a:stretch>
        </p:blipFill>
        <p:spPr>
          <a:xfrm>
            <a:off x="9189720" y="2148840"/>
            <a:ext cx="2286000" cy="2286000"/>
          </a:xfrm>
          <a:prstGeom prst="rect">
            <a:avLst/>
          </a:prstGeom>
        </p:spPr>
      </p:pic>
      <p:sp>
        <p:nvSpPr>
          <p:cNvPr id="7" name="Rectangle 6"/>
          <p:cNvSpPr/>
          <p:nvPr/>
        </p:nvSpPr>
        <p:spPr>
          <a:xfrm>
            <a:off x="822960" y="4526280"/>
            <a:ext cx="1371600" cy="5029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0" name="TextBox 9"/>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07 / 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2 · WHAT THE DATA SHOWS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Who uses what, today</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1 — THE PICTURE</a:t>
            </a:r>
          </a:p>
        </p:txBody>
      </p:sp>
      <p:sp>
        <p:nvSpPr>
          <p:cNvPr id="7" name="Rounded Rectangle 6"/>
          <p:cNvSpPr/>
          <p:nvPr/>
        </p:nvSpPr>
        <p:spPr>
          <a:xfrm>
            <a:off x="502920" y="1371600"/>
            <a:ext cx="6903720" cy="4892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ell029_0.png"/>
          <p:cNvPicPr>
            <a:picLocks noChangeAspect="1"/>
          </p:cNvPicPr>
          <p:nvPr/>
        </p:nvPicPr>
        <p:blipFill>
          <a:blip r:embed="rId3"/>
          <a:stretch>
            <a:fillRect/>
          </a:stretch>
        </p:blipFill>
        <p:spPr>
          <a:xfrm>
            <a:off x="658368" y="2332134"/>
            <a:ext cx="6592824" cy="2970970"/>
          </a:xfrm>
          <a:prstGeom prst="rect">
            <a:avLst/>
          </a:prstGeom>
        </p:spPr>
      </p:pic>
      <p:sp>
        <p:nvSpPr>
          <p:cNvPr id="9" name="Rounded Rectangle 8"/>
          <p:cNvSpPr/>
          <p:nvPr/>
        </p:nvSpPr>
        <p:spPr>
          <a:xfrm>
            <a:off x="7635240" y="1371600"/>
            <a:ext cx="4553712" cy="164592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35240" y="1481328"/>
            <a:ext cx="64008" cy="142646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36408" y="1517904"/>
            <a:ext cx="418795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WHAT YOU'RE SEEING</a:t>
            </a:r>
          </a:p>
        </p:txBody>
      </p:sp>
      <p:sp>
        <p:nvSpPr>
          <p:cNvPr id="12" name="TextBox 11"/>
          <p:cNvSpPr txBox="1"/>
          <p:nvPr/>
        </p:nvSpPr>
        <p:spPr>
          <a:xfrm>
            <a:off x="7836408" y="1810512"/>
            <a:ext cx="4169663" cy="109728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58.1% of women use no method at all. </a:t>
            </a:r>
            <a:r>
              <a:rPr sz="1250" b="0" i="0">
                <a:solidFill>
                  <a:srgbClr val="1A1418"/>
                </a:solidFill>
                <a:latin typeface="Segoe UI"/>
              </a:rPr>
              <a:t>37.9% use a modern method. Traditional methods cover 3.8%, and folkloric methods just 53 women — 0.2% of the whole survey.</a:t>
            </a:r>
          </a:p>
        </p:txBody>
      </p:sp>
      <p:sp>
        <p:nvSpPr>
          <p:cNvPr id="13" name="Rounded Rectangle 12"/>
          <p:cNvSpPr/>
          <p:nvPr/>
        </p:nvSpPr>
        <p:spPr>
          <a:xfrm>
            <a:off x="7635240" y="3218688"/>
            <a:ext cx="4553712" cy="23774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35240" y="3328416"/>
            <a:ext cx="64008" cy="215798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36408" y="3364992"/>
            <a:ext cx="418795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WHY IT MATTERS</a:t>
            </a:r>
          </a:p>
        </p:txBody>
      </p:sp>
      <p:sp>
        <p:nvSpPr>
          <p:cNvPr id="16" name="TextBox 15"/>
          <p:cNvSpPr txBox="1"/>
          <p:nvPr/>
        </p:nvSpPr>
        <p:spPr>
          <a:xfrm>
            <a:off x="7836408" y="3657600"/>
            <a:ext cx="4169663" cy="182880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This answers Q1 — and it sets the rules for everything after. </a:t>
            </a:r>
            <a:r>
              <a:rPr sz="1250" b="0" i="0">
                <a:solidFill>
                  <a:srgbClr val="1A1418"/>
                </a:solidFill>
                <a:latin typeface="Segoe UI"/>
              </a:rPr>
              <a:t>Two groups dominate; two are vanishingly rare. A model can learn a lot about the big groups, but no method on earth can learn reliably from 53 examples. We balance the training data and judge models with metrics that respect the small groups.</a:t>
            </a:r>
          </a:p>
        </p:txBody>
      </p:sp>
      <p:sp>
        <p:nvSpPr>
          <p:cNvPr id="17" name="Rectangle 1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9" name="TextBox 1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08 / 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2 · WHAT THE DATA SHOWS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Geography is the biggest divide</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2 — PLACES &amp; PEOPLE</a:t>
            </a:r>
          </a:p>
        </p:txBody>
      </p:sp>
      <p:sp>
        <p:nvSpPr>
          <p:cNvPr id="7" name="Rounded Rectangle 6"/>
          <p:cNvSpPr/>
          <p:nvPr/>
        </p:nvSpPr>
        <p:spPr>
          <a:xfrm>
            <a:off x="502920" y="1371600"/>
            <a:ext cx="4937760" cy="4892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ell057_0.png"/>
          <p:cNvPicPr>
            <a:picLocks noChangeAspect="1"/>
          </p:cNvPicPr>
          <p:nvPr/>
        </p:nvPicPr>
        <p:blipFill>
          <a:blip r:embed="rId3"/>
          <a:stretch>
            <a:fillRect/>
          </a:stretch>
        </p:blipFill>
        <p:spPr>
          <a:xfrm>
            <a:off x="1414526" y="1517903"/>
            <a:ext cx="3114546" cy="4599432"/>
          </a:xfrm>
          <a:prstGeom prst="rect">
            <a:avLst/>
          </a:prstGeom>
        </p:spPr>
      </p:pic>
      <p:sp>
        <p:nvSpPr>
          <p:cNvPr id="9" name="Rounded Rectangle 8"/>
          <p:cNvSpPr/>
          <p:nvPr/>
        </p:nvSpPr>
        <p:spPr>
          <a:xfrm>
            <a:off x="5669280" y="1371600"/>
            <a:ext cx="6519671" cy="1874519"/>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0" y="1481328"/>
            <a:ext cx="64008" cy="1655063"/>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70448" y="1517904"/>
            <a:ext cx="615391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WHAT YOU'RE SEEING</a:t>
            </a:r>
          </a:p>
        </p:txBody>
      </p:sp>
      <p:sp>
        <p:nvSpPr>
          <p:cNvPr id="12" name="TextBox 11"/>
          <p:cNvSpPr txBox="1"/>
          <p:nvPr/>
        </p:nvSpPr>
        <p:spPr>
          <a:xfrm>
            <a:off x="5870448" y="1810512"/>
            <a:ext cx="6135623" cy="1325879"/>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All 47 counties, ranked by modern-method use. </a:t>
            </a:r>
            <a:r>
              <a:rPr sz="1250" b="0" i="0">
                <a:solidFill>
                  <a:srgbClr val="1A1418"/>
                </a:solidFill>
                <a:latin typeface="Segoe UI"/>
              </a:rPr>
              <a:t>Embu leads at 57%; Mandera sits at about 1%, with Wajir, Garissa and Marsabit all under 6% — the whole arid north clusters at the bottom, far from the 38% national average.</a:t>
            </a:r>
          </a:p>
        </p:txBody>
      </p:sp>
      <p:sp>
        <p:nvSpPr>
          <p:cNvPr id="13" name="Rounded Rectangle 12"/>
          <p:cNvSpPr/>
          <p:nvPr/>
        </p:nvSpPr>
        <p:spPr>
          <a:xfrm>
            <a:off x="5669280" y="3447288"/>
            <a:ext cx="6519671" cy="21488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0" y="3557016"/>
            <a:ext cx="64008" cy="192938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70448" y="3593592"/>
            <a:ext cx="615391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WHY IT MATTERS</a:t>
            </a:r>
          </a:p>
        </p:txBody>
      </p:sp>
      <p:sp>
        <p:nvSpPr>
          <p:cNvPr id="16" name="TextBox 15"/>
          <p:cNvSpPr txBox="1"/>
          <p:nvPr/>
        </p:nvSpPr>
        <p:spPr>
          <a:xfrm>
            <a:off x="5870448" y="3886200"/>
            <a:ext cx="6135623" cy="160020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This is the heart of Q2. </a:t>
            </a:r>
            <a:r>
              <a:rPr sz="1250" b="0" i="0">
                <a:solidFill>
                  <a:srgbClr val="1A1418"/>
                </a:solidFill>
                <a:latin typeface="Segoe UI"/>
              </a:rPr>
              <a:t>The counties with the greatest need are knowable in advance — so family planning can be targeted by place. A uniform national programme treats Embu and Mandera the same; this chart shows those two situations have nothing in common.</a:t>
            </a:r>
          </a:p>
        </p:txBody>
      </p:sp>
      <p:sp>
        <p:nvSpPr>
          <p:cNvPr id="17" name="Rectangle 1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9" name="TextBox 1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09 / 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2 · WHAT THE DATA SHOWS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Wealth is a cliff, not a ladder</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3 — MONEY vs SCHOOL</a:t>
            </a:r>
          </a:p>
        </p:txBody>
      </p:sp>
      <p:sp>
        <p:nvSpPr>
          <p:cNvPr id="7" name="Rounded Rectangle 6"/>
          <p:cNvSpPr/>
          <p:nvPr/>
        </p:nvSpPr>
        <p:spPr>
          <a:xfrm>
            <a:off x="502920" y="1371600"/>
            <a:ext cx="6720840" cy="4892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ell051_0.png"/>
          <p:cNvPicPr>
            <a:picLocks noChangeAspect="1"/>
          </p:cNvPicPr>
          <p:nvPr/>
        </p:nvPicPr>
        <p:blipFill>
          <a:blip r:embed="rId3"/>
          <a:stretch>
            <a:fillRect/>
          </a:stretch>
        </p:blipFill>
        <p:spPr>
          <a:xfrm>
            <a:off x="658368" y="1833782"/>
            <a:ext cx="6409944" cy="3967674"/>
          </a:xfrm>
          <a:prstGeom prst="rect">
            <a:avLst/>
          </a:prstGeom>
        </p:spPr>
      </p:pic>
      <p:sp>
        <p:nvSpPr>
          <p:cNvPr id="9" name="Rounded Rectangle 8"/>
          <p:cNvSpPr/>
          <p:nvPr/>
        </p:nvSpPr>
        <p:spPr>
          <a:xfrm>
            <a:off x="7452359" y="1371600"/>
            <a:ext cx="4736592" cy="16916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52359" y="1481328"/>
            <a:ext cx="64008" cy="147218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53527" y="1517904"/>
            <a:ext cx="437083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WHAT YOU'RE SEEING</a:t>
            </a:r>
          </a:p>
        </p:txBody>
      </p:sp>
      <p:sp>
        <p:nvSpPr>
          <p:cNvPr id="12" name="TextBox 11"/>
          <p:cNvSpPr txBox="1"/>
          <p:nvPr/>
        </p:nvSpPr>
        <p:spPr>
          <a:xfrm>
            <a:off x="7653527" y="1810512"/>
            <a:ext cx="4352544" cy="114300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The poorest women stand alone at 25% modern use. </a:t>
            </a:r>
            <a:r>
              <a:rPr sz="1250" b="0" i="0">
                <a:solidFill>
                  <a:srgbClr val="1A1418"/>
                </a:solidFill>
                <a:latin typeface="Segoe UI"/>
              </a:rPr>
              <a:t>Every group above them is nearly flat — 41%, 41%, 42%, 43%. The big gap is between the poorest and everyone else, not a steady climb from poor to rich.</a:t>
            </a:r>
          </a:p>
        </p:txBody>
      </p:sp>
      <p:sp>
        <p:nvSpPr>
          <p:cNvPr id="13" name="Rounded Rectangle 12"/>
          <p:cNvSpPr/>
          <p:nvPr/>
        </p:nvSpPr>
        <p:spPr>
          <a:xfrm>
            <a:off x="7452359" y="3264408"/>
            <a:ext cx="4736592" cy="224028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59" y="3374136"/>
            <a:ext cx="64008" cy="202082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3527" y="3410712"/>
            <a:ext cx="437083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WHY IT MATTERS</a:t>
            </a:r>
          </a:p>
        </p:txBody>
      </p:sp>
      <p:sp>
        <p:nvSpPr>
          <p:cNvPr id="16" name="TextBox 15"/>
          <p:cNvSpPr txBox="1"/>
          <p:nvPr/>
        </p:nvSpPr>
        <p:spPr>
          <a:xfrm>
            <a:off x="7653527" y="3703320"/>
            <a:ext cx="4352544" cy="1691640"/>
          </a:xfrm>
          <a:prstGeom prst="rect">
            <a:avLst/>
          </a:prstGeom>
          <a:noFill/>
        </p:spPr>
        <p:txBody>
          <a:bodyPr wrap="square" anchor="t" lIns="0" rIns="0" tIns="0" bIns="0">
            <a:spAutoFit/>
          </a:bodyPr>
          <a:lstStyle/>
          <a:p>
            <a:pPr algn="l">
              <a:lnSpc>
                <a:spcPct val="108000"/>
              </a:lnSpc>
              <a:spcAft>
                <a:spcPts val="400"/>
              </a:spcAft>
            </a:pPr>
            <a:r>
              <a:rPr sz="1250" b="0" i="0">
                <a:solidFill>
                  <a:srgbClr val="1A1418"/>
                </a:solidFill>
                <a:latin typeface="Segoe UI"/>
              </a:rPr>
              <a:t>If money mattered evenly, the bars would climb like a staircase. They don't. </a:t>
            </a:r>
            <a:r>
              <a:rPr sz="1250" b="1" i="0">
                <a:solidFill>
                  <a:srgbClr val="1A1418"/>
                </a:solidFill>
                <a:latin typeface="Segoe UI"/>
              </a:rPr>
              <a:t>Almost the entire wealth effect happens at the very bottom </a:t>
            </a:r>
            <a:r>
              <a:rPr sz="1250" b="0" i="0">
                <a:solidFill>
                  <a:srgbClr val="1A1418"/>
                </a:solidFill>
                <a:latin typeface="Segoe UI"/>
              </a:rPr>
              <a:t>— so subsidies and free supplies aimed at the poorest fifth of households buy far more impact per shilling than spreading the same money across everyone.</a:t>
            </a:r>
          </a:p>
        </p:txBody>
      </p:sp>
      <p:sp>
        <p:nvSpPr>
          <p:cNvPr id="17" name="Rectangle 1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9" name="TextBox 1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10 / 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2 · WHAT THE DATA SHOWS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Education outweighs wealth</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3 — MONEY vs SCHOOL</a:t>
            </a:r>
          </a:p>
        </p:txBody>
      </p:sp>
      <p:sp>
        <p:nvSpPr>
          <p:cNvPr id="7" name="Rounded Rectangle 6"/>
          <p:cNvSpPr/>
          <p:nvPr/>
        </p:nvSpPr>
        <p:spPr>
          <a:xfrm>
            <a:off x="502920" y="1371600"/>
            <a:ext cx="6720840" cy="4892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ell061_0.png"/>
          <p:cNvPicPr>
            <a:picLocks noChangeAspect="1"/>
          </p:cNvPicPr>
          <p:nvPr/>
        </p:nvPicPr>
        <p:blipFill>
          <a:blip r:embed="rId3"/>
          <a:stretch>
            <a:fillRect/>
          </a:stretch>
        </p:blipFill>
        <p:spPr>
          <a:xfrm>
            <a:off x="658368" y="1923245"/>
            <a:ext cx="6409944" cy="3788748"/>
          </a:xfrm>
          <a:prstGeom prst="rect">
            <a:avLst/>
          </a:prstGeom>
        </p:spPr>
      </p:pic>
      <p:sp>
        <p:nvSpPr>
          <p:cNvPr id="9" name="Rounded Rectangle 8"/>
          <p:cNvSpPr/>
          <p:nvPr/>
        </p:nvSpPr>
        <p:spPr>
          <a:xfrm>
            <a:off x="7452359" y="1371600"/>
            <a:ext cx="4736592" cy="18288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52359" y="1481328"/>
            <a:ext cx="64008" cy="160934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53527" y="1517904"/>
            <a:ext cx="437083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WHAT YOU'RE SEEING</a:t>
            </a:r>
          </a:p>
        </p:txBody>
      </p:sp>
      <p:sp>
        <p:nvSpPr>
          <p:cNvPr id="12" name="TextBox 11"/>
          <p:cNvSpPr txBox="1"/>
          <p:nvPr/>
        </p:nvSpPr>
        <p:spPr>
          <a:xfrm>
            <a:off x="7653527" y="1810512"/>
            <a:ext cx="4352544" cy="128016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Each cell is the modern-use rate for one wealth × education group. </a:t>
            </a:r>
            <a:r>
              <a:rPr sz="1250" b="0" i="0">
                <a:solidFill>
                  <a:srgbClr val="1A1418"/>
                </a:solidFill>
                <a:latin typeface="Segoe UI"/>
              </a:rPr>
              <a:t>With no education, use stays at 9–21% no matter how wealthy the household. With any schooling, it jumps into the 29–48% range across every wealth group.</a:t>
            </a:r>
          </a:p>
        </p:txBody>
      </p:sp>
      <p:sp>
        <p:nvSpPr>
          <p:cNvPr id="13" name="Rounded Rectangle 12"/>
          <p:cNvSpPr/>
          <p:nvPr/>
        </p:nvSpPr>
        <p:spPr>
          <a:xfrm>
            <a:off x="7452359" y="3401568"/>
            <a:ext cx="4736592" cy="224028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59" y="3511296"/>
            <a:ext cx="64008" cy="202082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3527" y="3547872"/>
            <a:ext cx="437083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WHY IT MATTERS</a:t>
            </a:r>
          </a:p>
        </p:txBody>
      </p:sp>
      <p:sp>
        <p:nvSpPr>
          <p:cNvPr id="16" name="TextBox 15"/>
          <p:cNvSpPr txBox="1"/>
          <p:nvPr/>
        </p:nvSpPr>
        <p:spPr>
          <a:xfrm>
            <a:off x="7653527" y="3840480"/>
            <a:ext cx="4352544" cy="169164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The full answer to Q3: education is the stronger lever. </a:t>
            </a:r>
            <a:r>
              <a:rPr sz="1250" b="0" i="0">
                <a:solidFill>
                  <a:srgbClr val="1A1418"/>
                </a:solidFill>
                <a:latin typeface="Segoe UI"/>
              </a:rPr>
              <a:t>Raising incomes alone would probably not be enough — the no-education row stays pale all the way across. Programmes that keep girls in school, and adult literacy for women, are also family planning programmes.</a:t>
            </a:r>
          </a:p>
        </p:txBody>
      </p:sp>
      <p:sp>
        <p:nvSpPr>
          <p:cNvPr id="17" name="Rectangle 1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9" name="TextBox 1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11 /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2 · WHAT THE DATA SHOWS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Town vs country: a myth, tested</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4 — TOWN vs COUNTRY</a:t>
            </a:r>
          </a:p>
        </p:txBody>
      </p:sp>
      <p:sp>
        <p:nvSpPr>
          <p:cNvPr id="7" name="Rounded Rectangle 6"/>
          <p:cNvSpPr/>
          <p:nvPr/>
        </p:nvSpPr>
        <p:spPr>
          <a:xfrm>
            <a:off x="502920" y="1371600"/>
            <a:ext cx="6720840" cy="48920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ell054_0.png"/>
          <p:cNvPicPr>
            <a:picLocks noChangeAspect="1"/>
          </p:cNvPicPr>
          <p:nvPr/>
        </p:nvPicPr>
        <p:blipFill>
          <a:blip r:embed="rId3"/>
          <a:stretch>
            <a:fillRect/>
          </a:stretch>
        </p:blipFill>
        <p:spPr>
          <a:xfrm>
            <a:off x="658368" y="1833782"/>
            <a:ext cx="6409944" cy="3967674"/>
          </a:xfrm>
          <a:prstGeom prst="rect">
            <a:avLst/>
          </a:prstGeom>
        </p:spPr>
      </p:pic>
      <p:sp>
        <p:nvSpPr>
          <p:cNvPr id="9" name="Rounded Rectangle 8"/>
          <p:cNvSpPr/>
          <p:nvPr/>
        </p:nvSpPr>
        <p:spPr>
          <a:xfrm>
            <a:off x="7452359" y="1371600"/>
            <a:ext cx="4736592" cy="13716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52359" y="1481328"/>
            <a:ext cx="64008" cy="115214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53527" y="1517904"/>
            <a:ext cx="437083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WHAT YOU'RE SEEING</a:t>
            </a:r>
          </a:p>
        </p:txBody>
      </p:sp>
      <p:sp>
        <p:nvSpPr>
          <p:cNvPr id="12" name="TextBox 11"/>
          <p:cNvSpPr txBox="1"/>
          <p:nvPr/>
        </p:nvSpPr>
        <p:spPr>
          <a:xfrm>
            <a:off x="7653527" y="1810512"/>
            <a:ext cx="4352544" cy="82296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Urban and rural women use modern methods at almost exactly the same rate — about 38% each.</a:t>
            </a:r>
          </a:p>
        </p:txBody>
      </p:sp>
      <p:sp>
        <p:nvSpPr>
          <p:cNvPr id="13" name="Rounded Rectangle 12"/>
          <p:cNvSpPr/>
          <p:nvPr/>
        </p:nvSpPr>
        <p:spPr>
          <a:xfrm>
            <a:off x="7452359" y="2944368"/>
            <a:ext cx="4736592" cy="246888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52359" y="3054096"/>
            <a:ext cx="64008" cy="224942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53527" y="3090672"/>
            <a:ext cx="4370831"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WHY IT MATTERS</a:t>
            </a:r>
          </a:p>
        </p:txBody>
      </p:sp>
      <p:sp>
        <p:nvSpPr>
          <p:cNvPr id="16" name="TextBox 15"/>
          <p:cNvSpPr txBox="1"/>
          <p:nvPr/>
        </p:nvSpPr>
        <p:spPr>
          <a:xfrm>
            <a:off x="7653527" y="3383280"/>
            <a:ext cx="4352544" cy="1920240"/>
          </a:xfrm>
          <a:prstGeom prst="rect">
            <a:avLst/>
          </a:prstGeom>
          <a:noFill/>
        </p:spPr>
        <p:txBody>
          <a:bodyPr wrap="square" anchor="t" lIns="0" rIns="0" tIns="0" bIns="0">
            <a:spAutoFit/>
          </a:bodyPr>
          <a:lstStyle/>
          <a:p>
            <a:pPr algn="l">
              <a:lnSpc>
                <a:spcPct val="108000"/>
              </a:lnSpc>
              <a:spcAft>
                <a:spcPts val="400"/>
              </a:spcAft>
            </a:pPr>
            <a:r>
              <a:rPr sz="1250" b="1" i="0">
                <a:solidFill>
                  <a:srgbClr val="1A1418"/>
                </a:solidFill>
                <a:latin typeface="Segoe UI"/>
              </a:rPr>
              <a:t>Q4 answered: on its own, where a woman lives barely matters. </a:t>
            </a:r>
            <a:r>
              <a:rPr sz="1250" b="0" i="0">
                <a:solidFill>
                  <a:srgbClr val="1A1418"/>
                </a:solidFill>
                <a:latin typeface="Segoe UI"/>
              </a:rPr>
              <a:t>Any urban–rural gap people expect is explained by education and wealth, not by residence itself. That is genuinely useful for planners: don't budget by town-versus-country — budget by county, poverty, and education, where the real differences live.</a:t>
            </a:r>
          </a:p>
        </p:txBody>
      </p:sp>
      <p:sp>
        <p:nvSpPr>
          <p:cNvPr id="17" name="Rectangle 1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9" name="TextBox 1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12 /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2 · WHAT THE DATA SHOWS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Four findings that shaped what we built</a:t>
            </a:r>
          </a:p>
        </p:txBody>
      </p:sp>
      <p:sp>
        <p:nvSpPr>
          <p:cNvPr id="5" name="Rounded Rectangle 4"/>
          <p:cNvSpPr/>
          <p:nvPr/>
        </p:nvSpPr>
        <p:spPr>
          <a:xfrm>
            <a:off x="502920" y="141732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527048"/>
            <a:ext cx="64008" cy="197510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81912"/>
            <a:ext cx="5120640" cy="32004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Two rare groups</a:t>
            </a:r>
          </a:p>
        </p:txBody>
      </p:sp>
      <p:sp>
        <p:nvSpPr>
          <p:cNvPr id="8" name="TextBox 7"/>
          <p:cNvSpPr txBox="1"/>
          <p:nvPr/>
        </p:nvSpPr>
        <p:spPr>
          <a:xfrm>
            <a:off x="731520" y="1965960"/>
            <a:ext cx="507492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E91E63"/>
                </a:solidFill>
                <a:latin typeface="Segoe UI"/>
              </a:rPr>
              <a:t>Found:  </a:t>
            </a:r>
            <a:r>
              <a:rPr sz="1200" b="0" i="0">
                <a:solidFill>
                  <a:srgbClr val="1A1418"/>
                </a:solidFill>
                <a:latin typeface="Segoe UI"/>
              </a:rPr>
              <a:t>Traditional (3.8%) and Folkloric (0.2%, 53 women) are tiny.</a:t>
            </a:r>
          </a:p>
        </p:txBody>
      </p:sp>
      <p:sp>
        <p:nvSpPr>
          <p:cNvPr id="9" name="TextBox 8"/>
          <p:cNvSpPr txBox="1"/>
          <p:nvPr/>
        </p:nvSpPr>
        <p:spPr>
          <a:xfrm>
            <a:off x="731520" y="2606040"/>
            <a:ext cx="5074920" cy="868680"/>
          </a:xfrm>
          <a:prstGeom prst="rect">
            <a:avLst/>
          </a:prstGeom>
          <a:noFill/>
        </p:spPr>
        <p:txBody>
          <a:bodyPr wrap="square" anchor="t" lIns="0" rIns="0" tIns="0" bIns="0">
            <a:spAutoFit/>
          </a:bodyPr>
          <a:lstStyle/>
          <a:p>
            <a:pPr algn="l">
              <a:lnSpc>
                <a:spcPct val="110000"/>
              </a:lnSpc>
              <a:spcAft>
                <a:spcPts val="400"/>
              </a:spcAft>
            </a:pPr>
            <a:r>
              <a:rPr sz="1200" b="1" i="0">
                <a:solidFill>
                  <a:srgbClr val="AD1457"/>
                </a:solidFill>
                <a:latin typeface="Segoe UI"/>
              </a:rPr>
              <a:t>So we:  </a:t>
            </a:r>
            <a:r>
              <a:rPr sz="1200" b="0" i="0">
                <a:solidFill>
                  <a:srgbClr val="1A1418"/>
                </a:solidFill>
                <a:latin typeface="Segoe UI"/>
              </a:rPr>
              <a:t>Balanced the training data and used metrics that respect small groups — raw accuracy alone would hide failure.</a:t>
            </a:r>
          </a:p>
        </p:txBody>
      </p:sp>
      <p:sp>
        <p:nvSpPr>
          <p:cNvPr id="10" name="Rounded Rectangle 9"/>
          <p:cNvSpPr/>
          <p:nvPr/>
        </p:nvSpPr>
        <p:spPr>
          <a:xfrm>
            <a:off x="6217920" y="141732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527048"/>
            <a:ext cx="64008" cy="1975104"/>
          </a:xfrm>
          <a:prstGeom prst="rect">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581912"/>
            <a:ext cx="5120640" cy="32004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County is the biggest signal</a:t>
            </a:r>
          </a:p>
        </p:txBody>
      </p:sp>
      <p:sp>
        <p:nvSpPr>
          <p:cNvPr id="13" name="TextBox 12"/>
          <p:cNvSpPr txBox="1"/>
          <p:nvPr/>
        </p:nvSpPr>
        <p:spPr>
          <a:xfrm>
            <a:off x="6446520" y="1965960"/>
            <a:ext cx="507492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E91E63"/>
                </a:solidFill>
                <a:latin typeface="Segoe UI"/>
              </a:rPr>
              <a:t>Found:  </a:t>
            </a:r>
            <a:r>
              <a:rPr sz="1200" b="0" i="0">
                <a:solidFill>
                  <a:srgbClr val="1A1418"/>
                </a:solidFill>
                <a:latin typeface="Segoe UI"/>
              </a:rPr>
              <a:t>A 56-point spread, with every arid county at the bottom.</a:t>
            </a:r>
          </a:p>
        </p:txBody>
      </p:sp>
      <p:sp>
        <p:nvSpPr>
          <p:cNvPr id="14" name="TextBox 13"/>
          <p:cNvSpPr txBox="1"/>
          <p:nvPr/>
        </p:nvSpPr>
        <p:spPr>
          <a:xfrm>
            <a:off x="6446520" y="2606040"/>
            <a:ext cx="5074920" cy="868680"/>
          </a:xfrm>
          <a:prstGeom prst="rect">
            <a:avLst/>
          </a:prstGeom>
          <a:noFill/>
        </p:spPr>
        <p:txBody>
          <a:bodyPr wrap="square" anchor="t" lIns="0" rIns="0" tIns="0" bIns="0">
            <a:spAutoFit/>
          </a:bodyPr>
          <a:lstStyle/>
          <a:p>
            <a:pPr algn="l">
              <a:lnSpc>
                <a:spcPct val="110000"/>
              </a:lnSpc>
              <a:spcAft>
                <a:spcPts val="400"/>
              </a:spcAft>
            </a:pPr>
            <a:r>
              <a:rPr sz="1200" b="1" i="0">
                <a:solidFill>
                  <a:srgbClr val="AD1457"/>
                </a:solidFill>
                <a:latin typeface="Segoe UI"/>
              </a:rPr>
              <a:t>So we:  </a:t>
            </a:r>
            <a:r>
              <a:rPr sz="1200" b="0" i="0">
                <a:solidFill>
                  <a:srgbClr val="1A1418"/>
                </a:solidFill>
                <a:latin typeface="Segoe UI"/>
              </a:rPr>
              <a:t>Gave the model an explicit arid-county flag so geography is seen directly, not guessed.</a:t>
            </a:r>
          </a:p>
        </p:txBody>
      </p:sp>
      <p:sp>
        <p:nvSpPr>
          <p:cNvPr id="15" name="Rounded Rectangle 14"/>
          <p:cNvSpPr/>
          <p:nvPr/>
        </p:nvSpPr>
        <p:spPr>
          <a:xfrm>
            <a:off x="502920" y="379476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3904488"/>
            <a:ext cx="64008" cy="1975104"/>
          </a:xfrm>
          <a:prstGeom prst="rect">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959352"/>
            <a:ext cx="5120640" cy="32004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Education beats wealth</a:t>
            </a:r>
          </a:p>
        </p:txBody>
      </p:sp>
      <p:sp>
        <p:nvSpPr>
          <p:cNvPr id="18" name="TextBox 17"/>
          <p:cNvSpPr txBox="1"/>
          <p:nvPr/>
        </p:nvSpPr>
        <p:spPr>
          <a:xfrm>
            <a:off x="731520" y="4343400"/>
            <a:ext cx="507492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E91E63"/>
                </a:solidFill>
                <a:latin typeface="Segoe UI"/>
              </a:rPr>
              <a:t>Found:  </a:t>
            </a:r>
            <a:r>
              <a:rPr sz="1200" b="0" i="0">
                <a:solidFill>
                  <a:srgbClr val="1A1418"/>
                </a:solidFill>
                <a:latin typeface="Segoe UI"/>
              </a:rPr>
              <a:t>No-education women stay at 9–21% use at every wealth level.</a:t>
            </a:r>
          </a:p>
        </p:txBody>
      </p:sp>
      <p:sp>
        <p:nvSpPr>
          <p:cNvPr id="19" name="TextBox 18"/>
          <p:cNvSpPr txBox="1"/>
          <p:nvPr/>
        </p:nvSpPr>
        <p:spPr>
          <a:xfrm>
            <a:off x="731520" y="4983480"/>
            <a:ext cx="5074920" cy="868680"/>
          </a:xfrm>
          <a:prstGeom prst="rect">
            <a:avLst/>
          </a:prstGeom>
          <a:noFill/>
        </p:spPr>
        <p:txBody>
          <a:bodyPr wrap="square" anchor="t" lIns="0" rIns="0" tIns="0" bIns="0">
            <a:spAutoFit/>
          </a:bodyPr>
          <a:lstStyle/>
          <a:p>
            <a:pPr algn="l">
              <a:lnSpc>
                <a:spcPct val="110000"/>
              </a:lnSpc>
              <a:spcAft>
                <a:spcPts val="400"/>
              </a:spcAft>
            </a:pPr>
            <a:r>
              <a:rPr sz="1200" b="1" i="0">
                <a:solidFill>
                  <a:srgbClr val="AD1457"/>
                </a:solidFill>
                <a:latin typeface="Segoe UI"/>
              </a:rPr>
              <a:t>So we:  </a:t>
            </a:r>
            <a:r>
              <a:rPr sz="1200" b="0" i="0">
                <a:solidFill>
                  <a:srgbClr val="1A1418"/>
                </a:solidFill>
                <a:latin typeface="Segoe UI"/>
              </a:rPr>
              <a:t>Kept education and wealth as ordered scales so the cliff and the jump are learnable.</a:t>
            </a:r>
          </a:p>
        </p:txBody>
      </p:sp>
      <p:sp>
        <p:nvSpPr>
          <p:cNvPr id="20" name="Rounded Rectangle 19"/>
          <p:cNvSpPr/>
          <p:nvPr/>
        </p:nvSpPr>
        <p:spPr>
          <a:xfrm>
            <a:off x="6217920" y="379476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3904488"/>
            <a:ext cx="64008" cy="197510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3959352"/>
            <a:ext cx="5120640" cy="32004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Twin variables</a:t>
            </a:r>
          </a:p>
        </p:txBody>
      </p:sp>
      <p:sp>
        <p:nvSpPr>
          <p:cNvPr id="23" name="TextBox 22"/>
          <p:cNvSpPr txBox="1"/>
          <p:nvPr/>
        </p:nvSpPr>
        <p:spPr>
          <a:xfrm>
            <a:off x="6446520" y="4343400"/>
            <a:ext cx="5074920" cy="640080"/>
          </a:xfrm>
          <a:prstGeom prst="rect">
            <a:avLst/>
          </a:prstGeom>
          <a:noFill/>
        </p:spPr>
        <p:txBody>
          <a:bodyPr wrap="square" anchor="t" lIns="0" rIns="0" tIns="0" bIns="0">
            <a:spAutoFit/>
          </a:bodyPr>
          <a:lstStyle/>
          <a:p>
            <a:pPr algn="l">
              <a:lnSpc>
                <a:spcPct val="110000"/>
              </a:lnSpc>
              <a:spcAft>
                <a:spcPts val="400"/>
              </a:spcAft>
            </a:pPr>
            <a:r>
              <a:rPr sz="1200" b="1" i="0">
                <a:solidFill>
                  <a:srgbClr val="E91E63"/>
                </a:solidFill>
                <a:latin typeface="Segoe UI"/>
              </a:rPr>
              <a:t>Found:  </a:t>
            </a:r>
            <a:r>
              <a:rPr sz="1200" b="0" i="0">
                <a:solidFill>
                  <a:srgbClr val="1A1418"/>
                </a:solidFill>
                <a:latin typeface="Segoe UI"/>
              </a:rPr>
              <a:t>Children ever born ≈ living children (r = 0.98).</a:t>
            </a:r>
          </a:p>
        </p:txBody>
      </p:sp>
      <p:sp>
        <p:nvSpPr>
          <p:cNvPr id="24" name="TextBox 23"/>
          <p:cNvSpPr txBox="1"/>
          <p:nvPr/>
        </p:nvSpPr>
        <p:spPr>
          <a:xfrm>
            <a:off x="6446520" y="4983480"/>
            <a:ext cx="5074920" cy="868680"/>
          </a:xfrm>
          <a:prstGeom prst="rect">
            <a:avLst/>
          </a:prstGeom>
          <a:noFill/>
        </p:spPr>
        <p:txBody>
          <a:bodyPr wrap="square" anchor="t" lIns="0" rIns="0" tIns="0" bIns="0">
            <a:spAutoFit/>
          </a:bodyPr>
          <a:lstStyle/>
          <a:p>
            <a:pPr algn="l">
              <a:lnSpc>
                <a:spcPct val="110000"/>
              </a:lnSpc>
              <a:spcAft>
                <a:spcPts val="400"/>
              </a:spcAft>
            </a:pPr>
            <a:r>
              <a:rPr sz="1200" b="1" i="0">
                <a:solidFill>
                  <a:srgbClr val="AD1457"/>
                </a:solidFill>
                <a:latin typeface="Segoe UI"/>
              </a:rPr>
              <a:t>So we:  </a:t>
            </a:r>
            <a:r>
              <a:rPr sz="1200" b="0" i="0">
                <a:solidFill>
                  <a:srgbClr val="1A1418"/>
                </a:solidFill>
                <a:latin typeface="Segoe UI"/>
              </a:rPr>
              <a:t>Kept one and derived new features from the difference — no double counting.</a:t>
            </a:r>
          </a:p>
        </p:txBody>
      </p:sp>
      <p:sp>
        <p:nvSpPr>
          <p:cNvPr id="25" name="Rectangle 24"/>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27" name="TextBox 26"/>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13 /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920240"/>
            <a:ext cx="7315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FF5CA8"/>
                </a:solidFill>
                <a:latin typeface="Segoe UI"/>
              </a:rPr>
              <a:t>PART 3 OF 5</a:t>
            </a:r>
          </a:p>
        </p:txBody>
      </p:sp>
      <p:sp>
        <p:nvSpPr>
          <p:cNvPr id="4" name="TextBox 3"/>
          <p:cNvSpPr txBox="1"/>
          <p:nvPr/>
        </p:nvSpPr>
        <p:spPr>
          <a:xfrm>
            <a:off x="822960" y="2331720"/>
            <a:ext cx="8412480" cy="1005840"/>
          </a:xfrm>
          <a:prstGeom prst="rect">
            <a:avLst/>
          </a:prstGeom>
          <a:noFill/>
        </p:spPr>
        <p:txBody>
          <a:bodyPr wrap="square" anchor="t" lIns="0" rIns="0" tIns="0" bIns="0">
            <a:spAutoFit/>
          </a:bodyPr>
          <a:lstStyle/>
          <a:p>
            <a:pPr algn="l">
              <a:lnSpc>
                <a:spcPct val="100000"/>
              </a:lnSpc>
              <a:spcAft>
                <a:spcPts val="400"/>
              </a:spcAft>
            </a:pPr>
            <a:r>
              <a:rPr sz="3800" b="1" i="0">
                <a:solidFill>
                  <a:srgbClr val="FFFFFF"/>
                </a:solidFill>
                <a:latin typeface="Segoe UI"/>
              </a:rPr>
              <a:t>Building the Model</a:t>
            </a:r>
          </a:p>
        </p:txBody>
      </p:sp>
      <p:sp>
        <p:nvSpPr>
          <p:cNvPr id="5" name="TextBox 4"/>
          <p:cNvSpPr txBox="1"/>
          <p:nvPr/>
        </p:nvSpPr>
        <p:spPr>
          <a:xfrm>
            <a:off x="822960" y="3337560"/>
            <a:ext cx="7863840" cy="1188720"/>
          </a:xfrm>
          <a:prstGeom prst="rect">
            <a:avLst/>
          </a:prstGeom>
          <a:noFill/>
        </p:spPr>
        <p:txBody>
          <a:bodyPr wrap="square" anchor="t" lIns="0" rIns="0" tIns="0" bIns="0">
            <a:spAutoFit/>
          </a:bodyPr>
          <a:lstStyle/>
          <a:p>
            <a:pPr algn="l">
              <a:lnSpc>
                <a:spcPct val="115000"/>
              </a:lnSpc>
              <a:spcAft>
                <a:spcPts val="400"/>
              </a:spcAft>
            </a:pPr>
            <a:r>
              <a:rPr sz="1500" b="0" i="0">
                <a:solidFill>
                  <a:srgbClr val="BFA9B5"/>
                </a:solidFill>
                <a:latin typeface="Segoe UI"/>
              </a:rPr>
              <a:t>Five different approaches — from a simple statistical baseline to two deep-learning designs — compete on the same held-out test of 6,432 women.</a:t>
            </a:r>
          </a:p>
        </p:txBody>
      </p:sp>
      <p:pic>
        <p:nvPicPr>
          <p:cNvPr id="6" name="Picture 5" descr="image6.png"/>
          <p:cNvPicPr>
            <a:picLocks noChangeAspect="1"/>
          </p:cNvPicPr>
          <p:nvPr/>
        </p:nvPicPr>
        <p:blipFill>
          <a:blip r:embed="rId3"/>
          <a:stretch>
            <a:fillRect/>
          </a:stretch>
        </p:blipFill>
        <p:spPr>
          <a:xfrm>
            <a:off x="9189720" y="2148840"/>
            <a:ext cx="2286000" cy="2286000"/>
          </a:xfrm>
          <a:prstGeom prst="rect">
            <a:avLst/>
          </a:prstGeom>
        </p:spPr>
      </p:pic>
      <p:sp>
        <p:nvSpPr>
          <p:cNvPr id="7" name="Rectangle 6"/>
          <p:cNvSpPr/>
          <p:nvPr/>
        </p:nvSpPr>
        <p:spPr>
          <a:xfrm>
            <a:off x="822960" y="4526280"/>
            <a:ext cx="1371600" cy="5029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0" name="TextBox 9"/>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14 / 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3 · BUILDING THE MODEL</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Playing fair with the data</a:t>
            </a:r>
          </a:p>
        </p:txBody>
      </p:sp>
      <p:sp>
        <p:nvSpPr>
          <p:cNvPr id="5" name="Rounded Rectangle 4"/>
          <p:cNvSpPr/>
          <p:nvPr/>
        </p:nvSpPr>
        <p:spPr>
          <a:xfrm>
            <a:off x="502920" y="141732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58952" y="1673352"/>
            <a:ext cx="411480" cy="411480"/>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673352"/>
            <a:ext cx="44805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Decode everything</a:t>
            </a:r>
          </a:p>
        </p:txBody>
      </p:sp>
      <p:sp>
        <p:nvSpPr>
          <p:cNvPr id="8" name="TextBox 7"/>
          <p:cNvSpPr txBox="1"/>
          <p:nvPr/>
        </p:nvSpPr>
        <p:spPr>
          <a:xfrm>
            <a:off x="758952" y="2194560"/>
            <a:ext cx="5029200" cy="1325880"/>
          </a:xfrm>
          <a:prstGeom prst="rect">
            <a:avLst/>
          </a:prstGeom>
          <a:noFill/>
        </p:spPr>
        <p:txBody>
          <a:bodyPr wrap="square" anchor="t" lIns="0" rIns="0" tIns="0" bIns="0">
            <a:spAutoFit/>
          </a:bodyPr>
          <a:lstStyle/>
          <a:p>
            <a:pPr algn="l">
              <a:lnSpc>
                <a:spcPct val="113000"/>
              </a:lnSpc>
              <a:spcAft>
                <a:spcPts val="400"/>
              </a:spcAft>
            </a:pPr>
            <a:r>
              <a:rPr sz="1200" b="0" i="0">
                <a:solidFill>
                  <a:srgbClr val="6E5F68"/>
                </a:solidFill>
                <a:latin typeface="Segoe UI"/>
              </a:rPr>
              <a:t>Raw survey codes became words (county 47 → “Nairobi”), so every chart and explanation downstream is readable by the health planners who will use it.</a:t>
            </a:r>
          </a:p>
        </p:txBody>
      </p:sp>
      <p:sp>
        <p:nvSpPr>
          <p:cNvPr id="9" name="Rounded Rectangle 8"/>
          <p:cNvSpPr/>
          <p:nvPr/>
        </p:nvSpPr>
        <p:spPr>
          <a:xfrm>
            <a:off x="6217920" y="141732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73952" y="1673352"/>
            <a:ext cx="411480" cy="411480"/>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1673352"/>
            <a:ext cx="44805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Respect the blanks</a:t>
            </a:r>
          </a:p>
        </p:txBody>
      </p:sp>
      <p:sp>
        <p:nvSpPr>
          <p:cNvPr id="12" name="TextBox 11"/>
          <p:cNvSpPr txBox="1"/>
          <p:nvPr/>
        </p:nvSpPr>
        <p:spPr>
          <a:xfrm>
            <a:off x="6473952" y="2194560"/>
            <a:ext cx="5029200" cy="1325880"/>
          </a:xfrm>
          <a:prstGeom prst="rect">
            <a:avLst/>
          </a:prstGeom>
          <a:noFill/>
        </p:spPr>
        <p:txBody>
          <a:bodyPr wrap="square" anchor="t" lIns="0" rIns="0" tIns="0" bIns="0">
            <a:spAutoFit/>
          </a:bodyPr>
          <a:lstStyle/>
          <a:p>
            <a:pPr algn="l">
              <a:lnSpc>
                <a:spcPct val="113000"/>
              </a:lnSpc>
              <a:spcAft>
                <a:spcPts val="400"/>
              </a:spcAft>
            </a:pPr>
            <a:r>
              <a:rPr sz="1200" b="0" i="0">
                <a:solidFill>
                  <a:srgbClr val="6E5F68"/>
                </a:solidFill>
                <a:latin typeface="Segoe UI"/>
              </a:rPr>
              <a:t>Missing ages-at-first-birth belong to women who never gave birth — that's information, not noise. It became a has_given_birth flag; partner details for single women became “No partner”, not a guess.</a:t>
            </a:r>
          </a:p>
        </p:txBody>
      </p:sp>
      <p:sp>
        <p:nvSpPr>
          <p:cNvPr id="13" name="Rounded Rectangle 12"/>
          <p:cNvSpPr/>
          <p:nvPr/>
        </p:nvSpPr>
        <p:spPr>
          <a:xfrm>
            <a:off x="502920" y="379476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58952" y="4050792"/>
            <a:ext cx="411480" cy="411480"/>
          </a:xfrm>
          <a:prstGeom prst="ellipse">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71600" y="4050792"/>
            <a:ext cx="44805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Balance only the practice data</a:t>
            </a:r>
          </a:p>
        </p:txBody>
      </p:sp>
      <p:sp>
        <p:nvSpPr>
          <p:cNvPr id="16" name="TextBox 15"/>
          <p:cNvSpPr txBox="1"/>
          <p:nvPr/>
        </p:nvSpPr>
        <p:spPr>
          <a:xfrm>
            <a:off x="758952" y="4572000"/>
            <a:ext cx="5029200" cy="1325880"/>
          </a:xfrm>
          <a:prstGeom prst="rect">
            <a:avLst/>
          </a:prstGeom>
          <a:noFill/>
        </p:spPr>
        <p:txBody>
          <a:bodyPr wrap="square" anchor="t" lIns="0" rIns="0" tIns="0" bIns="0">
            <a:spAutoFit/>
          </a:bodyPr>
          <a:lstStyle/>
          <a:p>
            <a:pPr algn="l">
              <a:lnSpc>
                <a:spcPct val="113000"/>
              </a:lnSpc>
              <a:spcAft>
                <a:spcPts val="400"/>
              </a:spcAft>
            </a:pPr>
            <a:r>
              <a:rPr sz="1200" b="0" i="0">
                <a:solidFill>
                  <a:srgbClr val="6E5F68"/>
                </a:solidFill>
                <a:latin typeface="Segoe UI"/>
              </a:rPr>
              <a:t>The rare groups were boosted (SMOTE) in training data only — the test set stays exactly as real life looks, so scores are honest.</a:t>
            </a:r>
          </a:p>
        </p:txBody>
      </p:sp>
      <p:sp>
        <p:nvSpPr>
          <p:cNvPr id="17" name="Rounded Rectangle 16"/>
          <p:cNvSpPr/>
          <p:nvPr/>
        </p:nvSpPr>
        <p:spPr>
          <a:xfrm>
            <a:off x="6217920" y="3794760"/>
            <a:ext cx="548640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73952" y="4050792"/>
            <a:ext cx="411480" cy="411480"/>
          </a:xfrm>
          <a:prstGeom prst="ellipse">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4050792"/>
            <a:ext cx="4480560" cy="365760"/>
          </a:xfrm>
          <a:prstGeom prst="rect">
            <a:avLst/>
          </a:prstGeom>
          <a:noFill/>
        </p:spPr>
        <p:txBody>
          <a:bodyPr wrap="square" anchor="t" lIns="0" rIns="0" tIns="0" bIns="0">
            <a:spAutoFit/>
          </a:bodyPr>
          <a:lstStyle/>
          <a:p>
            <a:pPr algn="l">
              <a:lnSpc>
                <a:spcPct val="100000"/>
              </a:lnSpc>
              <a:spcAft>
                <a:spcPts val="400"/>
              </a:spcAft>
            </a:pPr>
            <a:r>
              <a:rPr sz="1500" b="1" i="0">
                <a:solidFill>
                  <a:srgbClr val="1A1418"/>
                </a:solidFill>
                <a:latin typeface="Segoe UI"/>
              </a:rPr>
              <a:t>Engineer what the EDA taught</a:t>
            </a:r>
          </a:p>
        </p:txBody>
      </p:sp>
      <p:sp>
        <p:nvSpPr>
          <p:cNvPr id="20" name="TextBox 19"/>
          <p:cNvSpPr txBox="1"/>
          <p:nvPr/>
        </p:nvSpPr>
        <p:spPr>
          <a:xfrm>
            <a:off x="6473952" y="4572000"/>
            <a:ext cx="5029200" cy="1325880"/>
          </a:xfrm>
          <a:prstGeom prst="rect">
            <a:avLst/>
          </a:prstGeom>
          <a:noFill/>
        </p:spPr>
        <p:txBody>
          <a:bodyPr wrap="square" anchor="t" lIns="0" rIns="0" tIns="0" bIns="0">
            <a:spAutoFit/>
          </a:bodyPr>
          <a:lstStyle/>
          <a:p>
            <a:pPr algn="l">
              <a:lnSpc>
                <a:spcPct val="113000"/>
              </a:lnSpc>
              <a:spcAft>
                <a:spcPts val="400"/>
              </a:spcAft>
            </a:pPr>
            <a:r>
              <a:rPr sz="1200" b="0" i="0">
                <a:solidFill>
                  <a:srgbClr val="6E5F68"/>
                </a:solidFill>
                <a:latin typeface="Segoe UI"/>
              </a:rPr>
              <a:t>New features came straight from the findings: an arid-county flag, ordered wealth and education scales, and family-stage measures like child density — each one traceable to a chart in Part 2.</a:t>
            </a:r>
          </a:p>
        </p:txBody>
      </p:sp>
      <p:sp>
        <p:nvSpPr>
          <p:cNvPr id="21" name="Rectangle 20"/>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23" name="TextBox 22"/>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15 / 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3 · BUILDING THE MODEL</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Five models, one held-out test</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5 — THE PREDICTOR</a:t>
            </a:r>
          </a:p>
        </p:txBody>
      </p:sp>
      <p:sp>
        <p:nvSpPr>
          <p:cNvPr id="7" name="Rounded Rectangle 6"/>
          <p:cNvSpPr/>
          <p:nvPr/>
        </p:nvSpPr>
        <p:spPr>
          <a:xfrm>
            <a:off x="502920" y="1371600"/>
            <a:ext cx="6949440" cy="3749039"/>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3291840" cy="365760"/>
          </a:xfrm>
          <a:prstGeom prst="rect">
            <a:avLst/>
          </a:prstGeom>
          <a:noFill/>
        </p:spPr>
        <p:txBody>
          <a:bodyPr wrap="square" anchor="t" lIns="0" rIns="0" tIns="0" bIns="0">
            <a:spAutoFit/>
          </a:bodyPr>
          <a:lstStyle/>
          <a:p>
            <a:pPr algn="l">
              <a:lnSpc>
                <a:spcPct val="100000"/>
              </a:lnSpc>
              <a:spcAft>
                <a:spcPts val="400"/>
              </a:spcAft>
            </a:pPr>
            <a:r>
              <a:rPr sz="1050" b="1" i="0">
                <a:solidFill>
                  <a:srgbClr val="6E5F68"/>
                </a:solidFill>
                <a:latin typeface="Segoe UI"/>
              </a:rPr>
              <a:t>MODEL</a:t>
            </a:r>
          </a:p>
        </p:txBody>
      </p:sp>
      <p:sp>
        <p:nvSpPr>
          <p:cNvPr id="9" name="TextBox 8"/>
          <p:cNvSpPr txBox="1"/>
          <p:nvPr/>
        </p:nvSpPr>
        <p:spPr>
          <a:xfrm>
            <a:off x="4160520" y="1627632"/>
            <a:ext cx="1051560" cy="365760"/>
          </a:xfrm>
          <a:prstGeom prst="rect">
            <a:avLst/>
          </a:prstGeom>
          <a:noFill/>
        </p:spPr>
        <p:txBody>
          <a:bodyPr wrap="square" anchor="t" lIns="0" rIns="0" tIns="0" bIns="0">
            <a:spAutoFit/>
          </a:bodyPr>
          <a:lstStyle/>
          <a:p>
            <a:pPr algn="r">
              <a:lnSpc>
                <a:spcPct val="100000"/>
              </a:lnSpc>
              <a:spcAft>
                <a:spcPts val="400"/>
              </a:spcAft>
            </a:pPr>
            <a:r>
              <a:rPr sz="1050" b="1" i="0">
                <a:solidFill>
                  <a:srgbClr val="6E5F68"/>
                </a:solidFill>
                <a:latin typeface="Segoe UI"/>
              </a:rPr>
              <a:t>ACCURACY</a:t>
            </a:r>
          </a:p>
        </p:txBody>
      </p:sp>
      <p:sp>
        <p:nvSpPr>
          <p:cNvPr id="10" name="TextBox 9"/>
          <p:cNvSpPr txBox="1"/>
          <p:nvPr/>
        </p:nvSpPr>
        <p:spPr>
          <a:xfrm>
            <a:off x="5257800" y="1627632"/>
            <a:ext cx="1005840" cy="365760"/>
          </a:xfrm>
          <a:prstGeom prst="rect">
            <a:avLst/>
          </a:prstGeom>
          <a:noFill/>
        </p:spPr>
        <p:txBody>
          <a:bodyPr wrap="square" anchor="t" lIns="0" rIns="0" tIns="0" bIns="0">
            <a:spAutoFit/>
          </a:bodyPr>
          <a:lstStyle/>
          <a:p>
            <a:pPr algn="r">
              <a:lnSpc>
                <a:spcPct val="100000"/>
              </a:lnSpc>
              <a:spcAft>
                <a:spcPts val="400"/>
              </a:spcAft>
            </a:pPr>
            <a:r>
              <a:rPr sz="1050" b="1" i="0">
                <a:solidFill>
                  <a:srgbClr val="6E5F68"/>
                </a:solidFill>
                <a:latin typeface="Segoe UI"/>
              </a:rPr>
              <a:t>MACRO F1</a:t>
            </a:r>
          </a:p>
        </p:txBody>
      </p:sp>
      <p:sp>
        <p:nvSpPr>
          <p:cNvPr id="11" name="TextBox 10"/>
          <p:cNvSpPr txBox="1"/>
          <p:nvPr/>
        </p:nvSpPr>
        <p:spPr>
          <a:xfrm>
            <a:off x="6309360" y="1627632"/>
            <a:ext cx="960120" cy="365760"/>
          </a:xfrm>
          <a:prstGeom prst="rect">
            <a:avLst/>
          </a:prstGeom>
          <a:noFill/>
        </p:spPr>
        <p:txBody>
          <a:bodyPr wrap="square" anchor="t" lIns="0" rIns="0" tIns="0" bIns="0">
            <a:spAutoFit/>
          </a:bodyPr>
          <a:lstStyle/>
          <a:p>
            <a:pPr algn="r">
              <a:lnSpc>
                <a:spcPct val="100000"/>
              </a:lnSpc>
              <a:spcAft>
                <a:spcPts val="400"/>
              </a:spcAft>
            </a:pPr>
            <a:r>
              <a:rPr sz="1050" b="1" i="0">
                <a:solidFill>
                  <a:srgbClr val="6E5F68"/>
                </a:solidFill>
                <a:latin typeface="Segoe UI"/>
              </a:rPr>
              <a:t>MACRO AUC</a:t>
            </a:r>
          </a:p>
        </p:txBody>
      </p:sp>
      <p:sp>
        <p:nvSpPr>
          <p:cNvPr id="12" name="TextBox 11"/>
          <p:cNvSpPr txBox="1"/>
          <p:nvPr/>
        </p:nvSpPr>
        <p:spPr>
          <a:xfrm>
            <a:off x="822960" y="2157984"/>
            <a:ext cx="3291840" cy="365760"/>
          </a:xfrm>
          <a:prstGeom prst="rect">
            <a:avLst/>
          </a:prstGeom>
          <a:noFill/>
        </p:spPr>
        <p:txBody>
          <a:bodyPr wrap="square" anchor="t" lIns="0" rIns="0" tIns="0" bIns="0">
            <a:spAutoFit/>
          </a:bodyPr>
          <a:lstStyle/>
          <a:p>
            <a:pPr algn="l">
              <a:lnSpc>
                <a:spcPct val="100000"/>
              </a:lnSpc>
              <a:spcAft>
                <a:spcPts val="400"/>
              </a:spcAft>
            </a:pPr>
            <a:r>
              <a:rPr sz="1250" b="0" i="0">
                <a:solidFill>
                  <a:srgbClr val="1A1418"/>
                </a:solidFill>
                <a:latin typeface="Segoe UI"/>
              </a:rPr>
              <a:t>Logistic Regression (baseline)</a:t>
            </a:r>
          </a:p>
        </p:txBody>
      </p:sp>
      <p:sp>
        <p:nvSpPr>
          <p:cNvPr id="13" name="TextBox 12"/>
          <p:cNvSpPr txBox="1"/>
          <p:nvPr/>
        </p:nvSpPr>
        <p:spPr>
          <a:xfrm>
            <a:off x="4160520" y="2157984"/>
            <a:ext cx="105156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54.8%</a:t>
            </a:r>
          </a:p>
        </p:txBody>
      </p:sp>
      <p:sp>
        <p:nvSpPr>
          <p:cNvPr id="14" name="TextBox 13"/>
          <p:cNvSpPr txBox="1"/>
          <p:nvPr/>
        </p:nvSpPr>
        <p:spPr>
          <a:xfrm>
            <a:off x="5257800" y="2157984"/>
            <a:ext cx="100584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0.354</a:t>
            </a:r>
          </a:p>
        </p:txBody>
      </p:sp>
      <p:sp>
        <p:nvSpPr>
          <p:cNvPr id="15" name="TextBox 14"/>
          <p:cNvSpPr txBox="1"/>
          <p:nvPr/>
        </p:nvSpPr>
        <p:spPr>
          <a:xfrm>
            <a:off x="6309360" y="2157984"/>
            <a:ext cx="96012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0.764</a:t>
            </a:r>
          </a:p>
        </p:txBody>
      </p:sp>
      <p:sp>
        <p:nvSpPr>
          <p:cNvPr id="16" name="TextBox 15"/>
          <p:cNvSpPr txBox="1"/>
          <p:nvPr/>
        </p:nvSpPr>
        <p:spPr>
          <a:xfrm>
            <a:off x="822960" y="2688336"/>
            <a:ext cx="3291840" cy="365760"/>
          </a:xfrm>
          <a:prstGeom prst="rect">
            <a:avLst/>
          </a:prstGeom>
          <a:noFill/>
        </p:spPr>
        <p:txBody>
          <a:bodyPr wrap="square" anchor="t" lIns="0" rIns="0" tIns="0" bIns="0">
            <a:spAutoFit/>
          </a:bodyPr>
          <a:lstStyle/>
          <a:p>
            <a:pPr algn="l">
              <a:lnSpc>
                <a:spcPct val="100000"/>
              </a:lnSpc>
              <a:spcAft>
                <a:spcPts val="400"/>
              </a:spcAft>
            </a:pPr>
            <a:r>
              <a:rPr sz="1250" b="0" i="0">
                <a:solidFill>
                  <a:srgbClr val="1A1418"/>
                </a:solidFill>
                <a:latin typeface="Segoe UI"/>
              </a:rPr>
              <a:t>Random Forest</a:t>
            </a:r>
          </a:p>
        </p:txBody>
      </p:sp>
      <p:sp>
        <p:nvSpPr>
          <p:cNvPr id="17" name="TextBox 16"/>
          <p:cNvSpPr txBox="1"/>
          <p:nvPr/>
        </p:nvSpPr>
        <p:spPr>
          <a:xfrm>
            <a:off x="4160520" y="2688336"/>
            <a:ext cx="105156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70.6%</a:t>
            </a:r>
          </a:p>
        </p:txBody>
      </p:sp>
      <p:sp>
        <p:nvSpPr>
          <p:cNvPr id="18" name="TextBox 17"/>
          <p:cNvSpPr txBox="1"/>
          <p:nvPr/>
        </p:nvSpPr>
        <p:spPr>
          <a:xfrm>
            <a:off x="5257800" y="2688336"/>
            <a:ext cx="100584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0.390</a:t>
            </a:r>
          </a:p>
        </p:txBody>
      </p:sp>
      <p:sp>
        <p:nvSpPr>
          <p:cNvPr id="19" name="TextBox 18"/>
          <p:cNvSpPr txBox="1"/>
          <p:nvPr/>
        </p:nvSpPr>
        <p:spPr>
          <a:xfrm>
            <a:off x="6309360" y="2688336"/>
            <a:ext cx="96012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0.775</a:t>
            </a:r>
          </a:p>
        </p:txBody>
      </p:sp>
      <p:sp>
        <p:nvSpPr>
          <p:cNvPr id="20" name="Rounded Rectangle 19"/>
          <p:cNvSpPr/>
          <p:nvPr/>
        </p:nvSpPr>
        <p:spPr>
          <a:xfrm>
            <a:off x="685800" y="3172968"/>
            <a:ext cx="6583680" cy="475488"/>
          </a:xfrm>
          <a:prstGeom prst="roundRect">
            <a:avLst>
              <a:gd name="adj" fmla="val 25000"/>
            </a:avLst>
          </a:prstGeom>
          <a:solidFill>
            <a:srgbClr val="FCE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218687"/>
            <a:ext cx="3291840" cy="365760"/>
          </a:xfrm>
          <a:prstGeom prst="rect">
            <a:avLst/>
          </a:prstGeom>
          <a:noFill/>
        </p:spPr>
        <p:txBody>
          <a:bodyPr wrap="square" anchor="t" lIns="0" rIns="0" tIns="0" bIns="0">
            <a:spAutoFit/>
          </a:bodyPr>
          <a:lstStyle/>
          <a:p>
            <a:pPr algn="l">
              <a:lnSpc>
                <a:spcPct val="100000"/>
              </a:lnSpc>
              <a:spcAft>
                <a:spcPts val="400"/>
              </a:spcAft>
            </a:pPr>
            <a:r>
              <a:rPr sz="1250" b="1" i="0">
                <a:solidFill>
                  <a:srgbClr val="AD1457"/>
                </a:solidFill>
                <a:latin typeface="Segoe UI"/>
              </a:rPr>
              <a:t>LightGBM (tuned) — selected</a:t>
            </a:r>
          </a:p>
        </p:txBody>
      </p:sp>
      <p:sp>
        <p:nvSpPr>
          <p:cNvPr id="22" name="TextBox 21"/>
          <p:cNvSpPr txBox="1"/>
          <p:nvPr/>
        </p:nvSpPr>
        <p:spPr>
          <a:xfrm>
            <a:off x="4160520" y="3218687"/>
            <a:ext cx="1051560" cy="365760"/>
          </a:xfrm>
          <a:prstGeom prst="rect">
            <a:avLst/>
          </a:prstGeom>
          <a:noFill/>
        </p:spPr>
        <p:txBody>
          <a:bodyPr wrap="square" anchor="t" lIns="0" rIns="0" tIns="0" bIns="0">
            <a:spAutoFit/>
          </a:bodyPr>
          <a:lstStyle/>
          <a:p>
            <a:pPr algn="r">
              <a:lnSpc>
                <a:spcPct val="100000"/>
              </a:lnSpc>
              <a:spcAft>
                <a:spcPts val="400"/>
              </a:spcAft>
            </a:pPr>
            <a:r>
              <a:rPr sz="1250" b="1" i="0">
                <a:solidFill>
                  <a:srgbClr val="AD1457"/>
                </a:solidFill>
                <a:latin typeface="Segoe UI"/>
              </a:rPr>
              <a:t>72.4%</a:t>
            </a:r>
          </a:p>
        </p:txBody>
      </p:sp>
      <p:sp>
        <p:nvSpPr>
          <p:cNvPr id="23" name="TextBox 22"/>
          <p:cNvSpPr txBox="1"/>
          <p:nvPr/>
        </p:nvSpPr>
        <p:spPr>
          <a:xfrm>
            <a:off x="5257800" y="3218687"/>
            <a:ext cx="1005840" cy="365760"/>
          </a:xfrm>
          <a:prstGeom prst="rect">
            <a:avLst/>
          </a:prstGeom>
          <a:noFill/>
        </p:spPr>
        <p:txBody>
          <a:bodyPr wrap="square" anchor="t" lIns="0" rIns="0" tIns="0" bIns="0">
            <a:spAutoFit/>
          </a:bodyPr>
          <a:lstStyle/>
          <a:p>
            <a:pPr algn="r">
              <a:lnSpc>
                <a:spcPct val="100000"/>
              </a:lnSpc>
              <a:spcAft>
                <a:spcPts val="400"/>
              </a:spcAft>
            </a:pPr>
            <a:r>
              <a:rPr sz="1250" b="1" i="0">
                <a:solidFill>
                  <a:srgbClr val="AD1457"/>
                </a:solidFill>
                <a:latin typeface="Segoe UI"/>
              </a:rPr>
              <a:t>0.367</a:t>
            </a:r>
          </a:p>
        </p:txBody>
      </p:sp>
      <p:sp>
        <p:nvSpPr>
          <p:cNvPr id="24" name="TextBox 23"/>
          <p:cNvSpPr txBox="1"/>
          <p:nvPr/>
        </p:nvSpPr>
        <p:spPr>
          <a:xfrm>
            <a:off x="6309360" y="3218687"/>
            <a:ext cx="960120" cy="365760"/>
          </a:xfrm>
          <a:prstGeom prst="rect">
            <a:avLst/>
          </a:prstGeom>
          <a:noFill/>
        </p:spPr>
        <p:txBody>
          <a:bodyPr wrap="square" anchor="t" lIns="0" rIns="0" tIns="0" bIns="0">
            <a:spAutoFit/>
          </a:bodyPr>
          <a:lstStyle/>
          <a:p>
            <a:pPr algn="r">
              <a:lnSpc>
                <a:spcPct val="100000"/>
              </a:lnSpc>
              <a:spcAft>
                <a:spcPts val="400"/>
              </a:spcAft>
            </a:pPr>
            <a:r>
              <a:rPr sz="1250" b="1" i="0">
                <a:solidFill>
                  <a:srgbClr val="AD1457"/>
                </a:solidFill>
                <a:latin typeface="Segoe UI"/>
              </a:rPr>
              <a:t>0.798</a:t>
            </a:r>
          </a:p>
        </p:txBody>
      </p:sp>
      <p:sp>
        <p:nvSpPr>
          <p:cNvPr id="25" name="TextBox 24"/>
          <p:cNvSpPr txBox="1"/>
          <p:nvPr/>
        </p:nvSpPr>
        <p:spPr>
          <a:xfrm>
            <a:off x="822960" y="3749039"/>
            <a:ext cx="3291840" cy="365760"/>
          </a:xfrm>
          <a:prstGeom prst="rect">
            <a:avLst/>
          </a:prstGeom>
          <a:noFill/>
        </p:spPr>
        <p:txBody>
          <a:bodyPr wrap="square" anchor="t" lIns="0" rIns="0" tIns="0" bIns="0">
            <a:spAutoFit/>
          </a:bodyPr>
          <a:lstStyle/>
          <a:p>
            <a:pPr algn="l">
              <a:lnSpc>
                <a:spcPct val="100000"/>
              </a:lnSpc>
              <a:spcAft>
                <a:spcPts val="400"/>
              </a:spcAft>
            </a:pPr>
            <a:r>
              <a:rPr sz="1250" b="0" i="0">
                <a:solidFill>
                  <a:srgbClr val="1A1418"/>
                </a:solidFill>
                <a:latin typeface="Segoe UI"/>
              </a:rPr>
              <a:t>Deep MLP (neural network)</a:t>
            </a:r>
          </a:p>
        </p:txBody>
      </p:sp>
      <p:sp>
        <p:nvSpPr>
          <p:cNvPr id="26" name="TextBox 25"/>
          <p:cNvSpPr txBox="1"/>
          <p:nvPr/>
        </p:nvSpPr>
        <p:spPr>
          <a:xfrm>
            <a:off x="4160520" y="3749039"/>
            <a:ext cx="105156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70.3%</a:t>
            </a:r>
          </a:p>
        </p:txBody>
      </p:sp>
      <p:sp>
        <p:nvSpPr>
          <p:cNvPr id="27" name="TextBox 26"/>
          <p:cNvSpPr txBox="1"/>
          <p:nvPr/>
        </p:nvSpPr>
        <p:spPr>
          <a:xfrm>
            <a:off x="5257800" y="3749039"/>
            <a:ext cx="100584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0.385</a:t>
            </a:r>
          </a:p>
        </p:txBody>
      </p:sp>
      <p:sp>
        <p:nvSpPr>
          <p:cNvPr id="28" name="TextBox 27"/>
          <p:cNvSpPr txBox="1"/>
          <p:nvPr/>
        </p:nvSpPr>
        <p:spPr>
          <a:xfrm>
            <a:off x="6309360" y="3749039"/>
            <a:ext cx="96012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0.751</a:t>
            </a:r>
          </a:p>
        </p:txBody>
      </p:sp>
      <p:sp>
        <p:nvSpPr>
          <p:cNvPr id="29" name="TextBox 28"/>
          <p:cNvSpPr txBox="1"/>
          <p:nvPr/>
        </p:nvSpPr>
        <p:spPr>
          <a:xfrm>
            <a:off x="822960" y="4279392"/>
            <a:ext cx="3291840" cy="365760"/>
          </a:xfrm>
          <a:prstGeom prst="rect">
            <a:avLst/>
          </a:prstGeom>
          <a:noFill/>
        </p:spPr>
        <p:txBody>
          <a:bodyPr wrap="square" anchor="t" lIns="0" rIns="0" tIns="0" bIns="0">
            <a:spAutoFit/>
          </a:bodyPr>
          <a:lstStyle/>
          <a:p>
            <a:pPr algn="l">
              <a:lnSpc>
                <a:spcPct val="100000"/>
              </a:lnSpc>
              <a:spcAft>
                <a:spcPts val="400"/>
              </a:spcAft>
            </a:pPr>
            <a:r>
              <a:rPr sz="1250" b="0" i="0">
                <a:solidFill>
                  <a:srgbClr val="1A1418"/>
                </a:solidFill>
                <a:latin typeface="Segoe UI"/>
              </a:rPr>
              <a:t>TabTransformer</a:t>
            </a:r>
          </a:p>
        </p:txBody>
      </p:sp>
      <p:sp>
        <p:nvSpPr>
          <p:cNvPr id="30" name="TextBox 29"/>
          <p:cNvSpPr txBox="1"/>
          <p:nvPr/>
        </p:nvSpPr>
        <p:spPr>
          <a:xfrm>
            <a:off x="4160520" y="4279392"/>
            <a:ext cx="105156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64.8%</a:t>
            </a:r>
          </a:p>
        </p:txBody>
      </p:sp>
      <p:sp>
        <p:nvSpPr>
          <p:cNvPr id="31" name="TextBox 30"/>
          <p:cNvSpPr txBox="1"/>
          <p:nvPr/>
        </p:nvSpPr>
        <p:spPr>
          <a:xfrm>
            <a:off x="5257800" y="4279392"/>
            <a:ext cx="100584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0.384</a:t>
            </a:r>
          </a:p>
        </p:txBody>
      </p:sp>
      <p:sp>
        <p:nvSpPr>
          <p:cNvPr id="32" name="TextBox 31"/>
          <p:cNvSpPr txBox="1"/>
          <p:nvPr/>
        </p:nvSpPr>
        <p:spPr>
          <a:xfrm>
            <a:off x="6309360" y="4279392"/>
            <a:ext cx="960120" cy="365760"/>
          </a:xfrm>
          <a:prstGeom prst="rect">
            <a:avLst/>
          </a:prstGeom>
          <a:noFill/>
        </p:spPr>
        <p:txBody>
          <a:bodyPr wrap="square" anchor="t" lIns="0" rIns="0" tIns="0" bIns="0">
            <a:spAutoFit/>
          </a:bodyPr>
          <a:lstStyle/>
          <a:p>
            <a:pPr algn="r">
              <a:lnSpc>
                <a:spcPct val="100000"/>
              </a:lnSpc>
              <a:spcAft>
                <a:spcPts val="400"/>
              </a:spcAft>
            </a:pPr>
            <a:r>
              <a:rPr sz="1250" b="0" i="0">
                <a:solidFill>
                  <a:srgbClr val="1A1418"/>
                </a:solidFill>
                <a:latin typeface="Segoe UI"/>
              </a:rPr>
              <a:t>0.754</a:t>
            </a:r>
          </a:p>
        </p:txBody>
      </p:sp>
      <p:sp>
        <p:nvSpPr>
          <p:cNvPr id="33" name="TextBox 32"/>
          <p:cNvSpPr txBox="1"/>
          <p:nvPr/>
        </p:nvSpPr>
        <p:spPr>
          <a:xfrm>
            <a:off x="822960" y="4791456"/>
            <a:ext cx="6492240" cy="274320"/>
          </a:xfrm>
          <a:prstGeom prst="rect">
            <a:avLst/>
          </a:prstGeom>
          <a:noFill/>
        </p:spPr>
        <p:txBody>
          <a:bodyPr wrap="square" anchor="t" lIns="0" rIns="0" tIns="0" bIns="0">
            <a:spAutoFit/>
          </a:bodyPr>
          <a:lstStyle/>
          <a:p>
            <a:pPr algn="l">
              <a:lnSpc>
                <a:spcPct val="100000"/>
              </a:lnSpc>
              <a:spcAft>
                <a:spcPts val="400"/>
              </a:spcAft>
            </a:pPr>
            <a:r>
              <a:rPr sz="950" b="0" i="0">
                <a:solidFill>
                  <a:srgbClr val="6E5F68"/>
                </a:solidFill>
                <a:latin typeface="Segoe UI"/>
              </a:rPr>
              <a:t>Runner-up strengths: Random Forest has the best macro F1 (0.390); TabTransformer alone finds 34% of Traditional users.</a:t>
            </a:r>
          </a:p>
        </p:txBody>
      </p:sp>
      <p:sp>
        <p:nvSpPr>
          <p:cNvPr id="34" name="Rounded Rectangle 33"/>
          <p:cNvSpPr/>
          <p:nvPr/>
        </p:nvSpPr>
        <p:spPr>
          <a:xfrm>
            <a:off x="7680960" y="1371600"/>
            <a:ext cx="4023360" cy="3749039"/>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0" y="1481328"/>
            <a:ext cx="64008" cy="3529583"/>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82128" y="1517904"/>
            <a:ext cx="3657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WHY LIGHTGBM WON</a:t>
            </a:r>
          </a:p>
        </p:txBody>
      </p:sp>
      <p:sp>
        <p:nvSpPr>
          <p:cNvPr id="37" name="TextBox 36"/>
          <p:cNvSpPr txBox="1"/>
          <p:nvPr/>
        </p:nvSpPr>
        <p:spPr>
          <a:xfrm>
            <a:off x="7882128" y="1810512"/>
            <a:ext cx="3639312" cy="3200399"/>
          </a:xfrm>
          <a:prstGeom prst="rect">
            <a:avLst/>
          </a:prstGeom>
          <a:noFill/>
        </p:spPr>
        <p:txBody>
          <a:bodyPr wrap="square" anchor="t" lIns="0" rIns="0" tIns="0" bIns="0">
            <a:spAutoFit/>
          </a:bodyPr>
          <a:lstStyle/>
          <a:p>
            <a:pPr algn="l">
              <a:lnSpc>
                <a:spcPct val="108000"/>
              </a:lnSpc>
              <a:spcAft>
                <a:spcPts val="400"/>
              </a:spcAft>
            </a:pPr>
            <a:r>
              <a:rPr sz="1200" b="1" i="0">
                <a:solidFill>
                  <a:srgbClr val="1A1418"/>
                </a:solidFill>
                <a:latin typeface="Segoe UI"/>
              </a:rPr>
              <a:t>Best accuracy (72.4%) and the best ability to tell the four groups apart (macro AUC 0.798) </a:t>
            </a:r>
            <a:r>
              <a:rPr sz="1200" b="0" i="0">
                <a:solidFill>
                  <a:srgbClr val="1A1418"/>
                </a:solidFill>
                <a:latin typeface="Segoe UI"/>
              </a:rPr>
              <a:t>— plus practical wins that matter for a Ministry of Health deployment:</a:t>
            </a:r>
          </a:p>
          <a:p>
            <a:pPr algn="l">
              <a:lnSpc>
                <a:spcPct val="108000"/>
              </a:lnSpc>
              <a:spcAft>
                <a:spcPts val="400"/>
              </a:spcAft>
            </a:pPr>
            <a:r>
              <a:rPr sz="1200" b="0" i="0">
                <a:solidFill>
                  <a:srgbClr val="1A1418"/>
                </a:solidFill>
                <a:latin typeface="Segoe UI"/>
              </a:rPr>
              <a:t>· Explains itself — native SHAP support</a:t>
            </a:r>
          </a:p>
          <a:p>
            <a:pPr algn="l">
              <a:lnSpc>
                <a:spcPct val="108000"/>
              </a:lnSpc>
              <a:spcAft>
                <a:spcPts val="400"/>
              </a:spcAft>
            </a:pPr>
            <a:r>
              <a:rPr sz="1200" b="0" i="0">
                <a:solidFill>
                  <a:srgbClr val="1A1418"/>
                </a:solidFill>
                <a:latin typeface="Segoe UI"/>
              </a:rPr>
              <a:t>· Tiny (6 MB) and fast — predictions in under a millisecond</a:t>
            </a:r>
          </a:p>
          <a:p>
            <a:pPr algn="l">
              <a:lnSpc>
                <a:spcPct val="108000"/>
              </a:lnSpc>
              <a:spcAft>
                <a:spcPts val="400"/>
              </a:spcAft>
            </a:pPr>
            <a:r>
              <a:rPr sz="1200" b="0" i="0">
                <a:solidFill>
                  <a:srgbClr val="1A1418"/>
                </a:solidFill>
                <a:latin typeface="Segoe UI"/>
              </a:rPr>
              <a:t>· No special hardware or deep-learning software needed</a:t>
            </a:r>
          </a:p>
        </p:txBody>
      </p:sp>
      <p:sp>
        <p:nvSpPr>
          <p:cNvPr id="38" name="Rounded Rectangle 37"/>
          <p:cNvSpPr/>
          <p:nvPr/>
        </p:nvSpPr>
        <p:spPr>
          <a:xfrm>
            <a:off x="502920" y="5349240"/>
            <a:ext cx="11201400" cy="9144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458968"/>
            <a:ext cx="64008" cy="69494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4088" y="5495544"/>
            <a:ext cx="1083564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THE HONEST TRADE-OFF</a:t>
            </a:r>
          </a:p>
        </p:txBody>
      </p:sp>
      <p:sp>
        <p:nvSpPr>
          <p:cNvPr id="41" name="TextBox 40"/>
          <p:cNvSpPr txBox="1"/>
          <p:nvPr/>
        </p:nvSpPr>
        <p:spPr>
          <a:xfrm>
            <a:off x="704088" y="5788152"/>
            <a:ext cx="10817352" cy="365760"/>
          </a:xfrm>
          <a:prstGeom prst="rect">
            <a:avLst/>
          </a:prstGeom>
          <a:noFill/>
        </p:spPr>
        <p:txBody>
          <a:bodyPr wrap="square" anchor="t" lIns="0" rIns="0" tIns="0" bIns="0">
            <a:spAutoFit/>
          </a:bodyPr>
          <a:lstStyle/>
          <a:p>
            <a:pPr algn="l">
              <a:lnSpc>
                <a:spcPct val="108000"/>
              </a:lnSpc>
              <a:spcAft>
                <a:spcPts val="400"/>
              </a:spcAft>
            </a:pPr>
            <a:r>
              <a:rPr sz="1150" b="0" i="0">
                <a:solidFill>
                  <a:srgbClr val="1A1418"/>
                </a:solidFill>
                <a:latin typeface="Segoe UI"/>
              </a:rPr>
              <a:t>On the two big groups — 96% of all women — the models are strong. On the two rare groups (Traditional, Folkloric) every one of the five architectures hits the same wall. That wall is the data, not the models — and it shaped our recommendations.</a:t>
            </a:r>
          </a:p>
        </p:txBody>
      </p:sp>
      <p:sp>
        <p:nvSpPr>
          <p:cNvPr id="42" name="Rectangle 41"/>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44" name="TextBox 43"/>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16 / 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3 · BUILDING THE MODEL</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Tuning the winner: searching smarter, not harder</a:t>
            </a:r>
          </a:p>
        </p:txBody>
      </p:sp>
      <p:sp>
        <p:nvSpPr>
          <p:cNvPr id="5" name="Rounded Rectangle 4"/>
          <p:cNvSpPr/>
          <p:nvPr/>
        </p:nvSpPr>
        <p:spPr>
          <a:xfrm>
            <a:off x="502920" y="1371600"/>
            <a:ext cx="5486400" cy="27432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493776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1A1418"/>
                </a:solidFill>
                <a:latin typeface="Segoe UI"/>
              </a:rPr>
              <a:t>How the search worked</a:t>
            </a:r>
          </a:p>
        </p:txBody>
      </p:sp>
      <p:sp>
        <p:nvSpPr>
          <p:cNvPr id="7" name="TextBox 6"/>
          <p:cNvSpPr txBox="1"/>
          <p:nvPr/>
        </p:nvSpPr>
        <p:spPr>
          <a:xfrm>
            <a:off x="777240" y="1938528"/>
            <a:ext cx="4983480" cy="2103120"/>
          </a:xfrm>
          <a:prstGeom prst="rect">
            <a:avLst/>
          </a:prstGeom>
          <a:noFill/>
        </p:spPr>
        <p:txBody>
          <a:bodyPr wrap="square" anchor="t" lIns="0" rIns="0" tIns="0" bIns="0">
            <a:spAutoFit/>
          </a:bodyPr>
          <a:lstStyle/>
          <a:p>
            <a:pPr algn="l">
              <a:lnSpc>
                <a:spcPct val="115000"/>
              </a:lnSpc>
              <a:spcAft>
                <a:spcPts val="400"/>
              </a:spcAft>
            </a:pPr>
            <a:r>
              <a:rPr sz="1200" b="0" i="0">
                <a:solidFill>
                  <a:srgbClr val="6E5F68"/>
                </a:solidFill>
                <a:latin typeface="Segoe UI"/>
              </a:rPr>
              <a:t>Instead of trying every combination (nearly two million), Optuna uses Bayesian search — like asking locals for restaurant tips after each meal instead of wandering the city at random.</a:t>
            </a:r>
          </a:p>
          <a:p>
            <a:pPr algn="l">
              <a:lnSpc>
                <a:spcPct val="115000"/>
              </a:lnSpc>
              <a:spcAft>
                <a:spcPts val="400"/>
              </a:spcAft>
            </a:pPr>
            <a:r>
              <a:rPr sz="1200" b="1" i="0">
                <a:solidFill>
                  <a:srgbClr val="6E5F68"/>
                </a:solidFill>
                <a:latin typeface="Segoe UI"/>
              </a:rPr>
              <a:t>30 trials · quick 2-fold checks · a fast 15,000-row subsample — then the winning recipe is retrained on all 59,820 training rows.</a:t>
            </a:r>
          </a:p>
        </p:txBody>
      </p:sp>
      <p:sp>
        <p:nvSpPr>
          <p:cNvPr id="8" name="Rounded Rectangle 7"/>
          <p:cNvSpPr/>
          <p:nvPr/>
        </p:nvSpPr>
        <p:spPr>
          <a:xfrm>
            <a:off x="6217920" y="1371600"/>
            <a:ext cx="5486400" cy="27432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554480"/>
            <a:ext cx="493776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1A1418"/>
                </a:solidFill>
                <a:latin typeface="Segoe UI"/>
              </a:rPr>
              <a:t>The winning recipe</a:t>
            </a:r>
          </a:p>
        </p:txBody>
      </p:sp>
      <p:sp>
        <p:nvSpPr>
          <p:cNvPr id="10" name="Rounded Rectangle 9"/>
          <p:cNvSpPr/>
          <p:nvPr/>
        </p:nvSpPr>
        <p:spPr>
          <a:xfrm>
            <a:off x="6492240" y="2011680"/>
            <a:ext cx="2331720" cy="749808"/>
          </a:xfrm>
          <a:prstGeom prst="roundRect">
            <a:avLst>
              <a:gd name="adj" fmla="val 20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56831" y="2103120"/>
            <a:ext cx="2011680" cy="274320"/>
          </a:xfrm>
          <a:prstGeom prst="rect">
            <a:avLst/>
          </a:prstGeom>
          <a:noFill/>
        </p:spPr>
        <p:txBody>
          <a:bodyPr wrap="square" anchor="t" lIns="0" rIns="0" tIns="0" bIns="0">
            <a:spAutoFit/>
          </a:bodyPr>
          <a:lstStyle/>
          <a:p>
            <a:pPr algn="l">
              <a:lnSpc>
                <a:spcPct val="100000"/>
              </a:lnSpc>
              <a:spcAft>
                <a:spcPts val="400"/>
              </a:spcAft>
            </a:pPr>
            <a:r>
              <a:rPr sz="1000" b="0" i="0">
                <a:solidFill>
                  <a:srgbClr val="6E5F68"/>
                </a:solidFill>
                <a:latin typeface="Segoe UI"/>
              </a:rPr>
              <a:t>Trees</a:t>
            </a:r>
          </a:p>
        </p:txBody>
      </p:sp>
      <p:sp>
        <p:nvSpPr>
          <p:cNvPr id="12" name="TextBox 11"/>
          <p:cNvSpPr txBox="1"/>
          <p:nvPr/>
        </p:nvSpPr>
        <p:spPr>
          <a:xfrm>
            <a:off x="6656831" y="2340864"/>
            <a:ext cx="201168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AD1457"/>
                </a:solidFill>
                <a:latin typeface="Segoe UI"/>
              </a:rPr>
              <a:t>700</a:t>
            </a:r>
          </a:p>
        </p:txBody>
      </p:sp>
      <p:sp>
        <p:nvSpPr>
          <p:cNvPr id="13" name="Rounded Rectangle 12"/>
          <p:cNvSpPr/>
          <p:nvPr/>
        </p:nvSpPr>
        <p:spPr>
          <a:xfrm>
            <a:off x="9006840" y="2011680"/>
            <a:ext cx="2331720" cy="749808"/>
          </a:xfrm>
          <a:prstGeom prst="roundRect">
            <a:avLst>
              <a:gd name="adj" fmla="val 20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71432" y="2103120"/>
            <a:ext cx="2011680" cy="274320"/>
          </a:xfrm>
          <a:prstGeom prst="rect">
            <a:avLst/>
          </a:prstGeom>
          <a:noFill/>
        </p:spPr>
        <p:txBody>
          <a:bodyPr wrap="square" anchor="t" lIns="0" rIns="0" tIns="0" bIns="0">
            <a:spAutoFit/>
          </a:bodyPr>
          <a:lstStyle/>
          <a:p>
            <a:pPr algn="l">
              <a:lnSpc>
                <a:spcPct val="100000"/>
              </a:lnSpc>
              <a:spcAft>
                <a:spcPts val="400"/>
              </a:spcAft>
            </a:pPr>
            <a:r>
              <a:rPr sz="1000" b="0" i="0">
                <a:solidFill>
                  <a:srgbClr val="6E5F68"/>
                </a:solidFill>
                <a:latin typeface="Segoe UI"/>
              </a:rPr>
              <a:t>Learning rate</a:t>
            </a:r>
          </a:p>
        </p:txBody>
      </p:sp>
      <p:sp>
        <p:nvSpPr>
          <p:cNvPr id="15" name="TextBox 14"/>
          <p:cNvSpPr txBox="1"/>
          <p:nvPr/>
        </p:nvSpPr>
        <p:spPr>
          <a:xfrm>
            <a:off x="9171432" y="2340864"/>
            <a:ext cx="201168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AD1457"/>
                </a:solidFill>
                <a:latin typeface="Segoe UI"/>
              </a:rPr>
              <a:t>0.011</a:t>
            </a:r>
          </a:p>
        </p:txBody>
      </p:sp>
      <p:sp>
        <p:nvSpPr>
          <p:cNvPr id="16" name="Rounded Rectangle 15"/>
          <p:cNvSpPr/>
          <p:nvPr/>
        </p:nvSpPr>
        <p:spPr>
          <a:xfrm>
            <a:off x="6492240" y="2926080"/>
            <a:ext cx="2331720" cy="749808"/>
          </a:xfrm>
          <a:prstGeom prst="roundRect">
            <a:avLst>
              <a:gd name="adj" fmla="val 20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56831" y="3017520"/>
            <a:ext cx="2011680" cy="274320"/>
          </a:xfrm>
          <a:prstGeom prst="rect">
            <a:avLst/>
          </a:prstGeom>
          <a:noFill/>
        </p:spPr>
        <p:txBody>
          <a:bodyPr wrap="square" anchor="t" lIns="0" rIns="0" tIns="0" bIns="0">
            <a:spAutoFit/>
          </a:bodyPr>
          <a:lstStyle/>
          <a:p>
            <a:pPr algn="l">
              <a:lnSpc>
                <a:spcPct val="100000"/>
              </a:lnSpc>
              <a:spcAft>
                <a:spcPts val="400"/>
              </a:spcAft>
            </a:pPr>
            <a:r>
              <a:rPr sz="1000" b="0" i="0">
                <a:solidFill>
                  <a:srgbClr val="6E5F68"/>
                </a:solidFill>
                <a:latin typeface="Segoe UI"/>
              </a:rPr>
              <a:t>Max depth</a:t>
            </a:r>
          </a:p>
        </p:txBody>
      </p:sp>
      <p:sp>
        <p:nvSpPr>
          <p:cNvPr id="18" name="TextBox 17"/>
          <p:cNvSpPr txBox="1"/>
          <p:nvPr/>
        </p:nvSpPr>
        <p:spPr>
          <a:xfrm>
            <a:off x="6656831" y="3255264"/>
            <a:ext cx="201168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AD1457"/>
                </a:solidFill>
                <a:latin typeface="Segoe UI"/>
              </a:rPr>
              <a:t>10</a:t>
            </a:r>
          </a:p>
        </p:txBody>
      </p:sp>
      <p:sp>
        <p:nvSpPr>
          <p:cNvPr id="19" name="Rounded Rectangle 18"/>
          <p:cNvSpPr/>
          <p:nvPr/>
        </p:nvSpPr>
        <p:spPr>
          <a:xfrm>
            <a:off x="9006840" y="2926080"/>
            <a:ext cx="2331720" cy="749808"/>
          </a:xfrm>
          <a:prstGeom prst="roundRect">
            <a:avLst>
              <a:gd name="adj" fmla="val 20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71432" y="3017520"/>
            <a:ext cx="2011680" cy="274320"/>
          </a:xfrm>
          <a:prstGeom prst="rect">
            <a:avLst/>
          </a:prstGeom>
          <a:noFill/>
        </p:spPr>
        <p:txBody>
          <a:bodyPr wrap="square" anchor="t" lIns="0" rIns="0" tIns="0" bIns="0">
            <a:spAutoFit/>
          </a:bodyPr>
          <a:lstStyle/>
          <a:p>
            <a:pPr algn="l">
              <a:lnSpc>
                <a:spcPct val="100000"/>
              </a:lnSpc>
              <a:spcAft>
                <a:spcPts val="400"/>
              </a:spcAft>
            </a:pPr>
            <a:r>
              <a:rPr sz="1000" b="0" i="0">
                <a:solidFill>
                  <a:srgbClr val="6E5F68"/>
                </a:solidFill>
                <a:latin typeface="Segoe UI"/>
              </a:rPr>
              <a:t>Leaves per tree</a:t>
            </a:r>
          </a:p>
        </p:txBody>
      </p:sp>
      <p:sp>
        <p:nvSpPr>
          <p:cNvPr id="21" name="TextBox 20"/>
          <p:cNvSpPr txBox="1"/>
          <p:nvPr/>
        </p:nvSpPr>
        <p:spPr>
          <a:xfrm>
            <a:off x="9171432" y="3255264"/>
            <a:ext cx="2011680" cy="365760"/>
          </a:xfrm>
          <a:prstGeom prst="rect">
            <a:avLst/>
          </a:prstGeom>
          <a:noFill/>
        </p:spPr>
        <p:txBody>
          <a:bodyPr wrap="square" anchor="t" lIns="0" rIns="0" tIns="0" bIns="0">
            <a:spAutoFit/>
          </a:bodyPr>
          <a:lstStyle/>
          <a:p>
            <a:pPr algn="l">
              <a:lnSpc>
                <a:spcPct val="100000"/>
              </a:lnSpc>
              <a:spcAft>
                <a:spcPts val="400"/>
              </a:spcAft>
            </a:pPr>
            <a:r>
              <a:rPr sz="1600" b="1" i="0">
                <a:solidFill>
                  <a:srgbClr val="AD1457"/>
                </a:solidFill>
                <a:latin typeface="Segoe UI"/>
              </a:rPr>
              <a:t>70</a:t>
            </a:r>
          </a:p>
        </p:txBody>
      </p:sp>
      <p:sp>
        <p:nvSpPr>
          <p:cNvPr id="22" name="Rounded Rectangle 21"/>
          <p:cNvSpPr/>
          <p:nvPr/>
        </p:nvSpPr>
        <p:spPr>
          <a:xfrm>
            <a:off x="502920" y="4343400"/>
            <a:ext cx="11201400" cy="1874519"/>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526280"/>
            <a:ext cx="10607040" cy="320040"/>
          </a:xfrm>
          <a:prstGeom prst="rect">
            <a:avLst/>
          </a:prstGeom>
          <a:noFill/>
        </p:spPr>
        <p:txBody>
          <a:bodyPr wrap="square" anchor="t" lIns="0" rIns="0" tIns="0" bIns="0">
            <a:spAutoFit/>
          </a:bodyPr>
          <a:lstStyle/>
          <a:p>
            <a:pPr algn="l">
              <a:lnSpc>
                <a:spcPct val="100000"/>
              </a:lnSpc>
              <a:spcAft>
                <a:spcPts val="400"/>
              </a:spcAft>
            </a:pPr>
            <a:r>
              <a:rPr sz="1350" b="1" i="0">
                <a:solidFill>
                  <a:srgbClr val="1A1418"/>
                </a:solidFill>
                <a:latin typeface="Segoe UI"/>
              </a:rPr>
              <a:t>The payoff — before vs after tuning (held-out test set)</a:t>
            </a:r>
          </a:p>
        </p:txBody>
      </p:sp>
      <p:sp>
        <p:nvSpPr>
          <p:cNvPr id="24" name="Rounded Rectangle 23"/>
          <p:cNvSpPr/>
          <p:nvPr/>
        </p:nvSpPr>
        <p:spPr>
          <a:xfrm>
            <a:off x="777240" y="4937760"/>
            <a:ext cx="3429000" cy="1051560"/>
          </a:xfrm>
          <a:prstGeom prst="roundRect">
            <a:avLst>
              <a:gd name="adj" fmla="val 15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047488"/>
            <a:ext cx="310896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6E5F68"/>
                </a:solidFill>
                <a:latin typeface="Segoe UI"/>
              </a:rPr>
              <a:t>ACCURACY</a:t>
            </a:r>
          </a:p>
        </p:txBody>
      </p:sp>
      <p:sp>
        <p:nvSpPr>
          <p:cNvPr id="26" name="TextBox 25"/>
          <p:cNvSpPr txBox="1"/>
          <p:nvPr/>
        </p:nvSpPr>
        <p:spPr>
          <a:xfrm>
            <a:off x="960120" y="5340096"/>
            <a:ext cx="3108960" cy="457200"/>
          </a:xfrm>
          <a:prstGeom prst="rect">
            <a:avLst/>
          </a:prstGeom>
          <a:noFill/>
        </p:spPr>
        <p:txBody>
          <a:bodyPr wrap="square" anchor="t" lIns="0" rIns="0" tIns="0" bIns="0">
            <a:spAutoFit/>
          </a:bodyPr>
          <a:lstStyle/>
          <a:p>
            <a:pPr algn="l">
              <a:lnSpc>
                <a:spcPct val="100000"/>
              </a:lnSpc>
              <a:spcAft>
                <a:spcPts val="400"/>
              </a:spcAft>
            </a:pPr>
            <a:r>
              <a:rPr sz="1500" b="0" i="0">
                <a:solidFill>
                  <a:srgbClr val="6E5F68"/>
                </a:solidFill>
                <a:latin typeface="Segoe UI"/>
              </a:rPr>
              <a:t>72.4%</a:t>
            </a:r>
            <a:r>
              <a:rPr sz="1500" b="1" i="0">
                <a:solidFill>
                  <a:srgbClr val="FF5CA8"/>
                </a:solidFill>
                <a:latin typeface="Segoe UI"/>
              </a:rPr>
              <a:t>  →  </a:t>
            </a:r>
            <a:r>
              <a:rPr sz="1900" b="1" i="0">
                <a:solidFill>
                  <a:srgbClr val="AD1457"/>
                </a:solidFill>
                <a:latin typeface="Segoe UI"/>
              </a:rPr>
              <a:t>95.9%</a:t>
            </a:r>
          </a:p>
        </p:txBody>
      </p:sp>
      <p:sp>
        <p:nvSpPr>
          <p:cNvPr id="27" name="Rounded Rectangle 26"/>
          <p:cNvSpPr/>
          <p:nvPr/>
        </p:nvSpPr>
        <p:spPr>
          <a:xfrm>
            <a:off x="3154680" y="5047488"/>
            <a:ext cx="914400" cy="29260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54680" y="5093208"/>
            <a:ext cx="914400" cy="228600"/>
          </a:xfrm>
          <a:prstGeom prst="rect">
            <a:avLst/>
          </a:prstGeom>
          <a:noFill/>
        </p:spPr>
        <p:txBody>
          <a:bodyPr wrap="square" anchor="t" lIns="0" rIns="0" tIns="0" bIns="0">
            <a:spAutoFit/>
          </a:bodyPr>
          <a:lstStyle/>
          <a:p>
            <a:pPr algn="ctr">
              <a:lnSpc>
                <a:spcPct val="100000"/>
              </a:lnSpc>
              <a:spcAft>
                <a:spcPts val="400"/>
              </a:spcAft>
            </a:pPr>
            <a:r>
              <a:rPr sz="950" b="1" i="0">
                <a:solidFill>
                  <a:srgbClr val="FFFFFF"/>
                </a:solidFill>
                <a:latin typeface="Segoe UI"/>
              </a:rPr>
              <a:t>+23.5 pp</a:t>
            </a:r>
          </a:p>
        </p:txBody>
      </p:sp>
      <p:sp>
        <p:nvSpPr>
          <p:cNvPr id="29" name="Rounded Rectangle 28"/>
          <p:cNvSpPr/>
          <p:nvPr/>
        </p:nvSpPr>
        <p:spPr>
          <a:xfrm>
            <a:off x="4480559" y="4937760"/>
            <a:ext cx="3429000" cy="1051560"/>
          </a:xfrm>
          <a:prstGeom prst="roundRect">
            <a:avLst>
              <a:gd name="adj" fmla="val 15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3440" y="5047488"/>
            <a:ext cx="310896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6E5F68"/>
                </a:solidFill>
                <a:latin typeface="Segoe UI"/>
              </a:rPr>
              <a:t>MACRO F1</a:t>
            </a:r>
          </a:p>
        </p:txBody>
      </p:sp>
      <p:sp>
        <p:nvSpPr>
          <p:cNvPr id="31" name="TextBox 30"/>
          <p:cNvSpPr txBox="1"/>
          <p:nvPr/>
        </p:nvSpPr>
        <p:spPr>
          <a:xfrm>
            <a:off x="4663440" y="5340096"/>
            <a:ext cx="3108960" cy="457200"/>
          </a:xfrm>
          <a:prstGeom prst="rect">
            <a:avLst/>
          </a:prstGeom>
          <a:noFill/>
        </p:spPr>
        <p:txBody>
          <a:bodyPr wrap="square" anchor="t" lIns="0" rIns="0" tIns="0" bIns="0">
            <a:spAutoFit/>
          </a:bodyPr>
          <a:lstStyle/>
          <a:p>
            <a:pPr algn="l">
              <a:lnSpc>
                <a:spcPct val="100000"/>
              </a:lnSpc>
              <a:spcAft>
                <a:spcPts val="400"/>
              </a:spcAft>
            </a:pPr>
            <a:r>
              <a:rPr sz="1500" b="0" i="0">
                <a:solidFill>
                  <a:srgbClr val="6E5F68"/>
                </a:solidFill>
                <a:latin typeface="Segoe UI"/>
              </a:rPr>
              <a:t>0.367</a:t>
            </a:r>
            <a:r>
              <a:rPr sz="1500" b="1" i="0">
                <a:solidFill>
                  <a:srgbClr val="FF5CA8"/>
                </a:solidFill>
                <a:latin typeface="Segoe UI"/>
              </a:rPr>
              <a:t>  →  </a:t>
            </a:r>
            <a:r>
              <a:rPr sz="1900" b="1" i="0">
                <a:solidFill>
                  <a:srgbClr val="AD1457"/>
                </a:solidFill>
                <a:latin typeface="Segoe UI"/>
              </a:rPr>
              <a:t>0.510</a:t>
            </a:r>
          </a:p>
        </p:txBody>
      </p:sp>
      <p:sp>
        <p:nvSpPr>
          <p:cNvPr id="32" name="Rounded Rectangle 31"/>
          <p:cNvSpPr/>
          <p:nvPr/>
        </p:nvSpPr>
        <p:spPr>
          <a:xfrm>
            <a:off x="6858000" y="5047488"/>
            <a:ext cx="914400" cy="29260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0" y="5093208"/>
            <a:ext cx="914400" cy="228600"/>
          </a:xfrm>
          <a:prstGeom prst="rect">
            <a:avLst/>
          </a:prstGeom>
          <a:noFill/>
        </p:spPr>
        <p:txBody>
          <a:bodyPr wrap="square" anchor="t" lIns="0" rIns="0" tIns="0" bIns="0">
            <a:spAutoFit/>
          </a:bodyPr>
          <a:lstStyle/>
          <a:p>
            <a:pPr algn="ctr">
              <a:lnSpc>
                <a:spcPct val="100000"/>
              </a:lnSpc>
              <a:spcAft>
                <a:spcPts val="400"/>
              </a:spcAft>
            </a:pPr>
            <a:r>
              <a:rPr sz="950" b="1" i="0">
                <a:solidFill>
                  <a:srgbClr val="FFFFFF"/>
                </a:solidFill>
                <a:latin typeface="Segoe UI"/>
              </a:rPr>
              <a:t>+0.143</a:t>
            </a:r>
          </a:p>
        </p:txBody>
      </p:sp>
      <p:sp>
        <p:nvSpPr>
          <p:cNvPr id="34" name="Rounded Rectangle 33"/>
          <p:cNvSpPr/>
          <p:nvPr/>
        </p:nvSpPr>
        <p:spPr>
          <a:xfrm>
            <a:off x="8183879" y="4937760"/>
            <a:ext cx="3429000" cy="1051560"/>
          </a:xfrm>
          <a:prstGeom prst="roundRect">
            <a:avLst>
              <a:gd name="adj" fmla="val 15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66759" y="5047488"/>
            <a:ext cx="3108960" cy="274320"/>
          </a:xfrm>
          <a:prstGeom prst="rect">
            <a:avLst/>
          </a:prstGeom>
          <a:noFill/>
        </p:spPr>
        <p:txBody>
          <a:bodyPr wrap="square" anchor="t" lIns="0" rIns="0" tIns="0" bIns="0">
            <a:spAutoFit/>
          </a:bodyPr>
          <a:lstStyle/>
          <a:p>
            <a:pPr algn="l">
              <a:lnSpc>
                <a:spcPct val="100000"/>
              </a:lnSpc>
              <a:spcAft>
                <a:spcPts val="400"/>
              </a:spcAft>
            </a:pPr>
            <a:r>
              <a:rPr sz="950" b="1" i="0">
                <a:solidFill>
                  <a:srgbClr val="6E5F68"/>
                </a:solidFill>
                <a:latin typeface="Segoe UI"/>
              </a:rPr>
              <a:t>MACRO AUC</a:t>
            </a:r>
          </a:p>
        </p:txBody>
      </p:sp>
      <p:sp>
        <p:nvSpPr>
          <p:cNvPr id="36" name="TextBox 35"/>
          <p:cNvSpPr txBox="1"/>
          <p:nvPr/>
        </p:nvSpPr>
        <p:spPr>
          <a:xfrm>
            <a:off x="8366759" y="5340096"/>
            <a:ext cx="3108960" cy="457200"/>
          </a:xfrm>
          <a:prstGeom prst="rect">
            <a:avLst/>
          </a:prstGeom>
          <a:noFill/>
        </p:spPr>
        <p:txBody>
          <a:bodyPr wrap="square" anchor="t" lIns="0" rIns="0" tIns="0" bIns="0">
            <a:spAutoFit/>
          </a:bodyPr>
          <a:lstStyle/>
          <a:p>
            <a:pPr algn="l">
              <a:lnSpc>
                <a:spcPct val="100000"/>
              </a:lnSpc>
              <a:spcAft>
                <a:spcPts val="400"/>
              </a:spcAft>
            </a:pPr>
            <a:r>
              <a:rPr sz="1500" b="0" i="0">
                <a:solidFill>
                  <a:srgbClr val="6E5F68"/>
                </a:solidFill>
                <a:latin typeface="Segoe UI"/>
              </a:rPr>
              <a:t>0.798</a:t>
            </a:r>
            <a:r>
              <a:rPr sz="1500" b="1" i="0">
                <a:solidFill>
                  <a:srgbClr val="FF5CA8"/>
                </a:solidFill>
                <a:latin typeface="Segoe UI"/>
              </a:rPr>
              <a:t>  →  </a:t>
            </a:r>
            <a:r>
              <a:rPr sz="1900" b="1" i="0">
                <a:solidFill>
                  <a:srgbClr val="AD1457"/>
                </a:solidFill>
                <a:latin typeface="Segoe UI"/>
              </a:rPr>
              <a:t>0.951</a:t>
            </a:r>
          </a:p>
        </p:txBody>
      </p:sp>
      <p:sp>
        <p:nvSpPr>
          <p:cNvPr id="37" name="Rounded Rectangle 36"/>
          <p:cNvSpPr/>
          <p:nvPr/>
        </p:nvSpPr>
        <p:spPr>
          <a:xfrm>
            <a:off x="10561319" y="5047488"/>
            <a:ext cx="914400" cy="292608"/>
          </a:xfrm>
          <a:prstGeom prst="roundRect">
            <a:avLst>
              <a:gd name="adj" fmla="val 50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61319" y="5093208"/>
            <a:ext cx="914400" cy="228600"/>
          </a:xfrm>
          <a:prstGeom prst="rect">
            <a:avLst/>
          </a:prstGeom>
          <a:noFill/>
        </p:spPr>
        <p:txBody>
          <a:bodyPr wrap="square" anchor="t" lIns="0" rIns="0" tIns="0" bIns="0">
            <a:spAutoFit/>
          </a:bodyPr>
          <a:lstStyle/>
          <a:p>
            <a:pPr algn="ctr">
              <a:lnSpc>
                <a:spcPct val="100000"/>
              </a:lnSpc>
              <a:spcAft>
                <a:spcPts val="400"/>
              </a:spcAft>
            </a:pPr>
            <a:r>
              <a:rPr sz="950" b="1" i="0">
                <a:solidFill>
                  <a:srgbClr val="FFFFFF"/>
                </a:solidFill>
                <a:latin typeface="Segoe UI"/>
              </a:rPr>
              <a:t>+0.153</a:t>
            </a:r>
          </a:p>
        </p:txBody>
      </p:sp>
      <p:sp>
        <p:nvSpPr>
          <p:cNvPr id="39" name="Rectangle 38"/>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41" name="TextBox 40"/>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17 / 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3 · BUILDING THE MODEL</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The final tuned model, up close</a:t>
            </a:r>
          </a:p>
        </p:txBody>
      </p:sp>
      <p:sp>
        <p:nvSpPr>
          <p:cNvPr id="5" name="Rounded Rectangle 4"/>
          <p:cNvSpPr/>
          <p:nvPr/>
        </p:nvSpPr>
        <p:spPr>
          <a:xfrm>
            <a:off x="502920" y="1371600"/>
            <a:ext cx="6035040" cy="35661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554480"/>
            <a:ext cx="5486400" cy="320040"/>
          </a:xfrm>
          <a:prstGeom prst="rect">
            <a:avLst/>
          </a:prstGeom>
          <a:noFill/>
        </p:spPr>
        <p:txBody>
          <a:bodyPr wrap="square" anchor="t" lIns="0" rIns="0" tIns="0" bIns="0">
            <a:spAutoFit/>
          </a:bodyPr>
          <a:lstStyle/>
          <a:p>
            <a:pPr algn="l">
              <a:lnSpc>
                <a:spcPct val="100000"/>
              </a:lnSpc>
              <a:spcAft>
                <a:spcPts val="400"/>
              </a:spcAft>
            </a:pPr>
            <a:r>
              <a:rPr sz="1300" b="1" i="0">
                <a:solidFill>
                  <a:srgbClr val="1A1418"/>
                </a:solidFill>
                <a:latin typeface="Segoe UI"/>
              </a:rPr>
              <a:t>How often it finds each group (recall, test set)</a:t>
            </a:r>
          </a:p>
        </p:txBody>
      </p:sp>
      <p:sp>
        <p:nvSpPr>
          <p:cNvPr id="7" name="TextBox 6"/>
          <p:cNvSpPr txBox="1"/>
          <p:nvPr/>
        </p:nvSpPr>
        <p:spPr>
          <a:xfrm>
            <a:off x="777240" y="2057400"/>
            <a:ext cx="15544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1A1418"/>
                </a:solidFill>
                <a:latin typeface="Segoe UI"/>
              </a:rPr>
              <a:t>Modern</a:t>
            </a:r>
          </a:p>
        </p:txBody>
      </p:sp>
      <p:sp>
        <p:nvSpPr>
          <p:cNvPr id="8" name="Rounded Rectangle 7"/>
          <p:cNvSpPr/>
          <p:nvPr/>
        </p:nvSpPr>
        <p:spPr>
          <a:xfrm>
            <a:off x="2377440" y="2075688"/>
            <a:ext cx="3291840" cy="274320"/>
          </a:xfrm>
          <a:prstGeom prst="roundRect">
            <a:avLst>
              <a:gd name="adj" fmla="val 50000"/>
            </a:avLst>
          </a:prstGeom>
          <a:solidFill>
            <a:srgbClr val="F3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77440" y="2075688"/>
            <a:ext cx="3291840" cy="274320"/>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2057400"/>
            <a:ext cx="64008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100%</a:t>
            </a:r>
          </a:p>
        </p:txBody>
      </p:sp>
      <p:sp>
        <p:nvSpPr>
          <p:cNvPr id="11" name="TextBox 10"/>
          <p:cNvSpPr txBox="1"/>
          <p:nvPr/>
        </p:nvSpPr>
        <p:spPr>
          <a:xfrm>
            <a:off x="777240" y="2715768"/>
            <a:ext cx="15544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1A1418"/>
                </a:solidFill>
                <a:latin typeface="Segoe UI"/>
              </a:rPr>
              <a:t>No method</a:t>
            </a:r>
          </a:p>
        </p:txBody>
      </p:sp>
      <p:sp>
        <p:nvSpPr>
          <p:cNvPr id="12" name="Rounded Rectangle 11"/>
          <p:cNvSpPr/>
          <p:nvPr/>
        </p:nvSpPr>
        <p:spPr>
          <a:xfrm>
            <a:off x="2377440" y="2734056"/>
            <a:ext cx="3291840" cy="274320"/>
          </a:xfrm>
          <a:prstGeom prst="roundRect">
            <a:avLst>
              <a:gd name="adj" fmla="val 50000"/>
            </a:avLst>
          </a:prstGeom>
          <a:solidFill>
            <a:srgbClr val="F3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377440" y="2734056"/>
            <a:ext cx="3258921" cy="274320"/>
          </a:xfrm>
          <a:prstGeom prst="roundRect">
            <a:avLst>
              <a:gd name="adj" fmla="val 50000"/>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20" y="2715768"/>
            <a:ext cx="64008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99%</a:t>
            </a:r>
          </a:p>
        </p:txBody>
      </p:sp>
      <p:sp>
        <p:nvSpPr>
          <p:cNvPr id="15" name="TextBox 14"/>
          <p:cNvSpPr txBox="1"/>
          <p:nvPr/>
        </p:nvSpPr>
        <p:spPr>
          <a:xfrm>
            <a:off x="777240" y="3374136"/>
            <a:ext cx="15544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1A1418"/>
                </a:solidFill>
                <a:latin typeface="Segoe UI"/>
              </a:rPr>
              <a:t>Traditional</a:t>
            </a:r>
          </a:p>
        </p:txBody>
      </p:sp>
      <p:sp>
        <p:nvSpPr>
          <p:cNvPr id="16" name="Rounded Rectangle 15"/>
          <p:cNvSpPr/>
          <p:nvPr/>
        </p:nvSpPr>
        <p:spPr>
          <a:xfrm>
            <a:off x="2377440" y="3392424"/>
            <a:ext cx="3291840" cy="274320"/>
          </a:xfrm>
          <a:prstGeom prst="roundRect">
            <a:avLst>
              <a:gd name="adj" fmla="val 50000"/>
            </a:avLst>
          </a:prstGeom>
          <a:solidFill>
            <a:srgbClr val="F3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377440" y="3392424"/>
            <a:ext cx="131673" cy="274320"/>
          </a:xfrm>
          <a:prstGeom prst="roundRect">
            <a:avLst>
              <a:gd name="adj" fmla="val 50000"/>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720" y="3374136"/>
            <a:ext cx="64008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4%</a:t>
            </a:r>
          </a:p>
        </p:txBody>
      </p:sp>
      <p:sp>
        <p:nvSpPr>
          <p:cNvPr id="19" name="TextBox 18"/>
          <p:cNvSpPr txBox="1"/>
          <p:nvPr/>
        </p:nvSpPr>
        <p:spPr>
          <a:xfrm>
            <a:off x="777240" y="4032504"/>
            <a:ext cx="155448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1A1418"/>
                </a:solidFill>
                <a:latin typeface="Segoe UI"/>
              </a:rPr>
              <a:t>Folkloric</a:t>
            </a:r>
          </a:p>
        </p:txBody>
      </p:sp>
      <p:sp>
        <p:nvSpPr>
          <p:cNvPr id="20" name="Rounded Rectangle 19"/>
          <p:cNvSpPr/>
          <p:nvPr/>
        </p:nvSpPr>
        <p:spPr>
          <a:xfrm>
            <a:off x="2377440" y="4050791"/>
            <a:ext cx="3291840" cy="274320"/>
          </a:xfrm>
          <a:prstGeom prst="roundRect">
            <a:avLst>
              <a:gd name="adj" fmla="val 50000"/>
            </a:avLst>
          </a:prstGeom>
          <a:solidFill>
            <a:srgbClr val="F3E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0" y="4032504"/>
            <a:ext cx="64008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1A1418"/>
                </a:solidFill>
                <a:latin typeface="Segoe UI"/>
              </a:rPr>
              <a:t>0%</a:t>
            </a:r>
          </a:p>
        </p:txBody>
      </p:sp>
      <p:sp>
        <p:nvSpPr>
          <p:cNvPr id="22" name="TextBox 21"/>
          <p:cNvSpPr txBox="1"/>
          <p:nvPr/>
        </p:nvSpPr>
        <p:spPr>
          <a:xfrm>
            <a:off x="777240" y="4709160"/>
            <a:ext cx="5486400" cy="320040"/>
          </a:xfrm>
          <a:prstGeom prst="rect">
            <a:avLst/>
          </a:prstGeom>
          <a:noFill/>
        </p:spPr>
        <p:txBody>
          <a:bodyPr wrap="square" anchor="t" lIns="0" rIns="0" tIns="0" bIns="0">
            <a:spAutoFit/>
          </a:bodyPr>
          <a:lstStyle/>
          <a:p>
            <a:pPr algn="l">
              <a:lnSpc>
                <a:spcPct val="100000"/>
              </a:lnSpc>
              <a:spcAft>
                <a:spcPts val="400"/>
              </a:spcAft>
            </a:pPr>
            <a:r>
              <a:rPr sz="1050" b="0" i="0">
                <a:solidFill>
                  <a:srgbClr val="6E5F68"/>
                </a:solidFill>
                <a:latin typeface="Segoe UI"/>
              </a:rPr>
              <a:t>Strong on the 96% of women in the two main groups; honest about the rest.</a:t>
            </a:r>
          </a:p>
        </p:txBody>
      </p:sp>
      <p:sp>
        <p:nvSpPr>
          <p:cNvPr id="23" name="Rounded Rectangle 22"/>
          <p:cNvSpPr/>
          <p:nvPr/>
        </p:nvSpPr>
        <p:spPr>
          <a:xfrm>
            <a:off x="6766560" y="1371600"/>
            <a:ext cx="4937760" cy="16916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66560" y="1481328"/>
            <a:ext cx="64008" cy="147218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67728" y="1517904"/>
            <a:ext cx="45720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THE HEADLINE SCORES</a:t>
            </a:r>
          </a:p>
        </p:txBody>
      </p:sp>
      <p:sp>
        <p:nvSpPr>
          <p:cNvPr id="26" name="TextBox 25"/>
          <p:cNvSpPr txBox="1"/>
          <p:nvPr/>
        </p:nvSpPr>
        <p:spPr>
          <a:xfrm>
            <a:off x="6967728" y="1810512"/>
            <a:ext cx="4553712" cy="1143000"/>
          </a:xfrm>
          <a:prstGeom prst="rect">
            <a:avLst/>
          </a:prstGeom>
          <a:noFill/>
        </p:spPr>
        <p:txBody>
          <a:bodyPr wrap="square" anchor="t" lIns="0" rIns="0" tIns="0" bIns="0">
            <a:spAutoFit/>
          </a:bodyPr>
          <a:lstStyle/>
          <a:p>
            <a:pPr algn="l">
              <a:lnSpc>
                <a:spcPct val="108000"/>
              </a:lnSpc>
              <a:spcAft>
                <a:spcPts val="400"/>
              </a:spcAft>
            </a:pPr>
            <a:r>
              <a:rPr sz="1150" b="1" i="0">
                <a:solidFill>
                  <a:srgbClr val="1A1418"/>
                </a:solidFill>
                <a:latin typeface="Segoe UI"/>
              </a:rPr>
              <a:t>95.9% accuracy · 0.951 macro AUC · 0.510 macro F1 </a:t>
            </a:r>
            <a:r>
              <a:rPr sz="1150" b="0" i="0">
                <a:solidFill>
                  <a:srgbClr val="1A1418"/>
                </a:solidFill>
                <a:latin typeface="Segoe UI"/>
              </a:rPr>
              <a:t>on 6,432 women the model never saw during training — the tuned configuration (700 trees, learning rate 0.011) carried into the deployed pipeline.</a:t>
            </a:r>
          </a:p>
        </p:txBody>
      </p:sp>
      <p:sp>
        <p:nvSpPr>
          <p:cNvPr id="27" name="Rounded Rectangle 26"/>
          <p:cNvSpPr/>
          <p:nvPr/>
        </p:nvSpPr>
        <p:spPr>
          <a:xfrm>
            <a:off x="6766560" y="3246120"/>
            <a:ext cx="4937760" cy="16916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766560" y="3355848"/>
            <a:ext cx="64008" cy="1472184"/>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67728" y="3392424"/>
            <a:ext cx="45720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261E24"/>
                </a:solidFill>
                <a:latin typeface="Segoe UI"/>
              </a:rPr>
              <a:t>USE IT AS A RISK FLAG</a:t>
            </a:r>
          </a:p>
        </p:txBody>
      </p:sp>
      <p:sp>
        <p:nvSpPr>
          <p:cNvPr id="30" name="TextBox 29"/>
          <p:cNvSpPr txBox="1"/>
          <p:nvPr/>
        </p:nvSpPr>
        <p:spPr>
          <a:xfrm>
            <a:off x="6967728" y="3685031"/>
            <a:ext cx="4553712" cy="1143000"/>
          </a:xfrm>
          <a:prstGeom prst="rect">
            <a:avLst/>
          </a:prstGeom>
          <a:noFill/>
        </p:spPr>
        <p:txBody>
          <a:bodyPr wrap="square" anchor="t" lIns="0" rIns="0" tIns="0" bIns="0">
            <a:spAutoFit/>
          </a:bodyPr>
          <a:lstStyle/>
          <a:p>
            <a:pPr algn="l">
              <a:lnSpc>
                <a:spcPct val="108000"/>
              </a:lnSpc>
              <a:spcAft>
                <a:spcPts val="400"/>
              </a:spcAft>
            </a:pPr>
            <a:r>
              <a:rPr sz="1150" b="1" i="0">
                <a:solidFill>
                  <a:srgbClr val="1A1418"/>
                </a:solidFill>
                <a:latin typeface="Segoe UI"/>
              </a:rPr>
              <a:t>Stakeholders should read its output as a two-way flag — “likely non-user” vs “likely modern user”. </a:t>
            </a:r>
            <a:r>
              <a:rPr sz="1150" b="0" i="0">
                <a:solidFill>
                  <a:srgbClr val="1A1418"/>
                </a:solidFill>
                <a:latin typeface="Segoe UI"/>
              </a:rPr>
              <a:t>Pretending four-class precision would create false confidence exactly where the data is weakest.</a:t>
            </a:r>
          </a:p>
        </p:txBody>
      </p:sp>
      <p:sp>
        <p:nvSpPr>
          <p:cNvPr id="31" name="Rectangle 30"/>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33" name="TextBox 32"/>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18 / 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920240"/>
            <a:ext cx="7315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FF5CA8"/>
                </a:solidFill>
                <a:latin typeface="Segoe UI"/>
              </a:rPr>
              <a:t>PART 4 OF 5</a:t>
            </a:r>
          </a:p>
        </p:txBody>
      </p:sp>
      <p:sp>
        <p:nvSpPr>
          <p:cNvPr id="4" name="TextBox 3"/>
          <p:cNvSpPr txBox="1"/>
          <p:nvPr/>
        </p:nvSpPr>
        <p:spPr>
          <a:xfrm>
            <a:off x="822960" y="2331720"/>
            <a:ext cx="8412480" cy="1005840"/>
          </a:xfrm>
          <a:prstGeom prst="rect">
            <a:avLst/>
          </a:prstGeom>
          <a:noFill/>
        </p:spPr>
        <p:txBody>
          <a:bodyPr wrap="square" anchor="t" lIns="0" rIns="0" tIns="0" bIns="0">
            <a:spAutoFit/>
          </a:bodyPr>
          <a:lstStyle/>
          <a:p>
            <a:pPr algn="l">
              <a:lnSpc>
                <a:spcPct val="100000"/>
              </a:lnSpc>
              <a:spcAft>
                <a:spcPts val="400"/>
              </a:spcAft>
            </a:pPr>
            <a:r>
              <a:rPr sz="3800" b="1" i="0">
                <a:solidFill>
                  <a:srgbClr val="FFFFFF"/>
                </a:solidFill>
                <a:latin typeface="Segoe UI"/>
              </a:rPr>
              <a:t>Why the Model Decides</a:t>
            </a:r>
          </a:p>
        </p:txBody>
      </p:sp>
      <p:sp>
        <p:nvSpPr>
          <p:cNvPr id="5" name="TextBox 4"/>
          <p:cNvSpPr txBox="1"/>
          <p:nvPr/>
        </p:nvSpPr>
        <p:spPr>
          <a:xfrm>
            <a:off x="822960" y="3337560"/>
            <a:ext cx="7863840" cy="1188720"/>
          </a:xfrm>
          <a:prstGeom prst="rect">
            <a:avLst/>
          </a:prstGeom>
          <a:noFill/>
        </p:spPr>
        <p:txBody>
          <a:bodyPr wrap="square" anchor="t" lIns="0" rIns="0" tIns="0" bIns="0">
            <a:spAutoFit/>
          </a:bodyPr>
          <a:lstStyle/>
          <a:p>
            <a:pPr algn="l">
              <a:lnSpc>
                <a:spcPct val="115000"/>
              </a:lnSpc>
              <a:spcAft>
                <a:spcPts val="400"/>
              </a:spcAft>
            </a:pPr>
            <a:r>
              <a:rPr sz="1500" b="0" i="0">
                <a:solidFill>
                  <a:srgbClr val="BFA9B5"/>
                </a:solidFill>
                <a:latin typeface="Segoe UI"/>
              </a:rPr>
              <a:t>A prediction nobody can question is a prediction nobody should trust. SHAP opens the box — no statistics degree needed.</a:t>
            </a:r>
          </a:p>
        </p:txBody>
      </p:sp>
      <p:pic>
        <p:nvPicPr>
          <p:cNvPr id="6" name="Picture 5" descr="image7.png"/>
          <p:cNvPicPr>
            <a:picLocks noChangeAspect="1"/>
          </p:cNvPicPr>
          <p:nvPr/>
        </p:nvPicPr>
        <p:blipFill>
          <a:blip r:embed="rId3"/>
          <a:stretch>
            <a:fillRect/>
          </a:stretch>
        </p:blipFill>
        <p:spPr>
          <a:xfrm>
            <a:off x="9189720" y="2148840"/>
            <a:ext cx="2286000" cy="2286000"/>
          </a:xfrm>
          <a:prstGeom prst="rect">
            <a:avLst/>
          </a:prstGeom>
        </p:spPr>
      </p:pic>
      <p:sp>
        <p:nvSpPr>
          <p:cNvPr id="7" name="Rectangle 6"/>
          <p:cNvSpPr/>
          <p:nvPr/>
        </p:nvSpPr>
        <p:spPr>
          <a:xfrm>
            <a:off x="822960" y="4526280"/>
            <a:ext cx="1371600" cy="5029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0" name="TextBox 9"/>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19 / 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4 · WHY THE MODEL DECIDES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Think of it as a tug-of-war</a:t>
            </a:r>
          </a:p>
        </p:txBody>
      </p:sp>
      <p:sp>
        <p:nvSpPr>
          <p:cNvPr id="5" name="TextBox 4"/>
          <p:cNvSpPr txBox="1"/>
          <p:nvPr/>
        </p:nvSpPr>
        <p:spPr>
          <a:xfrm>
            <a:off x="502920" y="1325880"/>
            <a:ext cx="11155680" cy="548640"/>
          </a:xfrm>
          <a:prstGeom prst="rect">
            <a:avLst/>
          </a:prstGeom>
          <a:noFill/>
        </p:spPr>
        <p:txBody>
          <a:bodyPr wrap="square" anchor="t" lIns="0" rIns="0" tIns="0" bIns="0">
            <a:spAutoFit/>
          </a:bodyPr>
          <a:lstStyle/>
          <a:p>
            <a:pPr algn="l">
              <a:lnSpc>
                <a:spcPct val="115000"/>
              </a:lnSpc>
              <a:spcAft>
                <a:spcPts val="400"/>
              </a:spcAft>
            </a:pPr>
            <a:r>
              <a:rPr sz="1400" b="0" i="0">
                <a:solidFill>
                  <a:srgbClr val="BFA9B5"/>
                </a:solidFill>
                <a:latin typeface="Segoe UI"/>
              </a:rPr>
              <a:t>For every single woman, each fact about her life pulls the prediction one way or the other. SHAP measures exactly how hard each fact pulls.</a:t>
            </a:r>
          </a:p>
        </p:txBody>
      </p:sp>
      <p:sp>
        <p:nvSpPr>
          <p:cNvPr id="6" name="Oval 5"/>
          <p:cNvSpPr/>
          <p:nvPr/>
        </p:nvSpPr>
        <p:spPr>
          <a:xfrm>
            <a:off x="5413248" y="3063240"/>
            <a:ext cx="1371600" cy="1371600"/>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13248" y="3429000"/>
            <a:ext cx="1371600" cy="731520"/>
          </a:xfrm>
          <a:prstGeom prst="rect">
            <a:avLst/>
          </a:prstGeom>
          <a:noFill/>
        </p:spPr>
        <p:txBody>
          <a:bodyPr wrap="square" anchor="t" lIns="0" rIns="0" tIns="0" bIns="0">
            <a:spAutoFit/>
          </a:bodyPr>
          <a:lstStyle/>
          <a:p>
            <a:pPr algn="ctr">
              <a:lnSpc>
                <a:spcPct val="100000"/>
              </a:lnSpc>
              <a:spcAft>
                <a:spcPts val="400"/>
              </a:spcAft>
            </a:pPr>
            <a:r>
              <a:rPr sz="1300" b="1" i="0">
                <a:solidFill>
                  <a:srgbClr val="FFFFFF"/>
                </a:solidFill>
                <a:latin typeface="Segoe UI"/>
              </a:rPr>
              <a:t>ONE
WOMAN</a:t>
            </a:r>
          </a:p>
        </p:txBody>
      </p:sp>
      <p:sp>
        <p:nvSpPr>
          <p:cNvPr id="8" name="Left Arrow 7"/>
          <p:cNvSpPr/>
          <p:nvPr/>
        </p:nvSpPr>
        <p:spPr>
          <a:xfrm>
            <a:off x="914400" y="3310128"/>
            <a:ext cx="4297680" cy="868680"/>
          </a:xfrm>
          <a:prstGeom prst="leftArrow">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6995160" y="3310128"/>
            <a:ext cx="4297680" cy="8686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468880"/>
            <a:ext cx="4297680" cy="365760"/>
          </a:xfrm>
          <a:prstGeom prst="rect">
            <a:avLst/>
          </a:prstGeom>
          <a:noFill/>
        </p:spPr>
        <p:txBody>
          <a:bodyPr wrap="square" anchor="t" lIns="0" rIns="0" tIns="0" bIns="0">
            <a:spAutoFit/>
          </a:bodyPr>
          <a:lstStyle/>
          <a:p>
            <a:pPr algn="ctr">
              <a:lnSpc>
                <a:spcPct val="100000"/>
              </a:lnSpc>
              <a:spcAft>
                <a:spcPts val="400"/>
              </a:spcAft>
            </a:pPr>
            <a:r>
              <a:rPr sz="1300" b="1" i="0">
                <a:solidFill>
                  <a:srgbClr val="FF5CA8"/>
                </a:solidFill>
                <a:latin typeface="Segoe UI"/>
              </a:rPr>
              <a:t>PULLS AWAY FROM MODERN USE</a:t>
            </a:r>
          </a:p>
        </p:txBody>
      </p:sp>
      <p:sp>
        <p:nvSpPr>
          <p:cNvPr id="11" name="TextBox 10"/>
          <p:cNvSpPr txBox="1"/>
          <p:nvPr/>
        </p:nvSpPr>
        <p:spPr>
          <a:xfrm>
            <a:off x="6995160" y="2468880"/>
            <a:ext cx="4297680" cy="365760"/>
          </a:xfrm>
          <a:prstGeom prst="rect">
            <a:avLst/>
          </a:prstGeom>
          <a:noFill/>
        </p:spPr>
        <p:txBody>
          <a:bodyPr wrap="square" anchor="t" lIns="0" rIns="0" tIns="0" bIns="0">
            <a:spAutoFit/>
          </a:bodyPr>
          <a:lstStyle/>
          <a:p>
            <a:pPr algn="ctr">
              <a:lnSpc>
                <a:spcPct val="100000"/>
              </a:lnSpc>
              <a:spcAft>
                <a:spcPts val="400"/>
              </a:spcAft>
            </a:pPr>
            <a:r>
              <a:rPr sz="1300" b="1" i="0">
                <a:solidFill>
                  <a:srgbClr val="FFFFFF"/>
                </a:solidFill>
                <a:latin typeface="Segoe UI"/>
              </a:rPr>
              <a:t>PULLS TOWARD MODERN USE</a:t>
            </a:r>
          </a:p>
        </p:txBody>
      </p:sp>
      <p:sp>
        <p:nvSpPr>
          <p:cNvPr id="12" name="TextBox 11"/>
          <p:cNvSpPr txBox="1"/>
          <p:nvPr/>
        </p:nvSpPr>
        <p:spPr>
          <a:xfrm>
            <a:off x="914400" y="4343400"/>
            <a:ext cx="4297680" cy="822960"/>
          </a:xfrm>
          <a:prstGeom prst="rect">
            <a:avLst/>
          </a:prstGeom>
          <a:noFill/>
        </p:spPr>
        <p:txBody>
          <a:bodyPr wrap="square" anchor="t" lIns="0" rIns="0" tIns="0" bIns="0">
            <a:spAutoFit/>
          </a:bodyPr>
          <a:lstStyle/>
          <a:p>
            <a:pPr algn="ctr">
              <a:lnSpc>
                <a:spcPct val="120000"/>
              </a:lnSpc>
              <a:spcAft>
                <a:spcPts val="400"/>
              </a:spcAft>
            </a:pPr>
            <a:r>
              <a:rPr sz="1200" b="0" i="0">
                <a:solidFill>
                  <a:srgbClr val="BFA9B5"/>
                </a:solidFill>
                <a:latin typeface="Segoe UI"/>
              </a:rPr>
              <a:t>younger · no children yet · never married · not working · large household · arid county</a:t>
            </a:r>
          </a:p>
        </p:txBody>
      </p:sp>
      <p:sp>
        <p:nvSpPr>
          <p:cNvPr id="13" name="TextBox 12"/>
          <p:cNvSpPr txBox="1"/>
          <p:nvPr/>
        </p:nvSpPr>
        <p:spPr>
          <a:xfrm>
            <a:off x="6995160" y="4343400"/>
            <a:ext cx="4297680" cy="822960"/>
          </a:xfrm>
          <a:prstGeom prst="rect">
            <a:avLst/>
          </a:prstGeom>
          <a:noFill/>
        </p:spPr>
        <p:txBody>
          <a:bodyPr wrap="square" anchor="t" lIns="0" rIns="0" tIns="0" bIns="0">
            <a:spAutoFit/>
          </a:bodyPr>
          <a:lstStyle/>
          <a:p>
            <a:pPr algn="ctr">
              <a:lnSpc>
                <a:spcPct val="120000"/>
              </a:lnSpc>
              <a:spcAft>
                <a:spcPts val="400"/>
              </a:spcAft>
            </a:pPr>
            <a:r>
              <a:rPr sz="1200" b="0" i="0">
                <a:solidFill>
                  <a:srgbClr val="BFA9B5"/>
                </a:solidFill>
                <a:latin typeface="Segoe UI"/>
              </a:rPr>
              <a:t>older · has children · in a union · employed · educated · non-arid county</a:t>
            </a:r>
          </a:p>
        </p:txBody>
      </p:sp>
      <p:sp>
        <p:nvSpPr>
          <p:cNvPr id="14" name="Rounded Rectangle 13"/>
          <p:cNvSpPr/>
          <p:nvPr/>
        </p:nvSpPr>
        <p:spPr>
          <a:xfrm>
            <a:off x="2103120" y="5394960"/>
            <a:ext cx="7982712" cy="77724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03120" y="5577840"/>
            <a:ext cx="7982712" cy="457200"/>
          </a:xfrm>
          <a:prstGeom prst="rect">
            <a:avLst/>
          </a:prstGeom>
          <a:noFill/>
        </p:spPr>
        <p:txBody>
          <a:bodyPr wrap="square" anchor="t" lIns="0" rIns="0" tIns="0" bIns="0">
            <a:spAutoFit/>
          </a:bodyPr>
          <a:lstStyle/>
          <a:p>
            <a:pPr algn="ctr">
              <a:lnSpc>
                <a:spcPct val="100000"/>
              </a:lnSpc>
              <a:spcAft>
                <a:spcPts val="400"/>
              </a:spcAft>
            </a:pPr>
            <a:r>
              <a:rPr sz="1300" b="0" i="1">
                <a:solidFill>
                  <a:srgbClr val="1A1418"/>
                </a:solidFill>
                <a:latin typeface="Segoe UI"/>
              </a:rPr>
              <a:t>Read it like a before-and-after comparison — no statistics background required.</a:t>
            </a:r>
          </a:p>
        </p:txBody>
      </p:sp>
      <p:sp>
        <p:nvSpPr>
          <p:cNvPr id="16" name="Rectangle 15"/>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8" name="TextBox 17"/>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20 / 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4 · WHY THE MODEL DECIDES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What actually drives the prediction</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5 — THE PREDICTOR</a:t>
            </a:r>
          </a:p>
        </p:txBody>
      </p:sp>
      <p:sp>
        <p:nvSpPr>
          <p:cNvPr id="7" name="Rounded Rectangle 6"/>
          <p:cNvSpPr/>
          <p:nvPr/>
        </p:nvSpPr>
        <p:spPr>
          <a:xfrm>
            <a:off x="502920"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1618488"/>
            <a:ext cx="457200" cy="457200"/>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1664208"/>
            <a:ext cx="457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1</a:t>
            </a:r>
          </a:p>
        </p:txBody>
      </p:sp>
      <p:sp>
        <p:nvSpPr>
          <p:cNvPr id="10" name="TextBox 9"/>
          <p:cNvSpPr txBox="1"/>
          <p:nvPr/>
        </p:nvSpPr>
        <p:spPr>
          <a:xfrm>
            <a:off x="1289304" y="1600200"/>
            <a:ext cx="2697480" cy="685800"/>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Age — the strongest driver</a:t>
            </a:r>
          </a:p>
        </p:txBody>
      </p:sp>
      <p:sp>
        <p:nvSpPr>
          <p:cNvPr id="11" name="TextBox 10"/>
          <p:cNvSpPr txBox="1"/>
          <p:nvPr/>
        </p:nvSpPr>
        <p:spPr>
          <a:xfrm>
            <a:off x="704088" y="2331720"/>
            <a:ext cx="3200400" cy="1188720"/>
          </a:xfrm>
          <a:prstGeom prst="rect">
            <a:avLst/>
          </a:prstGeom>
          <a:noFill/>
        </p:spPr>
        <p:txBody>
          <a:bodyPr wrap="square" anchor="t" lIns="0" rIns="0" tIns="0" bIns="0">
            <a:spAutoFit/>
          </a:bodyPr>
          <a:lstStyle/>
          <a:p>
            <a:pPr algn="l">
              <a:lnSpc>
                <a:spcPct val="110000"/>
              </a:lnSpc>
              <a:spcAft>
                <a:spcPts val="400"/>
              </a:spcAft>
            </a:pPr>
            <a:r>
              <a:rPr sz="1050" b="0" i="0">
                <a:solidFill>
                  <a:srgbClr val="6E5F68"/>
                </a:solidFill>
                <a:latin typeface="Segoe UI"/>
              </a:rPr>
              <a:t>A life-stage effect: older women are pushed strongly toward modern use; younger women away. Not something policy can change — but essential for timing outreach.</a:t>
            </a:r>
          </a:p>
        </p:txBody>
      </p:sp>
      <p:sp>
        <p:nvSpPr>
          <p:cNvPr id="12" name="Rounded Rectangle 11"/>
          <p:cNvSpPr/>
          <p:nvPr/>
        </p:nvSpPr>
        <p:spPr>
          <a:xfrm>
            <a:off x="4325112"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526279" y="1618488"/>
            <a:ext cx="457200" cy="457200"/>
          </a:xfrm>
          <a:prstGeom prst="ellipse">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79" y="1664208"/>
            <a:ext cx="457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2</a:t>
            </a:r>
          </a:p>
        </p:txBody>
      </p:sp>
      <p:sp>
        <p:nvSpPr>
          <p:cNvPr id="15" name="TextBox 14"/>
          <p:cNvSpPr txBox="1"/>
          <p:nvPr/>
        </p:nvSpPr>
        <p:spPr>
          <a:xfrm>
            <a:off x="5111496" y="1600200"/>
            <a:ext cx="2697480" cy="685800"/>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Living children — a close second</a:t>
            </a:r>
          </a:p>
        </p:txBody>
      </p:sp>
      <p:sp>
        <p:nvSpPr>
          <p:cNvPr id="16" name="TextBox 15"/>
          <p:cNvSpPr txBox="1"/>
          <p:nvPr/>
        </p:nvSpPr>
        <p:spPr>
          <a:xfrm>
            <a:off x="4526279" y="2331720"/>
            <a:ext cx="3200400" cy="1188720"/>
          </a:xfrm>
          <a:prstGeom prst="rect">
            <a:avLst/>
          </a:prstGeom>
          <a:noFill/>
        </p:spPr>
        <p:txBody>
          <a:bodyPr wrap="square" anchor="t" lIns="0" rIns="0" tIns="0" bIns="0">
            <a:spAutoFit/>
          </a:bodyPr>
          <a:lstStyle/>
          <a:p>
            <a:pPr algn="l">
              <a:lnSpc>
                <a:spcPct val="110000"/>
              </a:lnSpc>
              <a:spcAft>
                <a:spcPts val="400"/>
              </a:spcAft>
            </a:pPr>
            <a:r>
              <a:rPr sz="1050" b="0" i="0">
                <a:solidFill>
                  <a:srgbClr val="6E5F68"/>
                </a:solidFill>
                <a:latin typeface="Segoe UI"/>
              </a:rPr>
              <a:t>Women adopt contraception after having children, not before — exactly what the EDA showed. Postpartum contact is the moment advice lands.</a:t>
            </a:r>
          </a:p>
        </p:txBody>
      </p:sp>
      <p:sp>
        <p:nvSpPr>
          <p:cNvPr id="17" name="Rounded Rectangle 16"/>
          <p:cNvSpPr/>
          <p:nvPr/>
        </p:nvSpPr>
        <p:spPr>
          <a:xfrm>
            <a:off x="8147304"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48472" y="1618488"/>
            <a:ext cx="457200" cy="457200"/>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2" y="1664208"/>
            <a:ext cx="457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3</a:t>
            </a:r>
          </a:p>
        </p:txBody>
      </p:sp>
      <p:sp>
        <p:nvSpPr>
          <p:cNvPr id="20" name="TextBox 19"/>
          <p:cNvSpPr txBox="1"/>
          <p:nvPr/>
        </p:nvSpPr>
        <p:spPr>
          <a:xfrm>
            <a:off x="8933688" y="1600200"/>
            <a:ext cx="2697480" cy="685800"/>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Employment — the actionable lever</a:t>
            </a:r>
          </a:p>
        </p:txBody>
      </p:sp>
      <p:sp>
        <p:nvSpPr>
          <p:cNvPr id="21" name="TextBox 20"/>
          <p:cNvSpPr txBox="1"/>
          <p:nvPr/>
        </p:nvSpPr>
        <p:spPr>
          <a:xfrm>
            <a:off x="8348472" y="2331720"/>
            <a:ext cx="3200400" cy="1188720"/>
          </a:xfrm>
          <a:prstGeom prst="rect">
            <a:avLst/>
          </a:prstGeom>
          <a:noFill/>
        </p:spPr>
        <p:txBody>
          <a:bodyPr wrap="square" anchor="t" lIns="0" rIns="0" tIns="0" bIns="0">
            <a:spAutoFit/>
          </a:bodyPr>
          <a:lstStyle/>
          <a:p>
            <a:pPr algn="l">
              <a:lnSpc>
                <a:spcPct val="110000"/>
              </a:lnSpc>
              <a:spcAft>
                <a:spcPts val="400"/>
              </a:spcAft>
            </a:pPr>
            <a:r>
              <a:rPr sz="1050" b="0" i="0">
                <a:solidFill>
                  <a:srgbClr val="6E5F68"/>
                </a:solidFill>
                <a:latin typeface="Segoe UI"/>
              </a:rPr>
              <a:t>Employed women are pushed toward modern use. Unlike age or children, employment can be changed by programmes — the most policy-tractable finding in the project.</a:t>
            </a:r>
          </a:p>
        </p:txBody>
      </p:sp>
      <p:sp>
        <p:nvSpPr>
          <p:cNvPr id="22" name="Rounded Rectangle 21"/>
          <p:cNvSpPr/>
          <p:nvPr/>
        </p:nvSpPr>
        <p:spPr>
          <a:xfrm>
            <a:off x="502920"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04088" y="3995928"/>
            <a:ext cx="457200" cy="457200"/>
          </a:xfrm>
          <a:prstGeom prst="ellipse">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4088" y="4041648"/>
            <a:ext cx="457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4</a:t>
            </a:r>
          </a:p>
        </p:txBody>
      </p:sp>
      <p:sp>
        <p:nvSpPr>
          <p:cNvPr id="25" name="TextBox 24"/>
          <p:cNvSpPr txBox="1"/>
          <p:nvPr/>
        </p:nvSpPr>
        <p:spPr>
          <a:xfrm>
            <a:off x="1289304" y="3977640"/>
            <a:ext cx="2697480" cy="685800"/>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Arid county — a genuine barrier</a:t>
            </a:r>
          </a:p>
        </p:txBody>
      </p:sp>
      <p:sp>
        <p:nvSpPr>
          <p:cNvPr id="26" name="TextBox 25"/>
          <p:cNvSpPr txBox="1"/>
          <p:nvPr/>
        </p:nvSpPr>
        <p:spPr>
          <a:xfrm>
            <a:off x="704088" y="4709160"/>
            <a:ext cx="3200400" cy="1188720"/>
          </a:xfrm>
          <a:prstGeom prst="rect">
            <a:avLst/>
          </a:prstGeom>
          <a:noFill/>
        </p:spPr>
        <p:txBody>
          <a:bodyPr wrap="square" anchor="t" lIns="0" rIns="0" tIns="0" bIns="0">
            <a:spAutoFit/>
          </a:bodyPr>
          <a:lstStyle/>
          <a:p>
            <a:pPr algn="l">
              <a:lnSpc>
                <a:spcPct val="110000"/>
              </a:lnSpc>
              <a:spcAft>
                <a:spcPts val="400"/>
              </a:spcAft>
            </a:pPr>
            <a:r>
              <a:rPr sz="1050" b="0" i="0">
                <a:solidFill>
                  <a:srgbClr val="6E5F68"/>
                </a:solidFill>
                <a:latin typeface="Segoe UI"/>
              </a:rPr>
              <a:t>Living in an ASAL county pushes away from modern use even after wealth, education and religion are accounted for. Real access and infrastructure gaps, not a proxy for poverty.</a:t>
            </a:r>
          </a:p>
        </p:txBody>
      </p:sp>
      <p:sp>
        <p:nvSpPr>
          <p:cNvPr id="27" name="Rounded Rectangle 26"/>
          <p:cNvSpPr/>
          <p:nvPr/>
        </p:nvSpPr>
        <p:spPr>
          <a:xfrm>
            <a:off x="4325112"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26279" y="3995928"/>
            <a:ext cx="457200" cy="457200"/>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79" y="4041648"/>
            <a:ext cx="457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5</a:t>
            </a:r>
          </a:p>
        </p:txBody>
      </p:sp>
      <p:sp>
        <p:nvSpPr>
          <p:cNvPr id="30" name="TextBox 29"/>
          <p:cNvSpPr txBox="1"/>
          <p:nvPr/>
        </p:nvSpPr>
        <p:spPr>
          <a:xfrm>
            <a:off x="5111496" y="3977640"/>
            <a:ext cx="2697480" cy="685800"/>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Being in a union — the top enabler</a:t>
            </a:r>
          </a:p>
        </p:txBody>
      </p:sp>
      <p:sp>
        <p:nvSpPr>
          <p:cNvPr id="31" name="TextBox 30"/>
          <p:cNvSpPr txBox="1"/>
          <p:nvPr/>
        </p:nvSpPr>
        <p:spPr>
          <a:xfrm>
            <a:off x="4526279" y="4709160"/>
            <a:ext cx="3200400" cy="1188720"/>
          </a:xfrm>
          <a:prstGeom prst="rect">
            <a:avLst/>
          </a:prstGeom>
          <a:noFill/>
        </p:spPr>
        <p:txBody>
          <a:bodyPr wrap="square" anchor="t" lIns="0" rIns="0" tIns="0" bIns="0">
            <a:spAutoFit/>
          </a:bodyPr>
          <a:lstStyle/>
          <a:p>
            <a:pPr algn="l">
              <a:lnSpc>
                <a:spcPct val="110000"/>
              </a:lnSpc>
              <a:spcAft>
                <a:spcPts val="400"/>
              </a:spcAft>
            </a:pPr>
            <a:r>
              <a:rPr sz="1050" b="0" i="0">
                <a:solidFill>
                  <a:srgbClr val="6E5F68"/>
                </a:solidFill>
                <a:latin typeface="Segoe UI"/>
              </a:rPr>
              <a:t>The single strongest enabler of modern use in the per-class analysis — and, paired with the other factors, the key to the doorstep checklist in Part 5.</a:t>
            </a:r>
          </a:p>
        </p:txBody>
      </p:sp>
      <p:sp>
        <p:nvSpPr>
          <p:cNvPr id="32" name="Rounded Rectangle 31"/>
          <p:cNvSpPr/>
          <p:nvPr/>
        </p:nvSpPr>
        <p:spPr>
          <a:xfrm>
            <a:off x="8147304"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48472" y="3995928"/>
            <a:ext cx="457200" cy="457200"/>
          </a:xfrm>
          <a:prstGeom prst="ellipse">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48472" y="4041648"/>
            <a:ext cx="457200" cy="365760"/>
          </a:xfrm>
          <a:prstGeom prst="rect">
            <a:avLst/>
          </a:prstGeom>
          <a:noFill/>
        </p:spPr>
        <p:txBody>
          <a:bodyPr wrap="square" anchor="t" lIns="0" rIns="0" tIns="0" bIns="0">
            <a:spAutoFit/>
          </a:bodyPr>
          <a:lstStyle/>
          <a:p>
            <a:pPr algn="ctr">
              <a:lnSpc>
                <a:spcPct val="100000"/>
              </a:lnSpc>
              <a:spcAft>
                <a:spcPts val="400"/>
              </a:spcAft>
            </a:pPr>
            <a:r>
              <a:rPr sz="1500" b="1" i="0">
                <a:solidFill>
                  <a:srgbClr val="FFFFFF"/>
                </a:solidFill>
                <a:latin typeface="Segoe UI"/>
              </a:rPr>
              <a:t>6</a:t>
            </a:r>
          </a:p>
        </p:txBody>
      </p:sp>
      <p:sp>
        <p:nvSpPr>
          <p:cNvPr id="35" name="TextBox 34"/>
          <p:cNvSpPr txBox="1"/>
          <p:nvPr/>
        </p:nvSpPr>
        <p:spPr>
          <a:xfrm>
            <a:off x="8933688" y="3977640"/>
            <a:ext cx="2697480" cy="685800"/>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Household size — the surprise</a:t>
            </a:r>
          </a:p>
        </p:txBody>
      </p:sp>
      <p:sp>
        <p:nvSpPr>
          <p:cNvPr id="36" name="TextBox 35"/>
          <p:cNvSpPr txBox="1"/>
          <p:nvPr/>
        </p:nvSpPr>
        <p:spPr>
          <a:xfrm>
            <a:off x="8348472" y="4709160"/>
            <a:ext cx="3200400" cy="1188720"/>
          </a:xfrm>
          <a:prstGeom prst="rect">
            <a:avLst/>
          </a:prstGeom>
          <a:noFill/>
        </p:spPr>
        <p:txBody>
          <a:bodyPr wrap="square" anchor="t" lIns="0" rIns="0" tIns="0" bIns="0">
            <a:spAutoFit/>
          </a:bodyPr>
          <a:lstStyle/>
          <a:p>
            <a:pPr algn="l">
              <a:lnSpc>
                <a:spcPct val="110000"/>
              </a:lnSpc>
              <a:spcAft>
                <a:spcPts val="400"/>
              </a:spcAft>
            </a:pPr>
            <a:r>
              <a:rPr sz="1050" b="0" i="0">
                <a:solidFill>
                  <a:srgbClr val="6E5F68"/>
                </a:solidFill>
                <a:latin typeface="Segoe UI"/>
              </a:rPr>
              <a:t>Larger households push away from modern use — suggesting stretched resources rather than greater demand.</a:t>
            </a:r>
          </a:p>
        </p:txBody>
      </p:sp>
      <p:sp>
        <p:nvSpPr>
          <p:cNvPr id="37" name="Rectangle 3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39" name="TextBox 3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21 / 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4 · WHY THE MODEL DECIDES</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Two real women — how the model decided</a:t>
            </a:r>
          </a:p>
        </p:txBody>
      </p:sp>
      <p:sp>
        <p:nvSpPr>
          <p:cNvPr id="5" name="Rounded Rectangle 4"/>
          <p:cNvSpPr/>
          <p:nvPr/>
        </p:nvSpPr>
        <p:spPr>
          <a:xfrm>
            <a:off x="502920" y="1417320"/>
            <a:ext cx="5486400" cy="41148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5486400" cy="128016"/>
          </a:xfrm>
          <a:prstGeom prst="roundRect">
            <a:avLst>
              <a:gd name="adj" fmla="val 50000"/>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91640"/>
            <a:ext cx="4937760" cy="320040"/>
          </a:xfrm>
          <a:prstGeom prst="rect">
            <a:avLst/>
          </a:prstGeom>
          <a:noFill/>
        </p:spPr>
        <p:txBody>
          <a:bodyPr wrap="square" anchor="t" lIns="0" rIns="0" tIns="0" bIns="0">
            <a:spAutoFit/>
          </a:bodyPr>
          <a:lstStyle/>
          <a:p>
            <a:pPr algn="l">
              <a:lnSpc>
                <a:spcPct val="100000"/>
              </a:lnSpc>
              <a:spcAft>
                <a:spcPts val="400"/>
              </a:spcAft>
            </a:pPr>
            <a:r>
              <a:rPr sz="1300" b="1" i="0">
                <a:solidFill>
                  <a:srgbClr val="E91E63"/>
                </a:solidFill>
                <a:latin typeface="Segoe UI"/>
              </a:rPr>
              <a:t>RESPONDENT C</a:t>
            </a:r>
          </a:p>
        </p:txBody>
      </p:sp>
      <p:sp>
        <p:nvSpPr>
          <p:cNvPr id="8" name="TextBox 7"/>
          <p:cNvSpPr txBox="1"/>
          <p:nvPr/>
        </p:nvSpPr>
        <p:spPr>
          <a:xfrm>
            <a:off x="777240" y="2011680"/>
            <a:ext cx="4937760" cy="365760"/>
          </a:xfrm>
          <a:prstGeom prst="rect">
            <a:avLst/>
          </a:prstGeom>
          <a:noFill/>
        </p:spPr>
        <p:txBody>
          <a:bodyPr wrap="square" anchor="t" lIns="0" rIns="0" tIns="0" bIns="0">
            <a:spAutoFit/>
          </a:bodyPr>
          <a:lstStyle/>
          <a:p>
            <a:pPr algn="l">
              <a:lnSpc>
                <a:spcPct val="100000"/>
              </a:lnSpc>
              <a:spcAft>
                <a:spcPts val="400"/>
              </a:spcAft>
            </a:pPr>
            <a:r>
              <a:rPr sz="1550" b="1" i="0">
                <a:solidFill>
                  <a:srgbClr val="1A1418"/>
                </a:solidFill>
                <a:latin typeface="Segoe UI"/>
              </a:rPr>
              <a:t>Predicted: “No method” — 99.9% sure</a:t>
            </a:r>
          </a:p>
        </p:txBody>
      </p:sp>
      <p:sp>
        <p:nvSpPr>
          <p:cNvPr id="9" name="Rounded Rectangle 8"/>
          <p:cNvSpPr/>
          <p:nvPr/>
        </p:nvSpPr>
        <p:spPr>
          <a:xfrm>
            <a:off x="777240" y="2487168"/>
            <a:ext cx="4937760" cy="457200"/>
          </a:xfrm>
          <a:prstGeom prst="roundRect">
            <a:avLst>
              <a:gd name="adj" fmla="val 30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587752"/>
            <a:ext cx="4572000" cy="274320"/>
          </a:xfrm>
          <a:prstGeom prst="rect">
            <a:avLst/>
          </a:prstGeom>
          <a:noFill/>
        </p:spPr>
        <p:txBody>
          <a:bodyPr wrap="square" anchor="t" lIns="0" rIns="0" tIns="0" bIns="0">
            <a:spAutoFit/>
          </a:bodyPr>
          <a:lstStyle/>
          <a:p>
            <a:pPr algn="l">
              <a:lnSpc>
                <a:spcPct val="100000"/>
              </a:lnSpc>
              <a:spcAft>
                <a:spcPts val="400"/>
              </a:spcAft>
            </a:pPr>
            <a:r>
              <a:rPr sz="1100" b="0" i="0">
                <a:solidFill>
                  <a:srgbClr val="6E5F68"/>
                </a:solidFill>
                <a:latin typeface="Segoe UI"/>
              </a:rPr>
              <a:t>Young · never married · no children · not employed</a:t>
            </a:r>
          </a:p>
        </p:txBody>
      </p:sp>
      <p:sp>
        <p:nvSpPr>
          <p:cNvPr id="11" name="TextBox 10"/>
          <p:cNvSpPr txBox="1"/>
          <p:nvPr/>
        </p:nvSpPr>
        <p:spPr>
          <a:xfrm>
            <a:off x="777240" y="3154680"/>
            <a:ext cx="4937760" cy="2194560"/>
          </a:xfrm>
          <a:prstGeom prst="rect">
            <a:avLst/>
          </a:prstGeom>
          <a:noFill/>
        </p:spPr>
        <p:txBody>
          <a:bodyPr wrap="square" anchor="t" lIns="0" rIns="0" tIns="0" bIns="0">
            <a:spAutoFit/>
          </a:bodyPr>
          <a:lstStyle/>
          <a:p>
            <a:pPr algn="l">
              <a:lnSpc>
                <a:spcPct val="115000"/>
              </a:lnSpc>
              <a:spcAft>
                <a:spcPts val="400"/>
              </a:spcAft>
            </a:pPr>
            <a:r>
              <a:rPr sz="1200" b="0" i="0">
                <a:solidFill>
                  <a:srgbClr val="1A1418"/>
                </a:solidFill>
                <a:latin typeface="Segoe UI"/>
              </a:rPr>
              <a:t>Every strong pull comes from her life stage: she is not yet exposed to pregnancy risk at all. </a:t>
            </a:r>
          </a:p>
          <a:p>
            <a:pPr algn="l">
              <a:lnSpc>
                <a:spcPct val="115000"/>
              </a:lnSpc>
              <a:spcAft>
                <a:spcPts val="400"/>
              </a:spcAft>
            </a:pPr>
            <a:r>
              <a:rPr sz="1200" b="1" i="0">
                <a:solidFill>
                  <a:srgbClr val="1A1418"/>
                </a:solidFill>
                <a:latin typeface="Segoe UI"/>
              </a:rPr>
              <a:t>The model is not flagging an access problem — it is recognising a woman who does not need an intervention visit. </a:t>
            </a:r>
            <a:r>
              <a:rPr sz="1200" b="0" i="0">
                <a:solidFill>
                  <a:srgbClr val="1A1418"/>
                </a:solidFill>
                <a:latin typeface="Segoe UI"/>
              </a:rPr>
              <a:t>Sending outreach to her doorstep would waste everyone's time.</a:t>
            </a:r>
          </a:p>
        </p:txBody>
      </p:sp>
      <p:sp>
        <p:nvSpPr>
          <p:cNvPr id="12" name="Rounded Rectangle 11"/>
          <p:cNvSpPr/>
          <p:nvPr/>
        </p:nvSpPr>
        <p:spPr>
          <a:xfrm>
            <a:off x="6217920" y="1417320"/>
            <a:ext cx="5486400" cy="41148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1417320"/>
            <a:ext cx="5486400" cy="12801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691640"/>
            <a:ext cx="4937760" cy="320040"/>
          </a:xfrm>
          <a:prstGeom prst="rect">
            <a:avLst/>
          </a:prstGeom>
          <a:noFill/>
        </p:spPr>
        <p:txBody>
          <a:bodyPr wrap="square" anchor="t" lIns="0" rIns="0" tIns="0" bIns="0">
            <a:spAutoFit/>
          </a:bodyPr>
          <a:lstStyle/>
          <a:p>
            <a:pPr algn="l">
              <a:lnSpc>
                <a:spcPct val="100000"/>
              </a:lnSpc>
              <a:spcAft>
                <a:spcPts val="400"/>
              </a:spcAft>
            </a:pPr>
            <a:r>
              <a:rPr sz="1300" b="1" i="0">
                <a:solidFill>
                  <a:srgbClr val="AD1457"/>
                </a:solidFill>
                <a:latin typeface="Segoe UI"/>
              </a:rPr>
              <a:t>RESPONDENT D</a:t>
            </a:r>
          </a:p>
        </p:txBody>
      </p:sp>
      <p:sp>
        <p:nvSpPr>
          <p:cNvPr id="15" name="TextBox 14"/>
          <p:cNvSpPr txBox="1"/>
          <p:nvPr/>
        </p:nvSpPr>
        <p:spPr>
          <a:xfrm>
            <a:off x="6492240" y="2011680"/>
            <a:ext cx="4937760" cy="365760"/>
          </a:xfrm>
          <a:prstGeom prst="rect">
            <a:avLst/>
          </a:prstGeom>
          <a:noFill/>
        </p:spPr>
        <p:txBody>
          <a:bodyPr wrap="square" anchor="t" lIns="0" rIns="0" tIns="0" bIns="0">
            <a:spAutoFit/>
          </a:bodyPr>
          <a:lstStyle/>
          <a:p>
            <a:pPr algn="l">
              <a:lnSpc>
                <a:spcPct val="100000"/>
              </a:lnSpc>
              <a:spcAft>
                <a:spcPts val="400"/>
              </a:spcAft>
            </a:pPr>
            <a:r>
              <a:rPr sz="1550" b="1" i="0">
                <a:solidFill>
                  <a:srgbClr val="1A1418"/>
                </a:solidFill>
                <a:latin typeface="Segoe UI"/>
              </a:rPr>
              <a:t>Predicted: “Modern” — 92.5% sure</a:t>
            </a:r>
          </a:p>
        </p:txBody>
      </p:sp>
      <p:sp>
        <p:nvSpPr>
          <p:cNvPr id="16" name="Rounded Rectangle 15"/>
          <p:cNvSpPr/>
          <p:nvPr/>
        </p:nvSpPr>
        <p:spPr>
          <a:xfrm>
            <a:off x="6492240" y="2487168"/>
            <a:ext cx="4937760" cy="457200"/>
          </a:xfrm>
          <a:prstGeom prst="roundRect">
            <a:avLst>
              <a:gd name="adj" fmla="val 30000"/>
            </a:avLst>
          </a:prstGeom>
          <a:solidFill>
            <a:srgbClr val="F7E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0" y="2587752"/>
            <a:ext cx="4572000" cy="274320"/>
          </a:xfrm>
          <a:prstGeom prst="rect">
            <a:avLst/>
          </a:prstGeom>
          <a:noFill/>
        </p:spPr>
        <p:txBody>
          <a:bodyPr wrap="square" anchor="t" lIns="0" rIns="0" tIns="0" bIns="0">
            <a:spAutoFit/>
          </a:bodyPr>
          <a:lstStyle/>
          <a:p>
            <a:pPr algn="l">
              <a:lnSpc>
                <a:spcPct val="100000"/>
              </a:lnSpc>
              <a:spcAft>
                <a:spcPts val="400"/>
              </a:spcAft>
            </a:pPr>
            <a:r>
              <a:rPr sz="1100" b="0" i="0">
                <a:solidFill>
                  <a:srgbClr val="6E5F68"/>
                </a:solidFill>
                <a:latin typeface="Segoe UI"/>
              </a:rPr>
              <a:t>Older · married · employed · several children · non-arid county</a:t>
            </a:r>
          </a:p>
        </p:txBody>
      </p:sp>
      <p:sp>
        <p:nvSpPr>
          <p:cNvPr id="18" name="TextBox 17"/>
          <p:cNvSpPr txBox="1"/>
          <p:nvPr/>
        </p:nvSpPr>
        <p:spPr>
          <a:xfrm>
            <a:off x="6492240" y="3154680"/>
            <a:ext cx="4937760" cy="2194560"/>
          </a:xfrm>
          <a:prstGeom prst="rect">
            <a:avLst/>
          </a:prstGeom>
          <a:noFill/>
        </p:spPr>
        <p:txBody>
          <a:bodyPr wrap="square" anchor="t" lIns="0" rIns="0" tIns="0" bIns="0">
            <a:spAutoFit/>
          </a:bodyPr>
          <a:lstStyle/>
          <a:p>
            <a:pPr algn="l">
              <a:lnSpc>
                <a:spcPct val="115000"/>
              </a:lnSpc>
              <a:spcAft>
                <a:spcPts val="400"/>
              </a:spcAft>
            </a:pPr>
            <a:r>
              <a:rPr sz="1200" b="0" i="0">
                <a:solidFill>
                  <a:srgbClr val="1A1418"/>
                </a:solidFill>
                <a:latin typeface="Segoe UI"/>
              </a:rPr>
              <a:t>Every lever points the same way — union, employment, family stage, geography. </a:t>
            </a:r>
          </a:p>
          <a:p>
            <a:pPr algn="l">
              <a:lnSpc>
                <a:spcPct val="115000"/>
              </a:lnSpc>
              <a:spcAft>
                <a:spcPts val="400"/>
              </a:spcAft>
            </a:pPr>
            <a:r>
              <a:rPr sz="1200" b="1" i="0">
                <a:solidFill>
                  <a:srgbClr val="1A1418"/>
                </a:solidFill>
                <a:latin typeface="Segoe UI"/>
              </a:rPr>
              <a:t>She is the prototype of the woman today's programmes already reach. </a:t>
            </a:r>
            <a:r>
              <a:rPr sz="1200" b="0" i="0">
                <a:solidFill>
                  <a:srgbClr val="1A1418"/>
                </a:solidFill>
                <a:latin typeface="Segoe UI"/>
              </a:rPr>
              <a:t>The women our recommendations target are the ones missing these enablers — exposed to risk, but without the supports Respondent D has.</a:t>
            </a:r>
          </a:p>
        </p:txBody>
      </p:sp>
      <p:sp>
        <p:nvSpPr>
          <p:cNvPr id="19" name="Rounded Rectangle 18"/>
          <p:cNvSpPr/>
          <p:nvPr/>
        </p:nvSpPr>
        <p:spPr>
          <a:xfrm>
            <a:off x="502920" y="5669280"/>
            <a:ext cx="11201400" cy="658368"/>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5779008"/>
            <a:ext cx="64008" cy="43891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 y="5815584"/>
            <a:ext cx="1083564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THE POINT</a:t>
            </a:r>
          </a:p>
        </p:txBody>
      </p:sp>
      <p:sp>
        <p:nvSpPr>
          <p:cNvPr id="22" name="TextBox 21"/>
          <p:cNvSpPr txBox="1"/>
          <p:nvPr/>
        </p:nvSpPr>
        <p:spPr>
          <a:xfrm>
            <a:off x="704088" y="6108192"/>
            <a:ext cx="10817352" cy="109728"/>
          </a:xfrm>
          <a:prstGeom prst="rect">
            <a:avLst/>
          </a:prstGeom>
          <a:noFill/>
        </p:spPr>
        <p:txBody>
          <a:bodyPr wrap="square" anchor="t" lIns="0" rIns="0" tIns="0" bIns="0">
            <a:spAutoFit/>
          </a:bodyPr>
          <a:lstStyle/>
          <a:p>
            <a:pPr algn="l">
              <a:lnSpc>
                <a:spcPct val="108000"/>
              </a:lnSpc>
              <a:spcAft>
                <a:spcPts val="400"/>
              </a:spcAft>
            </a:pPr>
            <a:r>
              <a:rPr sz="1150" b="0" i="0">
                <a:solidFill>
                  <a:srgbClr val="1A1418"/>
                </a:solidFill>
                <a:latin typeface="Segoe UI"/>
              </a:rPr>
              <a:t>Telling these two apart from a high-risk non-user is exactly what the model is for — target the women who are exposed to risk but missing the enablers.</a:t>
            </a:r>
          </a:p>
        </p:txBody>
      </p:sp>
      <p:sp>
        <p:nvSpPr>
          <p:cNvPr id="23" name="Rectangle 22"/>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25" name="TextBox 24"/>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22 / 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920240"/>
            <a:ext cx="7315200" cy="365760"/>
          </a:xfrm>
          <a:prstGeom prst="rect">
            <a:avLst/>
          </a:prstGeom>
          <a:noFill/>
        </p:spPr>
        <p:txBody>
          <a:bodyPr wrap="square" anchor="t" lIns="0" rIns="0" tIns="0" bIns="0">
            <a:spAutoFit/>
          </a:bodyPr>
          <a:lstStyle/>
          <a:p>
            <a:pPr algn="l">
              <a:lnSpc>
                <a:spcPct val="100000"/>
              </a:lnSpc>
              <a:spcAft>
                <a:spcPts val="400"/>
              </a:spcAft>
            </a:pPr>
            <a:r>
              <a:rPr sz="1400" b="1" i="0">
                <a:solidFill>
                  <a:srgbClr val="FF5CA8"/>
                </a:solidFill>
                <a:latin typeface="Segoe UI"/>
              </a:rPr>
              <a:t>PART 5 OF 5</a:t>
            </a:r>
          </a:p>
        </p:txBody>
      </p:sp>
      <p:sp>
        <p:nvSpPr>
          <p:cNvPr id="4" name="TextBox 3"/>
          <p:cNvSpPr txBox="1"/>
          <p:nvPr/>
        </p:nvSpPr>
        <p:spPr>
          <a:xfrm>
            <a:off x="822960" y="2331720"/>
            <a:ext cx="8412480" cy="1005840"/>
          </a:xfrm>
          <a:prstGeom prst="rect">
            <a:avLst/>
          </a:prstGeom>
          <a:noFill/>
        </p:spPr>
        <p:txBody>
          <a:bodyPr wrap="square" anchor="t" lIns="0" rIns="0" tIns="0" bIns="0">
            <a:spAutoFit/>
          </a:bodyPr>
          <a:lstStyle/>
          <a:p>
            <a:pPr algn="l">
              <a:lnSpc>
                <a:spcPct val="100000"/>
              </a:lnSpc>
              <a:spcAft>
                <a:spcPts val="400"/>
              </a:spcAft>
            </a:pPr>
            <a:r>
              <a:rPr sz="3800" b="1" i="0">
                <a:solidFill>
                  <a:srgbClr val="FFFFFF"/>
                </a:solidFill>
                <a:latin typeface="Segoe UI"/>
              </a:rPr>
              <a:t>From Insight to Action</a:t>
            </a:r>
          </a:p>
        </p:txBody>
      </p:sp>
      <p:sp>
        <p:nvSpPr>
          <p:cNvPr id="5" name="TextBox 4"/>
          <p:cNvSpPr txBox="1"/>
          <p:nvPr/>
        </p:nvSpPr>
        <p:spPr>
          <a:xfrm>
            <a:off x="822960" y="3337560"/>
            <a:ext cx="7863840" cy="1188720"/>
          </a:xfrm>
          <a:prstGeom prst="rect">
            <a:avLst/>
          </a:prstGeom>
          <a:noFill/>
        </p:spPr>
        <p:txBody>
          <a:bodyPr wrap="square" anchor="t" lIns="0" rIns="0" tIns="0" bIns="0">
            <a:spAutoFit/>
          </a:bodyPr>
          <a:lstStyle/>
          <a:p>
            <a:pPr algn="l">
              <a:lnSpc>
                <a:spcPct val="115000"/>
              </a:lnSpc>
              <a:spcAft>
                <a:spcPts val="400"/>
              </a:spcAft>
            </a:pPr>
            <a:r>
              <a:rPr sz="1500" b="0" i="0">
                <a:solidFill>
                  <a:srgbClr val="BFA9B5"/>
                </a:solidFill>
                <a:latin typeface="Segoe UI"/>
              </a:rPr>
              <a:t>Analysis that stays in a notebook helps no one. Here is what we now know, what we recommend, and the tool that is already live.</a:t>
            </a:r>
          </a:p>
        </p:txBody>
      </p:sp>
      <p:pic>
        <p:nvPicPr>
          <p:cNvPr id="6" name="Picture 5" descr="image8.png"/>
          <p:cNvPicPr>
            <a:picLocks noChangeAspect="1"/>
          </p:cNvPicPr>
          <p:nvPr/>
        </p:nvPicPr>
        <p:blipFill>
          <a:blip r:embed="rId3"/>
          <a:stretch>
            <a:fillRect/>
          </a:stretch>
        </p:blipFill>
        <p:spPr>
          <a:xfrm>
            <a:off x="9189720" y="2148840"/>
            <a:ext cx="2286000" cy="2286000"/>
          </a:xfrm>
          <a:prstGeom prst="rect">
            <a:avLst/>
          </a:prstGeom>
        </p:spPr>
      </p:pic>
      <p:sp>
        <p:nvSpPr>
          <p:cNvPr id="7" name="Rectangle 6"/>
          <p:cNvSpPr/>
          <p:nvPr/>
        </p:nvSpPr>
        <p:spPr>
          <a:xfrm>
            <a:off x="822960" y="4526280"/>
            <a:ext cx="1371600" cy="50292"/>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10" name="TextBox 9"/>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23 / 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5 · FROM INSIGHT TO ACTION</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Six things we now know</a:t>
            </a:r>
          </a:p>
        </p:txBody>
      </p:sp>
      <p:sp>
        <p:nvSpPr>
          <p:cNvPr id="5" name="Rounded Rectangle 4"/>
          <p:cNvSpPr/>
          <p:nvPr/>
        </p:nvSpPr>
        <p:spPr>
          <a:xfrm>
            <a:off x="502920"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22376" y="1636776"/>
            <a:ext cx="457200" cy="457200"/>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2376" y="1682496"/>
            <a:ext cx="45720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FFFF"/>
                </a:solidFill>
                <a:latin typeface="Segoe UI"/>
              </a:rPr>
              <a:t>1</a:t>
            </a:r>
          </a:p>
        </p:txBody>
      </p:sp>
      <p:sp>
        <p:nvSpPr>
          <p:cNvPr id="8" name="TextBox 7"/>
          <p:cNvSpPr txBox="1"/>
          <p:nvPr/>
        </p:nvSpPr>
        <p:spPr>
          <a:xfrm>
            <a:off x="1325880" y="1618488"/>
            <a:ext cx="2697480" cy="713232"/>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County is the biggest signal in the data</a:t>
            </a:r>
          </a:p>
        </p:txBody>
      </p:sp>
      <p:sp>
        <p:nvSpPr>
          <p:cNvPr id="9" name="TextBox 8"/>
          <p:cNvSpPr txBox="1"/>
          <p:nvPr/>
        </p:nvSpPr>
        <p:spPr>
          <a:xfrm>
            <a:off x="722376" y="2404872"/>
            <a:ext cx="3200400" cy="10972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Modern use runs from ~1% in Mandera to 57% in Embu — the arid north needs its own approach.</a:t>
            </a:r>
          </a:p>
        </p:txBody>
      </p:sp>
      <p:sp>
        <p:nvSpPr>
          <p:cNvPr id="10" name="Rounded Rectangle 9"/>
          <p:cNvSpPr/>
          <p:nvPr/>
        </p:nvSpPr>
        <p:spPr>
          <a:xfrm>
            <a:off x="4325112"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44568" y="1636776"/>
            <a:ext cx="457200" cy="457200"/>
          </a:xfrm>
          <a:prstGeom prst="ellipse">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4568" y="1682496"/>
            <a:ext cx="45720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FFFF"/>
                </a:solidFill>
                <a:latin typeface="Segoe UI"/>
              </a:rPr>
              <a:t>2</a:t>
            </a:r>
          </a:p>
        </p:txBody>
      </p:sp>
      <p:sp>
        <p:nvSpPr>
          <p:cNvPr id="13" name="TextBox 12"/>
          <p:cNvSpPr txBox="1"/>
          <p:nvPr/>
        </p:nvSpPr>
        <p:spPr>
          <a:xfrm>
            <a:off x="5148072" y="1618488"/>
            <a:ext cx="2697480" cy="713232"/>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No education means being left behind</a:t>
            </a:r>
          </a:p>
        </p:txBody>
      </p:sp>
      <p:sp>
        <p:nvSpPr>
          <p:cNvPr id="14" name="TextBox 13"/>
          <p:cNvSpPr txBox="1"/>
          <p:nvPr/>
        </p:nvSpPr>
        <p:spPr>
          <a:xfrm>
            <a:off x="4544568" y="2404872"/>
            <a:ext cx="3200400" cy="10972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Roughly 12% modern use without schooling vs 37–46% with any — and wealth can't close that gap alone.</a:t>
            </a:r>
          </a:p>
        </p:txBody>
      </p:sp>
      <p:sp>
        <p:nvSpPr>
          <p:cNvPr id="15" name="Rounded Rectangle 14"/>
          <p:cNvSpPr/>
          <p:nvPr/>
        </p:nvSpPr>
        <p:spPr>
          <a:xfrm>
            <a:off x="8147304"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60" y="1636776"/>
            <a:ext cx="457200" cy="457200"/>
          </a:xfrm>
          <a:prstGeom prst="ellipse">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682496"/>
            <a:ext cx="45720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FFFF"/>
                </a:solidFill>
                <a:latin typeface="Segoe UI"/>
              </a:rPr>
              <a:t>3</a:t>
            </a:r>
          </a:p>
        </p:txBody>
      </p:sp>
      <p:sp>
        <p:nvSpPr>
          <p:cNvPr id="18" name="TextBox 17"/>
          <p:cNvSpPr txBox="1"/>
          <p:nvPr/>
        </p:nvSpPr>
        <p:spPr>
          <a:xfrm>
            <a:off x="8970264" y="1618488"/>
            <a:ext cx="2697480" cy="713232"/>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Wealth acts like a cliff</a:t>
            </a:r>
          </a:p>
        </p:txBody>
      </p:sp>
      <p:sp>
        <p:nvSpPr>
          <p:cNvPr id="19" name="TextBox 18"/>
          <p:cNvSpPr txBox="1"/>
          <p:nvPr/>
        </p:nvSpPr>
        <p:spPr>
          <a:xfrm>
            <a:off x="8366760" y="2404872"/>
            <a:ext cx="3200400" cy="10972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25% for the poorest fifth, then flat at 41–43% for everyone else.</a:t>
            </a:r>
          </a:p>
        </p:txBody>
      </p:sp>
      <p:sp>
        <p:nvSpPr>
          <p:cNvPr id="20" name="Rounded Rectangle 19"/>
          <p:cNvSpPr/>
          <p:nvPr/>
        </p:nvSpPr>
        <p:spPr>
          <a:xfrm>
            <a:off x="502920"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22376" y="4014216"/>
            <a:ext cx="457200" cy="457200"/>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6" y="4059936"/>
            <a:ext cx="45720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FFFF"/>
                </a:solidFill>
                <a:latin typeface="Segoe UI"/>
              </a:rPr>
              <a:t>4</a:t>
            </a:r>
          </a:p>
        </p:txBody>
      </p:sp>
      <p:sp>
        <p:nvSpPr>
          <p:cNvPr id="23" name="TextBox 22"/>
          <p:cNvSpPr txBox="1"/>
          <p:nvPr/>
        </p:nvSpPr>
        <p:spPr>
          <a:xfrm>
            <a:off x="1325880" y="3995928"/>
            <a:ext cx="2697480" cy="713232"/>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Where you live barely matters — who you are does</a:t>
            </a:r>
          </a:p>
        </p:txBody>
      </p:sp>
      <p:sp>
        <p:nvSpPr>
          <p:cNvPr id="24" name="TextBox 23"/>
          <p:cNvSpPr txBox="1"/>
          <p:nvPr/>
        </p:nvSpPr>
        <p:spPr>
          <a:xfrm>
            <a:off x="722376" y="4782312"/>
            <a:ext cx="3200400" cy="10972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Urban and rural women both sit at ~38%; county, poverty and schooling drive the real differences.</a:t>
            </a:r>
          </a:p>
        </p:txBody>
      </p:sp>
      <p:sp>
        <p:nvSpPr>
          <p:cNvPr id="25" name="Rounded Rectangle 24"/>
          <p:cNvSpPr/>
          <p:nvPr/>
        </p:nvSpPr>
        <p:spPr>
          <a:xfrm>
            <a:off x="4325112"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544568" y="4014216"/>
            <a:ext cx="457200" cy="457200"/>
          </a:xfrm>
          <a:prstGeom prst="ellipse">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44568" y="4059936"/>
            <a:ext cx="45720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FFFF"/>
                </a:solidFill>
                <a:latin typeface="Segoe UI"/>
              </a:rPr>
              <a:t>5</a:t>
            </a:r>
          </a:p>
        </p:txBody>
      </p:sp>
      <p:sp>
        <p:nvSpPr>
          <p:cNvPr id="28" name="TextBox 27"/>
          <p:cNvSpPr txBox="1"/>
          <p:nvPr/>
        </p:nvSpPr>
        <p:spPr>
          <a:xfrm>
            <a:off x="5148072" y="3995928"/>
            <a:ext cx="2697480" cy="713232"/>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The best model improved with tuning — and stays honest</a:t>
            </a:r>
          </a:p>
        </p:txBody>
      </p:sp>
      <p:sp>
        <p:nvSpPr>
          <p:cNvPr id="29" name="TextBox 28"/>
          <p:cNvSpPr txBox="1"/>
          <p:nvPr/>
        </p:nvSpPr>
        <p:spPr>
          <a:xfrm>
            <a:off x="4544568" y="4782312"/>
            <a:ext cx="3200400" cy="10972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LightGBM won the five-model contest and Optuna tuning lifted it to 95.9% accuracy / 0.951 macro AUC — used as a two-way risk flag, not a four-class oracle.</a:t>
            </a:r>
          </a:p>
        </p:txBody>
      </p:sp>
      <p:sp>
        <p:nvSpPr>
          <p:cNvPr id="30" name="Rounded Rectangle 29"/>
          <p:cNvSpPr/>
          <p:nvPr/>
        </p:nvSpPr>
        <p:spPr>
          <a:xfrm>
            <a:off x="8147304"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366760" y="4014216"/>
            <a:ext cx="457200" cy="457200"/>
          </a:xfrm>
          <a:prstGeom prst="ellipse">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66760" y="4059936"/>
            <a:ext cx="457200" cy="365760"/>
          </a:xfrm>
          <a:prstGeom prst="rect">
            <a:avLst/>
          </a:prstGeom>
          <a:noFill/>
        </p:spPr>
        <p:txBody>
          <a:bodyPr wrap="square" anchor="t" lIns="0" rIns="0" tIns="0" bIns="0">
            <a:spAutoFit/>
          </a:bodyPr>
          <a:lstStyle/>
          <a:p>
            <a:pPr algn="ctr">
              <a:lnSpc>
                <a:spcPct val="100000"/>
              </a:lnSpc>
              <a:spcAft>
                <a:spcPts val="400"/>
              </a:spcAft>
            </a:pPr>
            <a:r>
              <a:rPr sz="1600" b="1" i="0">
                <a:solidFill>
                  <a:srgbClr val="FFFFFF"/>
                </a:solidFill>
                <a:latin typeface="Segoe UI"/>
              </a:rPr>
              <a:t>6</a:t>
            </a:r>
          </a:p>
        </p:txBody>
      </p:sp>
      <p:sp>
        <p:nvSpPr>
          <p:cNvPr id="33" name="TextBox 32"/>
          <p:cNvSpPr txBox="1"/>
          <p:nvPr/>
        </p:nvSpPr>
        <p:spPr>
          <a:xfrm>
            <a:off x="8970264" y="3995928"/>
            <a:ext cx="2697480" cy="713232"/>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The drivers are knowable and usable</a:t>
            </a:r>
          </a:p>
        </p:txBody>
      </p:sp>
      <p:sp>
        <p:nvSpPr>
          <p:cNvPr id="34" name="TextBox 33"/>
          <p:cNvSpPr txBox="1"/>
          <p:nvPr/>
        </p:nvSpPr>
        <p:spPr>
          <a:xfrm>
            <a:off x="8366760" y="4782312"/>
            <a:ext cx="3200400" cy="1097280"/>
          </a:xfrm>
          <a:prstGeom prst="rect">
            <a:avLst/>
          </a:prstGeom>
          <a:noFill/>
        </p:spPr>
        <p:txBody>
          <a:bodyPr wrap="square" anchor="t" lIns="0" rIns="0" tIns="0" bIns="0">
            <a:spAutoFit/>
          </a:bodyPr>
          <a:lstStyle/>
          <a:p>
            <a:pPr algn="l">
              <a:lnSpc>
                <a:spcPct val="112000"/>
              </a:lnSpc>
              <a:spcAft>
                <a:spcPts val="400"/>
              </a:spcAft>
            </a:pPr>
            <a:r>
              <a:rPr sz="1050" b="0" i="0">
                <a:solidFill>
                  <a:srgbClr val="6E5F68"/>
                </a:solidFill>
                <a:latin typeface="Segoe UI"/>
              </a:rPr>
              <a:t>Age and children lead; union status enables; arid geography blocks; employment is the lever programmes can pull.</a:t>
            </a:r>
          </a:p>
        </p:txBody>
      </p:sp>
      <p:sp>
        <p:nvSpPr>
          <p:cNvPr id="35" name="Rectangle 34"/>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37" name="TextBox 36"/>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24 / 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5 · FROM INSIGHT TO ACTION</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What we recommend — and to whom</a:t>
            </a:r>
          </a:p>
        </p:txBody>
      </p:sp>
      <p:sp>
        <p:nvSpPr>
          <p:cNvPr id="5" name="Rounded Rectangle 4"/>
          <p:cNvSpPr/>
          <p:nvPr/>
        </p:nvSpPr>
        <p:spPr>
          <a:xfrm>
            <a:off x="8595360" y="384048"/>
            <a:ext cx="3090672" cy="310896"/>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0" y="425196"/>
            <a:ext cx="3090672" cy="256032"/>
          </a:xfrm>
          <a:prstGeom prst="rect">
            <a:avLst/>
          </a:prstGeom>
          <a:noFill/>
        </p:spPr>
        <p:txBody>
          <a:bodyPr wrap="square" anchor="t" lIns="0" rIns="0" tIns="0" bIns="0">
            <a:spAutoFit/>
          </a:bodyPr>
          <a:lstStyle/>
          <a:p>
            <a:pPr algn="ctr">
              <a:lnSpc>
                <a:spcPct val="100000"/>
              </a:lnSpc>
              <a:spcAft>
                <a:spcPts val="400"/>
              </a:spcAft>
            </a:pPr>
            <a:r>
              <a:rPr sz="900" b="1" i="0">
                <a:solidFill>
                  <a:srgbClr val="FFFFFF"/>
                </a:solidFill>
                <a:latin typeface="Segoe UI"/>
              </a:rPr>
              <a:t>ANSWERS QUESTION 2 — PLACES &amp; PEOPLE</a:t>
            </a:r>
          </a:p>
        </p:txBody>
      </p:sp>
      <p:sp>
        <p:nvSpPr>
          <p:cNvPr id="7" name="Rounded Rectangle 6"/>
          <p:cNvSpPr/>
          <p:nvPr/>
        </p:nvSpPr>
        <p:spPr>
          <a:xfrm>
            <a:off x="502920"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08760"/>
            <a:ext cx="64008" cy="201168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 y="1563624"/>
            <a:ext cx="3246120" cy="658368"/>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Give the arid north its own programme tier</a:t>
            </a:r>
          </a:p>
        </p:txBody>
      </p:sp>
      <p:sp>
        <p:nvSpPr>
          <p:cNvPr id="10" name="TextBox 9"/>
          <p:cNvSpPr txBox="1"/>
          <p:nvPr/>
        </p:nvSpPr>
        <p:spPr>
          <a:xfrm>
            <a:off x="722376" y="2276856"/>
            <a:ext cx="324612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E91E63"/>
                </a:solidFill>
                <a:latin typeface="Segoe UI"/>
              </a:rPr>
              <a:t>MOH · UNFPA</a:t>
            </a:r>
          </a:p>
        </p:txBody>
      </p:sp>
      <p:sp>
        <p:nvSpPr>
          <p:cNvPr id="11" name="TextBox 10"/>
          <p:cNvSpPr txBox="1"/>
          <p:nvPr/>
        </p:nvSpPr>
        <p:spPr>
          <a:xfrm>
            <a:off x="722376" y="2569464"/>
            <a:ext cx="3246120" cy="96012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Mandera, Wajir, Garissa, Marsabit and Tana River face real infrastructure barriers — dedicated budget and staffing, not a share of a uniform plan.</a:t>
            </a:r>
          </a:p>
        </p:txBody>
      </p:sp>
      <p:sp>
        <p:nvSpPr>
          <p:cNvPr id="12" name="Rounded Rectangle 11"/>
          <p:cNvSpPr/>
          <p:nvPr/>
        </p:nvSpPr>
        <p:spPr>
          <a:xfrm>
            <a:off x="4325112"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25112" y="1508760"/>
            <a:ext cx="64008" cy="2011680"/>
          </a:xfrm>
          <a:prstGeom prst="rect">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4568" y="1563624"/>
            <a:ext cx="3246120" cy="658368"/>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Use the four-question doorstep checklist</a:t>
            </a:r>
          </a:p>
        </p:txBody>
      </p:sp>
      <p:sp>
        <p:nvSpPr>
          <p:cNvPr id="15" name="TextBox 14"/>
          <p:cNvSpPr txBox="1"/>
          <p:nvPr/>
        </p:nvSpPr>
        <p:spPr>
          <a:xfrm>
            <a:off x="4544568" y="2276856"/>
            <a:ext cx="324612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E91E63"/>
                </a:solidFill>
                <a:latin typeface="Segoe UI"/>
              </a:rPr>
              <a:t>COMMUNITY HEALTH PROMOTERS</a:t>
            </a:r>
          </a:p>
        </p:txBody>
      </p:sp>
      <p:sp>
        <p:nvSpPr>
          <p:cNvPr id="16" name="TextBox 15"/>
          <p:cNvSpPr txBox="1"/>
          <p:nvPr/>
        </p:nvSpPr>
        <p:spPr>
          <a:xfrm>
            <a:off x="4544568" y="2569464"/>
            <a:ext cx="3246120" cy="96012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In a union + not employed + poorest wealth group + arid county = priority visit. No model, smartphone or training required.</a:t>
            </a:r>
          </a:p>
        </p:txBody>
      </p:sp>
      <p:sp>
        <p:nvSpPr>
          <p:cNvPr id="17" name="Rounded Rectangle 16"/>
          <p:cNvSpPr/>
          <p:nvPr/>
        </p:nvSpPr>
        <p:spPr>
          <a:xfrm>
            <a:off x="8147304" y="141732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47304" y="1508760"/>
            <a:ext cx="64008" cy="2011680"/>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563624"/>
            <a:ext cx="3246120" cy="658368"/>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Fund women's employment as family planning</a:t>
            </a:r>
          </a:p>
        </p:txBody>
      </p:sp>
      <p:sp>
        <p:nvSpPr>
          <p:cNvPr id="20" name="TextBox 19"/>
          <p:cNvSpPr txBox="1"/>
          <p:nvPr/>
        </p:nvSpPr>
        <p:spPr>
          <a:xfrm>
            <a:off x="8366760" y="2276856"/>
            <a:ext cx="324612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E91E63"/>
                </a:solidFill>
                <a:latin typeface="Segoe UI"/>
              </a:rPr>
              <a:t>COUNTIES · NGOS</a:t>
            </a:r>
          </a:p>
        </p:txBody>
      </p:sp>
      <p:sp>
        <p:nvSpPr>
          <p:cNvPr id="21" name="TextBox 20"/>
          <p:cNvSpPr txBox="1"/>
          <p:nvPr/>
        </p:nvSpPr>
        <p:spPr>
          <a:xfrm>
            <a:off x="8366760" y="2569464"/>
            <a:ext cx="3246120" cy="96012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Employment is the strongest driver a programme can actually change — co-locate family planning with microfinance and vocational training.</a:t>
            </a:r>
          </a:p>
        </p:txBody>
      </p:sp>
      <p:sp>
        <p:nvSpPr>
          <p:cNvPr id="22" name="Rounded Rectangle 21"/>
          <p:cNvSpPr/>
          <p:nvPr/>
        </p:nvSpPr>
        <p:spPr>
          <a:xfrm>
            <a:off x="502920"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3886200"/>
            <a:ext cx="64008" cy="2011680"/>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 y="3941064"/>
            <a:ext cx="3246120" cy="658368"/>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Aim subsidies at the poorest fifth</a:t>
            </a:r>
          </a:p>
        </p:txBody>
      </p:sp>
      <p:sp>
        <p:nvSpPr>
          <p:cNvPr id="25" name="TextBox 24"/>
          <p:cNvSpPr txBox="1"/>
          <p:nvPr/>
        </p:nvSpPr>
        <p:spPr>
          <a:xfrm>
            <a:off x="722376" y="4654296"/>
            <a:ext cx="324612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E91E63"/>
                </a:solidFill>
                <a:latin typeface="Segoe UI"/>
              </a:rPr>
              <a:t>MOH · USAID</a:t>
            </a:r>
          </a:p>
        </p:txBody>
      </p:sp>
      <p:sp>
        <p:nvSpPr>
          <p:cNvPr id="26" name="TextBox 25"/>
          <p:cNvSpPr txBox="1"/>
          <p:nvPr/>
        </p:nvSpPr>
        <p:spPr>
          <a:xfrm>
            <a:off x="722376" y="4946904"/>
            <a:ext cx="3246120" cy="96012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The wealth cliff means targeted free supplies beat universal subsidies on impact per shilling.</a:t>
            </a:r>
          </a:p>
        </p:txBody>
      </p:sp>
      <p:sp>
        <p:nvSpPr>
          <p:cNvPr id="27" name="Rounded Rectangle 26"/>
          <p:cNvSpPr/>
          <p:nvPr/>
        </p:nvSpPr>
        <p:spPr>
          <a:xfrm>
            <a:off x="4325112"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325112" y="3886200"/>
            <a:ext cx="64008" cy="2011680"/>
          </a:xfrm>
          <a:prstGeom prst="rect">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44568" y="3941064"/>
            <a:ext cx="3246120" cy="658368"/>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Don't chase the rare classes</a:t>
            </a:r>
          </a:p>
        </p:txBody>
      </p:sp>
      <p:sp>
        <p:nvSpPr>
          <p:cNvPr id="30" name="TextBox 29"/>
          <p:cNvSpPr txBox="1"/>
          <p:nvPr/>
        </p:nvSpPr>
        <p:spPr>
          <a:xfrm>
            <a:off x="4544568" y="4654296"/>
            <a:ext cx="324612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E91E63"/>
                </a:solidFill>
                <a:latin typeface="Segoe UI"/>
              </a:rPr>
              <a:t>ALL PARTNERS</a:t>
            </a:r>
          </a:p>
        </p:txBody>
      </p:sp>
      <p:sp>
        <p:nvSpPr>
          <p:cNvPr id="31" name="TextBox 30"/>
          <p:cNvSpPr txBox="1"/>
          <p:nvPr/>
        </p:nvSpPr>
        <p:spPr>
          <a:xfrm>
            <a:off x="4544568" y="4946904"/>
            <a:ext cx="3246120" cy="96012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Treat the model as a two-way risk flag. Promising four-class precision would fail exactly where the data is weakest — and cost trust.</a:t>
            </a:r>
          </a:p>
        </p:txBody>
      </p:sp>
      <p:sp>
        <p:nvSpPr>
          <p:cNvPr id="32" name="Rounded Rectangle 31"/>
          <p:cNvSpPr/>
          <p:nvPr/>
        </p:nvSpPr>
        <p:spPr>
          <a:xfrm>
            <a:off x="8147304" y="3794760"/>
            <a:ext cx="3611880" cy="21945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47304" y="3886200"/>
            <a:ext cx="64008" cy="2011680"/>
          </a:xfrm>
          <a:prstGeom prst="rect">
            <a:avLst/>
          </a:prstGeom>
          <a:solidFill>
            <a:srgbClr val="261E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66760" y="3941064"/>
            <a:ext cx="3246120" cy="658368"/>
          </a:xfrm>
          <a:prstGeom prst="rect">
            <a:avLst/>
          </a:prstGeom>
          <a:noFill/>
        </p:spPr>
        <p:txBody>
          <a:bodyPr wrap="square" anchor="t" lIns="0" rIns="0" tIns="0" bIns="0">
            <a:spAutoFit/>
          </a:bodyPr>
          <a:lstStyle/>
          <a:p>
            <a:pPr algn="l">
              <a:lnSpc>
                <a:spcPct val="105000"/>
              </a:lnSpc>
              <a:spcAft>
                <a:spcPts val="400"/>
              </a:spcAft>
            </a:pPr>
            <a:r>
              <a:rPr sz="1200" b="1" i="0">
                <a:solidFill>
                  <a:srgbClr val="1A1418"/>
                </a:solidFill>
                <a:latin typeface="Segoe UI"/>
              </a:rPr>
              <a:t>Put the live tool in the workflow</a:t>
            </a:r>
          </a:p>
        </p:txBody>
      </p:sp>
      <p:sp>
        <p:nvSpPr>
          <p:cNvPr id="35" name="TextBox 34"/>
          <p:cNvSpPr txBox="1"/>
          <p:nvPr/>
        </p:nvSpPr>
        <p:spPr>
          <a:xfrm>
            <a:off x="8366760" y="4654296"/>
            <a:ext cx="324612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E91E63"/>
                </a:solidFill>
                <a:latin typeface="Segoe UI"/>
              </a:rPr>
              <a:t>CHMTS · FP2030</a:t>
            </a:r>
          </a:p>
        </p:txBody>
      </p:sp>
      <p:sp>
        <p:nvSpPr>
          <p:cNvPr id="36" name="TextBox 35"/>
          <p:cNvSpPr txBox="1"/>
          <p:nvPr/>
        </p:nvSpPr>
        <p:spPr>
          <a:xfrm>
            <a:off x="8366760" y="4946904"/>
            <a:ext cx="3246120" cy="96012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The API returns a prediction and risk flag for any profile — usable from a browser today, or integrated into county dashboards (DHIS2).</a:t>
            </a:r>
          </a:p>
        </p:txBody>
      </p:sp>
      <p:sp>
        <p:nvSpPr>
          <p:cNvPr id="37" name="Rectangle 36"/>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39" name="TextBox 38"/>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25 / 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3.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384048"/>
            <a:ext cx="8229600" cy="274320"/>
          </a:xfrm>
          <a:prstGeom prst="rect">
            <a:avLst/>
          </a:prstGeom>
          <a:noFill/>
        </p:spPr>
        <p:txBody>
          <a:bodyPr wrap="square" anchor="t" lIns="0" rIns="0" tIns="0" bIns="0">
            <a:spAutoFit/>
          </a:bodyPr>
          <a:lstStyle/>
          <a:p>
            <a:pPr algn="l">
              <a:lnSpc>
                <a:spcPct val="100000"/>
              </a:lnSpc>
              <a:spcAft>
                <a:spcPts val="400"/>
              </a:spcAft>
            </a:pPr>
            <a:r>
              <a:rPr sz="1250" b="1" i="0">
                <a:solidFill>
                  <a:srgbClr val="FF5CA8"/>
                </a:solidFill>
                <a:latin typeface="Segoe UI"/>
              </a:rPr>
              <a:t>PART 5 · FROM INSIGHT TO ACTION</a:t>
            </a:r>
          </a:p>
        </p:txBody>
      </p:sp>
      <p:sp>
        <p:nvSpPr>
          <p:cNvPr id="4" name="TextBox 3"/>
          <p:cNvSpPr txBox="1"/>
          <p:nvPr/>
        </p:nvSpPr>
        <p:spPr>
          <a:xfrm>
            <a:off x="502920" y="621792"/>
            <a:ext cx="11155680" cy="685800"/>
          </a:xfrm>
          <a:prstGeom prst="rect">
            <a:avLst/>
          </a:prstGeom>
          <a:noFill/>
        </p:spPr>
        <p:txBody>
          <a:bodyPr wrap="square" anchor="t" lIns="0" rIns="0" tIns="0" bIns="0">
            <a:spAutoFit/>
          </a:bodyPr>
          <a:lstStyle/>
          <a:p>
            <a:pPr algn="l">
              <a:lnSpc>
                <a:spcPct val="100000"/>
              </a:lnSpc>
              <a:spcAft>
                <a:spcPts val="400"/>
              </a:spcAft>
            </a:pPr>
            <a:r>
              <a:rPr sz="2800" b="1" i="0">
                <a:solidFill>
                  <a:srgbClr val="FFFFFF"/>
                </a:solidFill>
                <a:latin typeface="Segoe UI"/>
              </a:rPr>
              <a:t>It's not a slide — it's already live, and it works</a:t>
            </a:r>
          </a:p>
        </p:txBody>
      </p:sp>
      <p:sp>
        <p:nvSpPr>
          <p:cNvPr id="5" name="Rounded Rectangle 4"/>
          <p:cNvSpPr/>
          <p:nvPr/>
        </p:nvSpPr>
        <p:spPr>
          <a:xfrm>
            <a:off x="502920" y="1417320"/>
            <a:ext cx="2697480" cy="16002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417320"/>
            <a:ext cx="2697480" cy="109728"/>
          </a:xfrm>
          <a:prstGeom prst="roundRect">
            <a:avLst>
              <a:gd name="adj" fmla="val 50000"/>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91640"/>
            <a:ext cx="2331720" cy="548640"/>
          </a:xfrm>
          <a:prstGeom prst="rect">
            <a:avLst/>
          </a:prstGeom>
          <a:noFill/>
        </p:spPr>
        <p:txBody>
          <a:bodyPr wrap="square" anchor="t" lIns="0" rIns="0" tIns="0" bIns="0">
            <a:spAutoFit/>
          </a:bodyPr>
          <a:lstStyle/>
          <a:p>
            <a:pPr algn="l">
              <a:lnSpc>
                <a:spcPct val="100000"/>
              </a:lnSpc>
              <a:spcAft>
                <a:spcPts val="400"/>
              </a:spcAft>
            </a:pPr>
            <a:r>
              <a:rPr sz="1300" b="1" i="0">
                <a:solidFill>
                  <a:srgbClr val="1A1418"/>
                </a:solidFill>
                <a:latin typeface="Segoe UI"/>
              </a:rPr>
              <a:t>A woman's profile</a:t>
            </a:r>
          </a:p>
        </p:txBody>
      </p:sp>
      <p:sp>
        <p:nvSpPr>
          <p:cNvPr id="8" name="TextBox 7"/>
          <p:cNvSpPr txBox="1"/>
          <p:nvPr/>
        </p:nvSpPr>
        <p:spPr>
          <a:xfrm>
            <a:off x="685800" y="2286000"/>
            <a:ext cx="2331720" cy="64008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age · county · education · wealth · family</a:t>
            </a:r>
          </a:p>
        </p:txBody>
      </p:sp>
      <p:sp>
        <p:nvSpPr>
          <p:cNvPr id="9" name="TextBox 8"/>
          <p:cNvSpPr txBox="1"/>
          <p:nvPr/>
        </p:nvSpPr>
        <p:spPr>
          <a:xfrm>
            <a:off x="3154680" y="2011680"/>
            <a:ext cx="365760" cy="365760"/>
          </a:xfrm>
          <a:prstGeom prst="rect">
            <a:avLst/>
          </a:prstGeom>
          <a:noFill/>
        </p:spPr>
        <p:txBody>
          <a:bodyPr wrap="square" anchor="t" lIns="0" rIns="0" tIns="0" bIns="0">
            <a:spAutoFit/>
          </a:bodyPr>
          <a:lstStyle/>
          <a:p>
            <a:pPr algn="ctr">
              <a:lnSpc>
                <a:spcPct val="100000"/>
              </a:lnSpc>
              <a:spcAft>
                <a:spcPts val="400"/>
              </a:spcAft>
            </a:pPr>
            <a:r>
              <a:rPr sz="1800" b="1" i="0">
                <a:solidFill>
                  <a:srgbClr val="FF5CA8"/>
                </a:solidFill>
                <a:latin typeface="Segoe UI"/>
              </a:rPr>
              <a:t>→</a:t>
            </a:r>
          </a:p>
        </p:txBody>
      </p:sp>
      <p:sp>
        <p:nvSpPr>
          <p:cNvPr id="10" name="Rounded Rectangle 9"/>
          <p:cNvSpPr/>
          <p:nvPr/>
        </p:nvSpPr>
        <p:spPr>
          <a:xfrm>
            <a:off x="3465576" y="1417320"/>
            <a:ext cx="2697480" cy="16002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65576" y="1417320"/>
            <a:ext cx="2697480" cy="109728"/>
          </a:xfrm>
          <a:prstGeom prst="roundRect">
            <a:avLst>
              <a:gd name="adj" fmla="val 50000"/>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8456" y="1691640"/>
            <a:ext cx="2331720" cy="548640"/>
          </a:xfrm>
          <a:prstGeom prst="rect">
            <a:avLst/>
          </a:prstGeom>
          <a:noFill/>
        </p:spPr>
        <p:txBody>
          <a:bodyPr wrap="square" anchor="t" lIns="0" rIns="0" tIns="0" bIns="0">
            <a:spAutoFit/>
          </a:bodyPr>
          <a:lstStyle/>
          <a:p>
            <a:pPr algn="l">
              <a:lnSpc>
                <a:spcPct val="100000"/>
              </a:lnSpc>
              <a:spcAft>
                <a:spcPts val="400"/>
              </a:spcAft>
            </a:pPr>
            <a:r>
              <a:rPr sz="1300" b="1" i="0">
                <a:solidFill>
                  <a:srgbClr val="1A1418"/>
                </a:solidFill>
                <a:latin typeface="Segoe UI"/>
              </a:rPr>
              <a:t>The sealed pipeline</a:t>
            </a:r>
          </a:p>
        </p:txBody>
      </p:sp>
      <p:sp>
        <p:nvSpPr>
          <p:cNvPr id="13" name="TextBox 12"/>
          <p:cNvSpPr txBox="1"/>
          <p:nvPr/>
        </p:nvSpPr>
        <p:spPr>
          <a:xfrm>
            <a:off x="3648456" y="2286000"/>
            <a:ext cx="2331720" cy="64008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same cleaning &amp; features as the notebook</a:t>
            </a:r>
          </a:p>
        </p:txBody>
      </p:sp>
      <p:sp>
        <p:nvSpPr>
          <p:cNvPr id="14" name="TextBox 13"/>
          <p:cNvSpPr txBox="1"/>
          <p:nvPr/>
        </p:nvSpPr>
        <p:spPr>
          <a:xfrm>
            <a:off x="6117336" y="2011680"/>
            <a:ext cx="365760" cy="365760"/>
          </a:xfrm>
          <a:prstGeom prst="rect">
            <a:avLst/>
          </a:prstGeom>
          <a:noFill/>
        </p:spPr>
        <p:txBody>
          <a:bodyPr wrap="square" anchor="t" lIns="0" rIns="0" tIns="0" bIns="0">
            <a:spAutoFit/>
          </a:bodyPr>
          <a:lstStyle/>
          <a:p>
            <a:pPr algn="ctr">
              <a:lnSpc>
                <a:spcPct val="100000"/>
              </a:lnSpc>
              <a:spcAft>
                <a:spcPts val="400"/>
              </a:spcAft>
            </a:pPr>
            <a:r>
              <a:rPr sz="1800" b="1" i="0">
                <a:solidFill>
                  <a:srgbClr val="FF5CA8"/>
                </a:solidFill>
                <a:latin typeface="Segoe UI"/>
              </a:rPr>
              <a:t>→</a:t>
            </a:r>
          </a:p>
        </p:txBody>
      </p:sp>
      <p:sp>
        <p:nvSpPr>
          <p:cNvPr id="15" name="Rounded Rectangle 14"/>
          <p:cNvSpPr/>
          <p:nvPr/>
        </p:nvSpPr>
        <p:spPr>
          <a:xfrm>
            <a:off x="6428232" y="1417320"/>
            <a:ext cx="2697480" cy="16002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28232" y="1417320"/>
            <a:ext cx="2697480" cy="109728"/>
          </a:xfrm>
          <a:prstGeom prst="roundRect">
            <a:avLst>
              <a:gd name="adj" fmla="val 50000"/>
            </a:avLst>
          </a:prstGeom>
          <a:solidFill>
            <a:srgbClr val="AD1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11112" y="1691640"/>
            <a:ext cx="2331720" cy="548640"/>
          </a:xfrm>
          <a:prstGeom prst="rect">
            <a:avLst/>
          </a:prstGeom>
          <a:noFill/>
        </p:spPr>
        <p:txBody>
          <a:bodyPr wrap="square" anchor="t" lIns="0" rIns="0" tIns="0" bIns="0">
            <a:spAutoFit/>
          </a:bodyPr>
          <a:lstStyle/>
          <a:p>
            <a:pPr algn="l">
              <a:lnSpc>
                <a:spcPct val="100000"/>
              </a:lnSpc>
              <a:spcAft>
                <a:spcPts val="400"/>
              </a:spcAft>
            </a:pPr>
            <a:r>
              <a:rPr sz="1300" b="1" i="0">
                <a:solidFill>
                  <a:srgbClr val="1A1418"/>
                </a:solidFill>
                <a:latin typeface="Segoe UI"/>
              </a:rPr>
              <a:t>LightGBM predicts</a:t>
            </a:r>
          </a:p>
        </p:txBody>
      </p:sp>
      <p:sp>
        <p:nvSpPr>
          <p:cNvPr id="18" name="TextBox 17"/>
          <p:cNvSpPr txBox="1"/>
          <p:nvPr/>
        </p:nvSpPr>
        <p:spPr>
          <a:xfrm>
            <a:off x="6611112" y="2286000"/>
            <a:ext cx="2331720" cy="64008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class probabilities for her profile</a:t>
            </a:r>
          </a:p>
        </p:txBody>
      </p:sp>
      <p:sp>
        <p:nvSpPr>
          <p:cNvPr id="19" name="TextBox 18"/>
          <p:cNvSpPr txBox="1"/>
          <p:nvPr/>
        </p:nvSpPr>
        <p:spPr>
          <a:xfrm>
            <a:off x="9079992" y="2011680"/>
            <a:ext cx="365760" cy="365760"/>
          </a:xfrm>
          <a:prstGeom prst="rect">
            <a:avLst/>
          </a:prstGeom>
          <a:noFill/>
        </p:spPr>
        <p:txBody>
          <a:bodyPr wrap="square" anchor="t" lIns="0" rIns="0" tIns="0" bIns="0">
            <a:spAutoFit/>
          </a:bodyPr>
          <a:lstStyle/>
          <a:p>
            <a:pPr algn="ctr">
              <a:lnSpc>
                <a:spcPct val="100000"/>
              </a:lnSpc>
              <a:spcAft>
                <a:spcPts val="400"/>
              </a:spcAft>
            </a:pPr>
            <a:r>
              <a:rPr sz="1800" b="1" i="0">
                <a:solidFill>
                  <a:srgbClr val="FF5CA8"/>
                </a:solidFill>
                <a:latin typeface="Segoe UI"/>
              </a:rPr>
              <a:t>→</a:t>
            </a:r>
          </a:p>
        </p:txBody>
      </p:sp>
      <p:sp>
        <p:nvSpPr>
          <p:cNvPr id="20" name="Rounded Rectangle 19"/>
          <p:cNvSpPr/>
          <p:nvPr/>
        </p:nvSpPr>
        <p:spPr>
          <a:xfrm>
            <a:off x="9390888" y="1417320"/>
            <a:ext cx="2697480" cy="160020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390888" y="1417320"/>
            <a:ext cx="2697480" cy="109728"/>
          </a:xfrm>
          <a:prstGeom prst="roundRect">
            <a:avLst>
              <a:gd name="adj" fmla="val 50000"/>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73768" y="1691640"/>
            <a:ext cx="2331720" cy="548640"/>
          </a:xfrm>
          <a:prstGeom prst="rect">
            <a:avLst/>
          </a:prstGeom>
          <a:noFill/>
        </p:spPr>
        <p:txBody>
          <a:bodyPr wrap="square" anchor="t" lIns="0" rIns="0" tIns="0" bIns="0">
            <a:spAutoFit/>
          </a:bodyPr>
          <a:lstStyle/>
          <a:p>
            <a:pPr algn="l">
              <a:lnSpc>
                <a:spcPct val="100000"/>
              </a:lnSpc>
              <a:spcAft>
                <a:spcPts val="400"/>
              </a:spcAft>
            </a:pPr>
            <a:r>
              <a:rPr sz="1300" b="1" i="0">
                <a:solidFill>
                  <a:srgbClr val="1A1418"/>
                </a:solidFill>
                <a:latin typeface="Segoe UI"/>
              </a:rPr>
              <a:t>Action guidance</a:t>
            </a:r>
          </a:p>
        </p:txBody>
      </p:sp>
      <p:sp>
        <p:nvSpPr>
          <p:cNvPr id="23" name="TextBox 22"/>
          <p:cNvSpPr txBox="1"/>
          <p:nvPr/>
        </p:nvSpPr>
        <p:spPr>
          <a:xfrm>
            <a:off x="9573768" y="2286000"/>
            <a:ext cx="2331720" cy="640080"/>
          </a:xfrm>
          <a:prstGeom prst="rect">
            <a:avLst/>
          </a:prstGeom>
          <a:noFill/>
        </p:spPr>
        <p:txBody>
          <a:bodyPr wrap="square" anchor="t" lIns="0" rIns="0" tIns="0" bIns="0">
            <a:spAutoFit/>
          </a:bodyPr>
          <a:lstStyle/>
          <a:p>
            <a:pPr algn="l">
              <a:lnSpc>
                <a:spcPct val="110000"/>
              </a:lnSpc>
              <a:spcAft>
                <a:spcPts val="400"/>
              </a:spcAft>
            </a:pPr>
            <a:r>
              <a:rPr sz="1000" b="0" i="0">
                <a:solidFill>
                  <a:srgbClr val="6E5F68"/>
                </a:solidFill>
                <a:latin typeface="Segoe UI"/>
              </a:rPr>
              <a:t>risk flag: non-use risk / using a method</a:t>
            </a:r>
          </a:p>
        </p:txBody>
      </p:sp>
      <p:sp>
        <p:nvSpPr>
          <p:cNvPr id="24" name="Rounded Rectangle 23"/>
          <p:cNvSpPr/>
          <p:nvPr/>
        </p:nvSpPr>
        <p:spPr>
          <a:xfrm>
            <a:off x="502920" y="3291840"/>
            <a:ext cx="11201400" cy="173736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401568"/>
            <a:ext cx="64008" cy="151790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3438144"/>
            <a:ext cx="1083564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E91E63"/>
                </a:solidFill>
                <a:latin typeface="Segoe UI"/>
              </a:rPr>
              <a:t>VERIFIED END-TO-END — A REAL TEST CASE</a:t>
            </a:r>
          </a:p>
        </p:txBody>
      </p:sp>
      <p:sp>
        <p:nvSpPr>
          <p:cNvPr id="27" name="TextBox 26"/>
          <p:cNvSpPr txBox="1"/>
          <p:nvPr/>
        </p:nvSpPr>
        <p:spPr>
          <a:xfrm>
            <a:off x="704088" y="3730752"/>
            <a:ext cx="10817352" cy="1188719"/>
          </a:xfrm>
          <a:prstGeom prst="rect">
            <a:avLst/>
          </a:prstGeom>
          <a:noFill/>
        </p:spPr>
        <p:txBody>
          <a:bodyPr wrap="square" anchor="t" lIns="0" rIns="0" tIns="0" bIns="0">
            <a:spAutoFit/>
          </a:bodyPr>
          <a:lstStyle/>
          <a:p>
            <a:pPr algn="l">
              <a:lnSpc>
                <a:spcPct val="108000"/>
              </a:lnSpc>
              <a:spcAft>
                <a:spcPts val="400"/>
              </a:spcAft>
            </a:pPr>
            <a:r>
              <a:rPr sz="1250" b="0" i="0">
                <a:solidFill>
                  <a:srgbClr val="1A1418"/>
                </a:solidFill>
                <a:latin typeface="Segoe UI"/>
              </a:rPr>
              <a:t>We sent a real profile through the live system: a 28-year-old married woman from Turkana — an arid county — primary-educated, in the poorest wealth group, unemployed, with three children. </a:t>
            </a:r>
          </a:p>
          <a:p>
            <a:pPr algn="l">
              <a:lnSpc>
                <a:spcPct val="108000"/>
              </a:lnSpc>
              <a:spcAft>
                <a:spcPts val="400"/>
              </a:spcAft>
            </a:pPr>
            <a:r>
              <a:rPr sz="1250" b="1" i="0">
                <a:solidFill>
                  <a:srgbClr val="1A1418"/>
                </a:solidFill>
                <a:latin typeface="Segoe UI"/>
              </a:rPr>
              <a:t>The model flagged her as a non-use risk (52% “No method” vs 41% “Modern”) — exactly the profile the analysis says outreach should prioritise. </a:t>
            </a:r>
            <a:r>
              <a:rPr sz="1250" b="0" i="0">
                <a:solidFill>
                  <a:srgbClr val="1A1418"/>
                </a:solidFill>
                <a:latin typeface="Segoe UI"/>
              </a:rPr>
              <a:t>The prediction, the reasoning and the recommendation all point the same way.</a:t>
            </a:r>
          </a:p>
        </p:txBody>
      </p:sp>
      <p:sp>
        <p:nvSpPr>
          <p:cNvPr id="28" name="Rounded Rectangle 27"/>
          <p:cNvSpPr/>
          <p:nvPr/>
        </p:nvSpPr>
        <p:spPr>
          <a:xfrm>
            <a:off x="2103120" y="5257800"/>
            <a:ext cx="7982712" cy="868680"/>
          </a:xfrm>
          <a:prstGeom prst="roundRect">
            <a:avLst>
              <a:gd name="adj" fmla="val 5500"/>
            </a:avLst>
          </a:prstGeom>
          <a:solidFill>
            <a:srgbClr val="FFFFFF"/>
          </a:solidFill>
          <a:ln w="12700">
            <a:solidFill>
              <a:srgbClr val="E9D3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103120" y="5504688"/>
            <a:ext cx="7982712" cy="457200"/>
          </a:xfrm>
          <a:prstGeom prst="rect">
            <a:avLst/>
          </a:prstGeom>
          <a:noFill/>
        </p:spPr>
        <p:txBody>
          <a:bodyPr wrap="square" anchor="t" lIns="0" rIns="0" tIns="0" bIns="0">
            <a:spAutoFit/>
          </a:bodyPr>
          <a:lstStyle/>
          <a:p>
            <a:pPr algn="ctr">
              <a:lnSpc>
                <a:spcPct val="100000"/>
              </a:lnSpc>
              <a:spcAft>
                <a:spcPts val="400"/>
              </a:spcAft>
            </a:pPr>
            <a:r>
              <a:rPr sz="1700" b="1" i="0">
                <a:solidFill>
                  <a:srgbClr val="E91E63"/>
                </a:solidFill>
                <a:latin typeface="Segoe UI"/>
              </a:rPr>
              <a:t>kdhs-contraceptive-api.onrender.com</a:t>
            </a:r>
          </a:p>
        </p:txBody>
      </p:sp>
      <p:sp>
        <p:nvSpPr>
          <p:cNvPr id="30" name="Rectangle 29"/>
          <p:cNvSpPr/>
          <p:nvPr/>
        </p:nvSpPr>
        <p:spPr>
          <a:xfrm>
            <a:off x="502920" y="6455664"/>
            <a:ext cx="11183112" cy="10972"/>
          </a:xfrm>
          <a:prstGeom prst="rect">
            <a:avLst/>
          </a:prstGeom>
          <a:solidFill>
            <a:srgbClr val="3A2D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6510528"/>
            <a:ext cx="6400800" cy="274320"/>
          </a:xfrm>
          <a:prstGeom prst="rect">
            <a:avLst/>
          </a:prstGeom>
          <a:noFill/>
        </p:spPr>
        <p:txBody>
          <a:bodyPr wrap="square" anchor="t" lIns="0" rIns="0" tIns="0" bIns="0">
            <a:spAutoFit/>
          </a:bodyPr>
          <a:lstStyle/>
          <a:p>
            <a:pPr algn="l">
              <a:lnSpc>
                <a:spcPct val="100000"/>
              </a:lnSpc>
              <a:spcAft>
                <a:spcPts val="400"/>
              </a:spcAft>
            </a:pPr>
            <a:r>
              <a:rPr sz="850" b="1" i="0">
                <a:solidFill>
                  <a:srgbClr val="BFA9B5"/>
                </a:solidFill>
                <a:latin typeface="Segoe UI"/>
              </a:rPr>
              <a:t>THE INSIGHT ARCHITECTS  ·  KDHS 2022 CAPSTONE</a:t>
            </a:r>
          </a:p>
        </p:txBody>
      </p:sp>
      <p:sp>
        <p:nvSpPr>
          <p:cNvPr id="32" name="TextBox 31"/>
          <p:cNvSpPr txBox="1"/>
          <p:nvPr/>
        </p:nvSpPr>
        <p:spPr>
          <a:xfrm>
            <a:off x="10607040" y="6510528"/>
            <a:ext cx="1078992" cy="274320"/>
          </a:xfrm>
          <a:prstGeom prst="rect">
            <a:avLst/>
          </a:prstGeom>
          <a:noFill/>
        </p:spPr>
        <p:txBody>
          <a:bodyPr wrap="square" anchor="t" lIns="0" rIns="0" tIns="0" bIns="0">
            <a:spAutoFit/>
          </a:bodyPr>
          <a:lstStyle/>
          <a:p>
            <a:pPr algn="r">
              <a:lnSpc>
                <a:spcPct val="100000"/>
              </a:lnSpc>
              <a:spcAft>
                <a:spcPts val="400"/>
              </a:spcAft>
            </a:pPr>
            <a:r>
              <a:rPr sz="850" b="1" i="0">
                <a:solidFill>
                  <a:srgbClr val="BFA9B5"/>
                </a:solidFill>
                <a:latin typeface="Segoe UI"/>
              </a:rPr>
              <a:t>26 / 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1.pn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6400800" y="2194560"/>
            <a:ext cx="5486400" cy="4114800"/>
          </a:xfrm>
          <a:prstGeom prst="roundRect">
            <a:avLst>
              <a:gd name="adj" fmla="val 4000"/>
            </a:avLst>
          </a:prstGeom>
          <a:solidFill>
            <a:srgbClr val="FFFFFF"/>
          </a:solidFill>
          <a:ln w="12700">
            <a:solidFill>
              <a:srgbClr val="E91E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2.png"/>
          <p:cNvPicPr>
            <a:picLocks noChangeAspect="1"/>
          </p:cNvPicPr>
          <p:nvPr/>
        </p:nvPicPr>
        <p:blipFill>
          <a:blip r:embed="rId3"/>
          <a:stretch>
            <a:fillRect/>
          </a:stretch>
        </p:blipFill>
        <p:spPr>
          <a:xfrm>
            <a:off x="6583680" y="2395728"/>
            <a:ext cx="5120640" cy="3621024"/>
          </a:xfrm>
          <a:prstGeom prst="rect">
            <a:avLst/>
          </a:prstGeom>
        </p:spPr>
      </p:pic>
      <p:sp>
        <p:nvSpPr>
          <p:cNvPr id="5" name="TextBox 4"/>
          <p:cNvSpPr txBox="1"/>
          <p:nvPr/>
        </p:nvSpPr>
        <p:spPr>
          <a:xfrm>
            <a:off x="640080" y="548640"/>
            <a:ext cx="7315200" cy="320040"/>
          </a:xfrm>
          <a:prstGeom prst="rect">
            <a:avLst/>
          </a:prstGeom>
          <a:noFill/>
        </p:spPr>
        <p:txBody>
          <a:bodyPr wrap="square" anchor="t" lIns="0" rIns="0" tIns="0" bIns="0">
            <a:spAutoFit/>
          </a:bodyPr>
          <a:lstStyle/>
          <a:p>
            <a:pPr algn="l">
              <a:lnSpc>
                <a:spcPct val="100000"/>
              </a:lnSpc>
              <a:spcAft>
                <a:spcPts val="400"/>
              </a:spcAft>
            </a:pPr>
            <a:r>
              <a:rPr sz="1300" b="1" i="0">
                <a:solidFill>
                  <a:srgbClr val="FF5CA8"/>
                </a:solidFill>
                <a:latin typeface="Segoe UI"/>
              </a:rPr>
              <a:t>THE INSIGHT ARCHITECTS</a:t>
            </a:r>
          </a:p>
        </p:txBody>
      </p:sp>
      <p:sp>
        <p:nvSpPr>
          <p:cNvPr id="6" name="TextBox 5"/>
          <p:cNvSpPr txBox="1"/>
          <p:nvPr/>
        </p:nvSpPr>
        <p:spPr>
          <a:xfrm>
            <a:off x="640080" y="1051560"/>
            <a:ext cx="6400800" cy="1005840"/>
          </a:xfrm>
          <a:prstGeom prst="rect">
            <a:avLst/>
          </a:prstGeom>
          <a:noFill/>
        </p:spPr>
        <p:txBody>
          <a:bodyPr wrap="square" anchor="t" lIns="0" rIns="0" tIns="0" bIns="0">
            <a:spAutoFit/>
          </a:bodyPr>
          <a:lstStyle/>
          <a:p>
            <a:pPr algn="l">
              <a:lnSpc>
                <a:spcPct val="100000"/>
              </a:lnSpc>
              <a:spcAft>
                <a:spcPts val="400"/>
              </a:spcAft>
            </a:pPr>
            <a:r>
              <a:rPr sz="4800" b="1" i="0">
                <a:solidFill>
                  <a:srgbClr val="FFFFFF"/>
                </a:solidFill>
                <a:latin typeface="Segoe UI"/>
              </a:rPr>
              <a:t>Thank you</a:t>
            </a:r>
          </a:p>
        </p:txBody>
      </p:sp>
      <p:sp>
        <p:nvSpPr>
          <p:cNvPr id="7" name="Rectangle 6"/>
          <p:cNvSpPr/>
          <p:nvPr/>
        </p:nvSpPr>
        <p:spPr>
          <a:xfrm>
            <a:off x="667512" y="2057400"/>
            <a:ext cx="1371600" cy="5486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86000"/>
            <a:ext cx="5394960" cy="548640"/>
          </a:xfrm>
          <a:prstGeom prst="rect">
            <a:avLst/>
          </a:prstGeom>
          <a:noFill/>
        </p:spPr>
        <p:txBody>
          <a:bodyPr wrap="square" anchor="t" lIns="0" rIns="0" tIns="0" bIns="0">
            <a:spAutoFit/>
          </a:bodyPr>
          <a:lstStyle/>
          <a:p>
            <a:pPr algn="l">
              <a:lnSpc>
                <a:spcPct val="100000"/>
              </a:lnSpc>
              <a:spcAft>
                <a:spcPts val="400"/>
              </a:spcAft>
            </a:pPr>
            <a:r>
              <a:rPr sz="1500" b="0" i="0">
                <a:solidFill>
                  <a:srgbClr val="BFA9B5"/>
                </a:solidFill>
                <a:latin typeface="Segoe UI"/>
              </a:rPr>
              <a:t>Questions &amp; discussion welcome.</a:t>
            </a:r>
          </a:p>
        </p:txBody>
      </p:sp>
      <p:sp>
        <p:nvSpPr>
          <p:cNvPr id="9" name="Oval 8"/>
          <p:cNvSpPr/>
          <p:nvPr/>
        </p:nvSpPr>
        <p:spPr>
          <a:xfrm>
            <a:off x="640080" y="3044951"/>
            <a:ext cx="109728" cy="109728"/>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971800"/>
            <a:ext cx="210312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Claire Simiyu</a:t>
            </a:r>
          </a:p>
        </p:txBody>
      </p:sp>
      <p:sp>
        <p:nvSpPr>
          <p:cNvPr id="11" name="Oval 10"/>
          <p:cNvSpPr/>
          <p:nvPr/>
        </p:nvSpPr>
        <p:spPr>
          <a:xfrm>
            <a:off x="3017520" y="3044951"/>
            <a:ext cx="109728" cy="109728"/>
          </a:xfrm>
          <a:prstGeom prst="ellipse">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36976" y="2971800"/>
            <a:ext cx="210312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Antony Sila</a:t>
            </a:r>
          </a:p>
        </p:txBody>
      </p:sp>
      <p:sp>
        <p:nvSpPr>
          <p:cNvPr id="13" name="Oval 12"/>
          <p:cNvSpPr/>
          <p:nvPr/>
        </p:nvSpPr>
        <p:spPr>
          <a:xfrm>
            <a:off x="640080" y="3502151"/>
            <a:ext cx="109728" cy="109728"/>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3429000"/>
            <a:ext cx="210312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David Theuri</a:t>
            </a:r>
          </a:p>
        </p:txBody>
      </p:sp>
      <p:sp>
        <p:nvSpPr>
          <p:cNvPr id="15" name="Oval 14"/>
          <p:cNvSpPr/>
          <p:nvPr/>
        </p:nvSpPr>
        <p:spPr>
          <a:xfrm>
            <a:off x="3017520" y="3502151"/>
            <a:ext cx="109728" cy="109728"/>
          </a:xfrm>
          <a:prstGeom prst="ellipse">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36976" y="3429000"/>
            <a:ext cx="210312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Shadrack Symekah</a:t>
            </a:r>
          </a:p>
        </p:txBody>
      </p:sp>
      <p:sp>
        <p:nvSpPr>
          <p:cNvPr id="17" name="Oval 16"/>
          <p:cNvSpPr/>
          <p:nvPr/>
        </p:nvSpPr>
        <p:spPr>
          <a:xfrm>
            <a:off x="640080" y="3959352"/>
            <a:ext cx="109728" cy="1097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 y="3886200"/>
            <a:ext cx="210312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Joy Nyuguto</a:t>
            </a:r>
          </a:p>
        </p:txBody>
      </p:sp>
      <p:sp>
        <p:nvSpPr>
          <p:cNvPr id="19" name="Oval 18"/>
          <p:cNvSpPr/>
          <p:nvPr/>
        </p:nvSpPr>
        <p:spPr>
          <a:xfrm>
            <a:off x="3017520" y="3959352"/>
            <a:ext cx="109728" cy="10972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36976" y="3886200"/>
            <a:ext cx="210312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F4E6EE"/>
                </a:solidFill>
                <a:latin typeface="Segoe UI"/>
              </a:rPr>
              <a:t>Martin Kitema</a:t>
            </a:r>
          </a:p>
        </p:txBody>
      </p:sp>
      <p:sp>
        <p:nvSpPr>
          <p:cNvPr id="21" name="TextBox 20"/>
          <p:cNvSpPr txBox="1"/>
          <p:nvPr/>
        </p:nvSpPr>
        <p:spPr>
          <a:xfrm>
            <a:off x="640080" y="4663440"/>
            <a:ext cx="566928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BFA9B5"/>
                </a:solidFill>
                <a:latin typeface="Segoe UI"/>
              </a:rPr>
              <a:t>Live tool:   </a:t>
            </a:r>
            <a:r>
              <a:rPr sz="1200" b="1" i="0">
                <a:solidFill>
                  <a:srgbClr val="FF5CA8"/>
                </a:solidFill>
                <a:latin typeface="Segoe UI"/>
              </a:rPr>
              <a:t>kdhs-contraceptive-api.onrender.com</a:t>
            </a:r>
          </a:p>
        </p:txBody>
      </p:sp>
      <p:sp>
        <p:nvSpPr>
          <p:cNvPr id="22" name="TextBox 21"/>
          <p:cNvSpPr txBox="1"/>
          <p:nvPr/>
        </p:nvSpPr>
        <p:spPr>
          <a:xfrm>
            <a:off x="640080" y="5029200"/>
            <a:ext cx="5669280" cy="365760"/>
          </a:xfrm>
          <a:prstGeom prst="rect">
            <a:avLst/>
          </a:prstGeom>
          <a:noFill/>
        </p:spPr>
        <p:txBody>
          <a:bodyPr wrap="square" anchor="t" lIns="0" rIns="0" tIns="0" bIns="0">
            <a:spAutoFit/>
          </a:bodyPr>
          <a:lstStyle/>
          <a:p>
            <a:pPr algn="l">
              <a:lnSpc>
                <a:spcPct val="100000"/>
              </a:lnSpc>
              <a:spcAft>
                <a:spcPts val="400"/>
              </a:spcAft>
            </a:pPr>
            <a:r>
              <a:rPr sz="1200" b="0" i="0">
                <a:solidFill>
                  <a:srgbClr val="BFA9B5"/>
                </a:solidFill>
                <a:latin typeface="Segoe UI"/>
              </a:rPr>
              <a:t>Code &amp; data:   </a:t>
            </a:r>
            <a:r>
              <a:rPr sz="1200" b="1" i="0">
                <a:solidFill>
                  <a:srgbClr val="FF5CA8"/>
                </a:solidFill>
                <a:latin typeface="Segoe UI"/>
              </a:rPr>
              <a:t>github.com/symekah1999 — KDHS 2022 Capstone</a:t>
            </a:r>
          </a:p>
        </p:txBody>
      </p:sp>
      <p:sp>
        <p:nvSpPr>
          <p:cNvPr id="23" name="Rectangle 22"/>
          <p:cNvSpPr/>
          <p:nvPr/>
        </p:nvSpPr>
        <p:spPr>
          <a:xfrm>
            <a:off x="0" y="6711696"/>
            <a:ext cx="5394960" cy="146304"/>
          </a:xfrm>
          <a:prstGeom prst="rect">
            <a:avLst/>
          </a:prstGeom>
          <a:solidFill>
            <a:srgbClr val="E91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394960" y="6711696"/>
            <a:ext cx="3474720" cy="146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869680" y="6711696"/>
            <a:ext cx="3322015" cy="146304"/>
          </a:xfrm>
          <a:prstGeom prst="rect">
            <a:avLst/>
          </a:prstGeom>
          <a:solidFill>
            <a:srgbClr val="F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