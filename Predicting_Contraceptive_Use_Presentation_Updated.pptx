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371600"/>
            <a:ext cx="100584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1100" b="1" i="0">
                <a:solidFill>
                  <a:srgbClr val="D97706"/>
                </a:solidFill>
                <a:latin typeface="Segoe UI"/>
              </a:defRPr>
            </a:pPr>
            <a:r>
              <a:t>DATA SCIENCE CAPSTONE SHOWCASE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  <a:defRPr sz="4600" b="1" i="0">
                <a:solidFill>
                  <a:srgbClr val="FFFFFF"/>
                </a:solidFill>
                <a:latin typeface="Segoe UI"/>
              </a:defRPr>
            </a:pPr>
            <a:r>
              <a:t>Predicting Contraceptive Use</a:t>
            </a:r>
            <a:br/>
            <a:r>
              <a:t>Among Kenyan Women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 i="0">
                <a:solidFill>
                  <a:srgbClr val="CBD5E1"/>
                </a:solidFill>
                <a:latin typeface="Segoe UI"/>
              </a:defRPr>
            </a:pPr>
            <a:r>
              <a:t>A Machine Learning &amp; Deep Learning Approach to</a:t>
            </a:r>
            <a:br/>
            <a:r>
              <a:t>Targeting Family Planning Interventions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8463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  <a:defRPr sz="1300" b="1" i="0">
                <a:solidFill>
                  <a:srgbClr val="CBD5E1"/>
                </a:solidFill>
                <a:latin typeface="Segoe UI"/>
              </a:defRPr>
            </a:pPr>
            <a:r>
              <a:t>Prepared by: The Insight Architects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  <a:defRPr sz="1200" b="0" i="0">
                <a:solidFill>
                  <a:srgbClr val="FFFFFF"/>
                </a:solidFill>
                <a:latin typeface="Segoe UI"/>
              </a:defRPr>
            </a:pPr>
            <a:r>
              <a:t>Joy Nyuguto  •  Martin Kitema  •  Shadrack Symekah  •  Clare Simiyu  •  Antony Sila  •  David Theuri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defRPr sz="1100" b="1" i="0">
                <a:solidFill>
                  <a:srgbClr val="0D9488"/>
                </a:solidFill>
                <a:latin typeface="Segoe UI"/>
              </a:defRPr>
            </a:pPr>
            <a:r>
              <a:t>Moringa School  •  Nairobi, Kenya  •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Exploratory Data Analysis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Understanding the demographic, socioeconomic, and geographic landscape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Project Overview &amp; Target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The Core Problem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Kenya’s modern contraceptive prevalence rate (mCPR) is ~60% nationally, but this hides severe regional and socioeconomic disparities.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Our goal: predict modern contraceptive use to help health planners target resources effectively.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Target Variable (4-Class)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No method: 58.1% of women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Modern method: 37.9%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Traditional: 3.8%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Folkloric: 0.2%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The extreme class imbalance (0.2% Folkloric) is a key modeling challenge addressed via SMOTE resampling.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077664"/>
            <a:ext cx="4967935" cy="35256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Demographics: Age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Age Profile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Most women are in their twenties (mean ≈ 29, median 28). Numbers thin toward the upper bound of 49.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This captures the primary reproductive age demographic accurately (KDHS 2022 sampled women aged 15–49).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Initial Numeric Summary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Household size and living children are heavily right-skewed.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8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print('Rows and columns:', df.shape)</a:t>
            </a:r>
            <a:br/>
            <a:r>
              <a:t>df.describe().T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01120"/>
            <a:ext cx="4967935" cy="3078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Demographics: Education Level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5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Education Level Distribution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Primary &amp; Secondary: ~37% each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Higher education: ~15%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No formal education: ~12%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 large share of the target demographic has only primary schooling or below, underscoring the need for literacy-linked health campaigns.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01120"/>
            <a:ext cx="4967935" cy="3078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Socioeconomics: Wealth &amp; Residence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6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Wealth Index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Five wealth quintiles are roughly balanced (18–22% each), giving even economic representation.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Residence Type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Rural: 62%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Urban: 38%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Urban women have marginally higher resource access, but the rural majority is the primary focus for policy.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01120"/>
            <a:ext cx="4967935" cy="3078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Bivariate: Education as a Driver of Uptake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7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Education as a Catalyst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The starkest gap: women with no education (~12% modern use) vs. any education (~37–46%).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Even primary education significantly boosts adoption.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Wealth: A Threshold, Not a Gradient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The Poorest quintile stands out (~25% use). Above that, rates flatten at 41–43%.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Once extreme poverty is cleared, non-economic factors dominate.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01120"/>
            <a:ext cx="4967935" cy="3078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Bivariate: Wealth as a Driver of Uptake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8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Socioeconomic Barriers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The Poorest quintile is a critical cliff where use drops to ~25%.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This indicates a barrier requiring direct subsidies or free distribution to bridge.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Above the poverty line, uptake is stable (~42%), showing that education and geography matter more than incremental wealth.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01120"/>
            <a:ext cx="4967935" cy="3078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Geographic Disparities: Modern Use by County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Massive County-Level Variation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Lowest: Mandera (~1%), Wajir, Garissa, Marsabit (&lt;6%)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Highest: Embu, Meru, Nyeri, Kirinyaga (&gt;50%)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All low-use counties are in the arid/semi-arid north (ASAL regions), pointing to systemic infrastructure barriers beyond individual choice.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Implication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Geographically targeted interventions are essential — national averages mislead.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892" y="1691640"/>
            <a:ext cx="350831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Multivariate: Does Wealth Overcome Lack of Education?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10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Education Trumps Wealth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Among women with no education, modern use stays 9–21% regardless of household wealth.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Conversely, highly educated women in the Poorest households still adopt at ~36%.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Key Takeaway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Literacy and health education are far more critical than income for long-term family planning adoption.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75896"/>
            <a:ext cx="4967935" cy="29291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Feature Correlation &amp; Collinearity Audit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11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Correlation Matrix Findings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children_ever_born and living_children have r = 0.98 — nearly perfectly collinear.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We resolved this by deriving child_loss and surviving_ratio instead.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Other Observations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Age correlates moderately with children ever born (~0.65)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Wealth and education show a moderate positive relationship (~0.45)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These informed our feature engineering decisions.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00666"/>
            <a:ext cx="4967935" cy="40796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Data Engineering &amp; Preprocessing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Cleaning, encoding, and preparing model-ready features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Data Integrity &amp; Cleaning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Structural Missingness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Two columns had missing values: age_first_birth and partner_education.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These are not errors — they represent women who have never given birth or have no partner.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Imputed 0 for age_first_birth for nulliparous women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Created a has_given_birth binary flag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Duplicates Resolution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274 rows flagged as duplicates. Audit confirmed they are distinct women with identical profiles.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All 32,156 rows deliberately retained for statistical integrity.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Post-Cleaning Validation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8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missing = df.isnull().sum()</a:t>
            </a:r>
            <a:br/>
            <a:r>
              <a:t>print(missing[missing &gt; 0])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8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print('Duplicate rows:', df.duplicated().sum())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Assertions Enforced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8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assert df.isnull().sum().sum() == 0</a:t>
            </a:r>
            <a:br/>
            <a:r>
              <a:t>assert df.shape[0] == 32156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Every downstream step inherits guaranteed data completeness.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Feature Engineering: Encoding with Intent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14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Ordinal Encoding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Naturally ordered variables (education, wealth, age_group) encoded ordinally so tree models exploit monotonic structure.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Nominal One-Hot Encoding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County, region, religion, marital status → one-hot. Feature space: 36 → 126 columns.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Collinearity Resolution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Derived child_loss and surviving_ratio from the r=0.98 collinear pair.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Key Engineered Features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has_partner — 1 if partner education exists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education_gap — partner’s minus woman’s education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child_density — children / household size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arid_county — binary flag for ASAL regions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age_at_first_birth_gap — years since first birth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All features motivated directly by EDA findings.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Modeling &amp; Evaluation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Five models benchmarked: from logistic regression to self-attention transformers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Resampling &amp; Model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16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45720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11480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Train-Test Split &amp; Resampling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Stratified 80/20 split preserves rare classes (Folkloric 0.2%, Traditional 3.8%).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SMOTE applied to training data only, upsampling minority classes to 14,955 rows each.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Selection Verdict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LightGBM (Tuned) selected for deployment: best Macro-AUC (0.798) and accuracy (72.4%).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1508760"/>
            <a:ext cx="58823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0720" y="2606040"/>
          <a:ext cx="560801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03"/>
                <a:gridCol w="1402003"/>
                <a:gridCol w="1402003"/>
                <a:gridCol w="1402006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Macro AUC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LightGBM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72.4%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0.367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0.798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70.6%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0.775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Deep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70.3%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TabTransformer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64.8%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0.754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Logistic Reg. (Base)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54.8%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Deep Learning Benchmarks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17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Deep MLP (4-Layer)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BatchNorm + Dropout + Adam optimizer.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70.3% accuracy, best Modern-class recall (75%)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AUC only 0.751 — discrete survey data limits gains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TabTransformer (Self-Attention)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13 categorical embeddings (16-dim) + 2-head attention.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34% recall on Traditional class (highest of all models)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LightGBM: 0%, Random Forest: 9%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Attention correctly captures region×religion×marital interactions.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TabTransformer Architecture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13 categorical embeddings (16-dim)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2-head self-attention layer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Concatenated with projected numerics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MLP classification head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Future Potential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Highly promising for production with more data. Attention weights identified confounding union-status and county structure.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Final Model Evaluation: Tuned LightGBM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18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Selected: LightGBM (Tuned)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Sequential gradient boosting; validation loss plateaued at iteration 226 (no overfitting).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Hold-Out Performance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Accuracy: 72.4%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Macro-AUC: 0.798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Modern Recall: 71%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No-method Recall: 78%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Success Criteria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Planned targets (Acc ≥ 78%, AUC ≥ 0.82) not fully met due to the 4-class long-tail challenge. Realistic expectation-setting is essential in public health modeling.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01703"/>
            <a:ext cx="4967935" cy="347755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Confusion Matrix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19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Majority-Class Discrimination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No-method: 78% precision &amp; recall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Modern: 64% precision, 71% recall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Rare-Class Suppression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LightGBM suppresses Traditional/Folkloric predictions. Gradient boosting downweights rare-class residuals once majority classes fit.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Actionable Insight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Deploy as a binary risk flag (likely non-user vs. likely modern user). 4-class predictions risk false precision with stakeholders.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350099"/>
            <a:ext cx="4967935" cy="298076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Model Interpretability via SHAP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20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Top SHAP Drivers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1. Age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Strongest driver. Older women pushed toward modern use (spacing/limiting), younger away.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2. Living Children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Women adopt contraception after having children, not before.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3. Employment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Most policy-actionable. Employed women pushed toward modern use.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4. Arid County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ASAL residence acts as a massive penalty regardless of wealth, education, or religion — pointing to infrastructure barriers.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lot_cell_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32752"/>
            <a:ext cx="4967935" cy="341545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63824"/>
            <a:ext cx="12191695" cy="228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defRPr sz="3600" b="1" i="0">
                <a:solidFill>
                  <a:srgbClr val="FFFFFF"/>
                </a:solidFill>
                <a:latin typeface="Segoe UI"/>
              </a:defRPr>
            </a:pPr>
            <a:r>
              <a:t>Deployment &amp; Recommendations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 i="0">
                <a:solidFill>
                  <a:srgbClr val="CBD5E1"/>
                </a:solidFill>
                <a:latin typeface="Segoe UI"/>
              </a:defRPr>
            </a:pPr>
            <a:r>
              <a:t>From model to actionable policy impact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Web Application &amp; Serve-Skew Prevention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22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51206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6634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Interactive Web Application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Deployed on Render.com for healthcare stakeholders (Ministry of Health, Community Health Promoters).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Serve-Skew Prevention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Feature engineering code lives in a standalone feature_engineering.py module.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Both notebook and Flask API import the exact same file — mismatches structurally impossible.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08760"/>
            <a:ext cx="533369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876495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Flask API Endpoints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800"/>
              </a:spcAft>
              <a:defRPr sz="1000" b="0" i="0">
                <a:solidFill>
                  <a:srgbClr val="0F172A"/>
                </a:solidFill>
                <a:latin typeface="Consolas"/>
              </a:defRPr>
            </a:pPr>
            <a:r>
              <a:t>GET  /         HTML Form Interface</a:t>
            </a:r>
            <a:br/>
            <a:r>
              <a:t>GET  /health   Server Healthcheck</a:t>
            </a:r>
            <a:br/>
            <a:r>
              <a:t>POST /predict  Single Prediction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Live Deployment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URL: kdhs-contraceptive-api.onrender.com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Auth: X-API-Key header required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Response: JSON with class probabilities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91695" cy="274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900" b="1" i="0">
                <a:solidFill>
                  <a:srgbClr val="0D9488"/>
                </a:solidFill>
                <a:latin typeface="Segoe UI"/>
              </a:defRPr>
            </a:pPr>
            <a:r>
              <a:t>CAPSTONE PROJECT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 i="0">
                <a:solidFill>
                  <a:srgbClr val="0F172A"/>
                </a:solidFill>
                <a:latin typeface="Segoe UI"/>
              </a:defRPr>
            </a:pPr>
            <a:r>
              <a:t>Actionable Policy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23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1060704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76200" dist="38100" dir="5400000" algn="tl" rotWithShape="0">
              <a:srgbClr val="000000">
                <a:alpha val="2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1014984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1. Geographic Prioritization in ASAL Regions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Arid counties (Mandera, Wajir, Garissa) face systemic barriers pulling adoption below 6%. Fund mobile clinics and supply chains.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2. Target the Right Women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4-variable filter for Community Health Promoters: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Currently in a union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Unemployed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Poorest quintile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Living in an arid county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This isolates exposed non-users, avoiding wasted outreach visits.</a:t>
            </a:r>
          </a:p>
          <a:p>
            <a:pPr>
              <a:lnSpc>
                <a:spcPct val="110000"/>
              </a:lnSpc>
              <a:spcBef>
                <a:spcPts val="1000"/>
              </a:spcBef>
              <a:spcAft>
                <a:spcPts val="300"/>
              </a:spcAft>
              <a:defRPr sz="1500" b="1" i="0">
                <a:solidFill>
                  <a:srgbClr val="0D9488"/>
                </a:solidFill>
                <a:latin typeface="Segoe UI"/>
              </a:defRPr>
            </a:pPr>
            <a:r>
              <a:t>3. Subsidize the Poorest Quintile</a:t>
            </a:r>
          </a:p>
          <a:p>
            <a:pPr>
              <a:lnSpc>
                <a:spcPct val="120000"/>
              </a:lnSpc>
              <a:spcBef>
                <a:spcPts val="200"/>
              </a:spcBef>
              <a:spcAft>
                <a:spcPts val="500"/>
              </a:spcAft>
              <a:defRPr sz="1200" b="0" i="0">
                <a:solidFill>
                  <a:srgbClr val="334155"/>
                </a:solidFill>
                <a:latin typeface="Segoe UI"/>
              </a:defRPr>
            </a:pPr>
            <a:r>
              <a:t>Modern use jumps from 25% (Poorest) to 41% (Poorer) then flattens. Target subsidies at the Poorest exclusively for maximum ROI.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18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defRPr sz="5200" b="1" i="0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800"/>
              </a:spcAft>
              <a:defRPr sz="3000" b="0" i="0">
                <a:solidFill>
                  <a:srgbClr val="D97706"/>
                </a:solidFill>
                <a:latin typeface="Segoe UI"/>
              </a:defRPr>
            </a:pPr>
            <a:r>
              <a:t>Questions &amp; Answers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1400" b="1" i="0">
                <a:solidFill>
                  <a:srgbClr val="94A3B8"/>
                </a:solidFill>
                <a:latin typeface="Segoe UI"/>
              </a:defRPr>
            </a:pPr>
            <a:r>
              <a:t>GitHub: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defRPr sz="1300" b="0" i="0">
                <a:solidFill>
                  <a:srgbClr val="CBD5E1"/>
                </a:solidFill>
                <a:latin typeface="Segoe UI"/>
              </a:defRPr>
            </a:pPr>
            <a:r>
              <a:t>github.com/symekah1999/Predicting-contraceptive-use-among-women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 sz="1400" b="1" i="0">
                <a:solidFill>
                  <a:srgbClr val="94A3B8"/>
                </a:solidFill>
                <a:latin typeface="Segoe UI"/>
              </a:defRPr>
            </a:pPr>
            <a:r>
              <a:t>Live App: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300" b="0" i="0">
                <a:solidFill>
                  <a:srgbClr val="CBD5E1"/>
                </a:solidFill>
                <a:latin typeface="Segoe UI"/>
              </a:defRPr>
            </a:pPr>
            <a:r>
              <a:t>kdhs-contraceptive-api.onrender.com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473952"/>
            <a:ext cx="1082009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10528"/>
            <a:ext cx="108173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900" b="0" i="0">
                <a:solidFill>
                  <a:srgbClr val="64748B"/>
                </a:solidFill>
                <a:latin typeface="Segoe UI"/>
              </a:defRPr>
            </a:pPr>
            <a:r>
              <a:t>Moringa School Capstone  •  The Insight Architects  •  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