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10058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1100" b="1" i="0">
                <a:solidFill>
                  <a:srgbClr val="D97706"/>
                </a:solidFill>
                <a:latin typeface="Segoe UI"/>
              </a:defRPr>
            </a:pPr>
            <a:r>
              <a:t>DATA SCIENCE CAPSTONE SHOWCASE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defRPr sz="4600" b="1" i="0">
                <a:solidFill>
                  <a:srgbClr val="FFFFFF"/>
                </a:solidFill>
                <a:latin typeface="Segoe UI"/>
              </a:defRPr>
            </a:pPr>
            <a:r>
              <a:t>Predicting Contraceptive Use</a:t>
            </a:r>
            <a:br/>
            <a:r>
              <a:t>Among Kenyan Women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CBD5E1"/>
                </a:solidFill>
                <a:latin typeface="Segoe UI"/>
              </a:defRPr>
            </a:pPr>
            <a:r>
              <a:t>A Machine Learning &amp; Deep Learning Approach to</a:t>
            </a:r>
            <a:br/>
            <a:r>
              <a:t>Targeting Family Planning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8463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 i="0">
                <a:solidFill>
                  <a:srgbClr val="CBD5E1"/>
                </a:solidFill>
                <a:latin typeface="Segoe UI"/>
              </a:defRPr>
            </a:pPr>
            <a:r>
              <a:t>Prepared by: The Insight Architects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  <a:defRPr sz="1200" b="0" i="0">
                <a:solidFill>
                  <a:srgbClr val="FFFFFF"/>
                </a:solidFill>
                <a:latin typeface="Segoe UI"/>
              </a:defRPr>
            </a:pPr>
            <a:r>
              <a:t>Joy Nyuguto  •  Martin Kitema  •  Shadrack Symekah  •  Clare Simiyu  •  Antony Sila  •  David Theuri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D9488"/>
                </a:solidFill>
                <a:latin typeface="Segoe UI"/>
              </a:defRPr>
            </a:pPr>
            <a:r>
              <a:t>Moringa School  •  Nairobi, Kenya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63824"/>
            <a:ext cx="12191695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Exploratory Data Analysis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CBD5E1"/>
                </a:solidFill>
                <a:latin typeface="Segoe UI"/>
              </a:defRPr>
            </a:pPr>
            <a:r>
              <a:t>Understanding the demographic, socioeconomic, and geographic landscape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Project Overview &amp; Target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3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The Core Problem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Kenya’s mCPR is ~60% nationally, hiding severe regional/socioeconomic disparities.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Goal: predict modern contraceptive use to help health planners target resources.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Target Variable (4-Class)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No method: 58.1% (18,694 women)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Modern method: 37.9% (12,195)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Traditional: 3.8% (1,214)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Folkloric: 0.2% (53 women)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The extreme class imbalance (Folkloric has only 53 cases) is a key challenge.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rget_distribution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00509"/>
            <a:ext cx="5059375" cy="22799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Demographics: Age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4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Age Profile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Mean age ≈ 29.1, median 28. Numbers thin toward the 49 upper bound.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KDHS 2022 sampled women aged 15–49 across all 47 counties.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Numeric Summary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Household size and living children are right-skewed.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600"/>
              </a:spcAft>
              <a:defRPr sz="1000" b="0" i="0">
                <a:solidFill>
                  <a:srgbClr val="0F172A"/>
                </a:solidFill>
                <a:latin typeface="Consolas"/>
              </a:defRPr>
            </a:pPr>
            <a:r>
              <a:t>print('Rows and columns:', df.shape)</a:t>
            </a:r>
            <a:br/>
            <a:r>
              <a:t>df.describe().T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446164"/>
            <a:ext cx="5059375" cy="27886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Demographics: Education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5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Education Level Distribution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Primary: 36.7%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Secondary: 36.2%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Higher: 15.2%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No education: 11.9%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Education influences health awareness and access to reproductive health information.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ducation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1433"/>
            <a:ext cx="5059375" cy="3138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Socioeconomics: Wealth Index &amp; Residence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6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Wealth Index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Quintiles fairly balanced (18–22% each): Richer 22.3%, Poorest 22.0%, Middle 19.7%, Richest 18.1%, Poorer 17.9%.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Residence Type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Rural: 61.5%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Urban: 38.5%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Urban women have marginally higher resource access; rural majority is the policy focus.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alth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4635"/>
            <a:ext cx="5059375" cy="3131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Bivariate: Education as a Driver of Uptake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7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Education as a Catalyst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No education: ~12% modern use vs. any education: ~37–46%.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Primary-educated women (44%) are slightly higher than secondary (37%), likely due to age/parity confounding.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Key Finding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Even primary education significantly boosts modern method adoption.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ivariate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4635"/>
            <a:ext cx="5059375" cy="3131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Bivariate: Wealth as a Driver of Uptake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8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Wealth: A Cliff, Not a Gradient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Poorest quintile: ~25% modern use. Above that, flat at ~41–43%.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The big gap is between poorest and everyone else, not a steady climb from poor to rich.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Implication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Subsidies must target the Poorest quintile exclusively for maximum ROI.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ivariate_w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4635"/>
            <a:ext cx="5059375" cy="3131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Bivariate: Residence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9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Urban vs. Rural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Modern use is almost identical: ~38% for both urban and rural women.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Key Finding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On its own, residence barely matters. Any urban/rural gap is explained by education and wealth, not geography alone.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This means rural interventions should focus on education, not just proximity.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ivariate_res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4635"/>
            <a:ext cx="5059375" cy="31316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Geographic Disparities: Modern Use by County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10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Massive County Variation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Lowest: Mandera (1.2%), Wajir (2.8%), Garissa (4.5%), Marsabit (5.6%)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Highest: Embu, Meru, Nyeri, Elgeyo Marakwet (50–57%)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All low-use counties are in the arid/semi-arid north (ASAL).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Implication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Geographically targeted interventions are essential — national averages mislead.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unty_modern_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981" y="1645920"/>
            <a:ext cx="297213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Multivariate: Education vs. Wealth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11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Education Trumps Wealth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No education + any wealth: 9–21% modern use.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Any education + poorest: still ~35–48%.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Key Takeaway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Literacy and health education are far more critical than income for long-term family planning adoption.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Wealth cannot compensate for lack of education.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ultivariate_edu_wealth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45249"/>
            <a:ext cx="5059375" cy="29904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Feature Correlation &amp; Collinearity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12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Correlation Matrix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children_ever_born and living_children: r = 0.98 (near-perfect collinearity).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Resolved by deriving child_loss and surviving_ratio.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Other Observations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 ↔ children: ~0.65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Wealth ↔ education: ~0.45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Most numeric variables are weakly correlated — each adds unique information.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48097"/>
            <a:ext cx="5059375" cy="41847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63824"/>
            <a:ext cx="12191695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Data Engineering &amp; Preprocessing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CBD5E1"/>
                </a:solidFill>
                <a:latin typeface="Segoe UI"/>
              </a:defRPr>
            </a:pPr>
            <a:r>
              <a:t>Cleaning, encoding, and preparing model-ready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Data Integrity &amp; Cleaning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14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Structural Missingness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age_first_birth: 8,813 missing — all women with 0 children.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partner_education: 14,039 missing — women with no partner.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Imputed 0 for age_first_birth for nulliparous women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Created has_given_birth binary flag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Duplicates Resolution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274 rows flagged. All 532 look-alikes have unique caseids.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All 32,156 rows retained for statistical integrity.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6793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Post-Cleaning Validation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600"/>
              </a:spcAft>
              <a:defRPr sz="1000" b="0" i="0">
                <a:solidFill>
                  <a:srgbClr val="0F172A"/>
                </a:solidFill>
                <a:latin typeface="Consolas"/>
              </a:defRPr>
            </a:pPr>
            <a:r>
              <a:t>assert df.isnull().sum().sum() == 0</a:t>
            </a:r>
            <a:br/>
            <a:r>
              <a:t>assert df.shape[0] == 32156</a:t>
            </a:r>
            <a:br/>
            <a:r>
              <a:t>print('Validation passed.')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Before &amp; After Summary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Raw: 32,156 rows × 20 cols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Cleaned: 32,156 rows × 21 cols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0 missing values, 0 rows dropped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Every downstream step inherits guaranteed completeness.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Feature Engineering: 18 New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15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Ordinal Encoding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education, wealth, age_group encoded ordinally for tree models.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Nominal One-Hot Encoding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county, region, religion, marital status → one-hot.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Feature space: 20 raw → 38 engineered → 127 model-ready (post OHE).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Collinearity Resolution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Derived child_loss, surviving_ratio from r=0.98 collinear pair.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6793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Key Engineered Features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has_partner — 1 if partner education exists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education_gap — partner's minus woman's education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child_density — children / household size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arid_county — binary flag for ASAL regions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is_in_union — currently in a union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employed — currently working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age_at_first_birth_gap — years since first birth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All features motivated by EDA findings.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63824"/>
            <a:ext cx="12191695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Modeling &amp; Evaluation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CBD5E1"/>
                </a:solidFill>
                <a:latin typeface="Segoe UI"/>
              </a:defRPr>
            </a:pPr>
            <a:r>
              <a:t>Five models benchmarked: logistic regression to self-attention transformers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Model Comparison &amp;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17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45720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2062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Train-Test Split &amp; Resampling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Stratified 80/20 split. SMOTE on training data only, upsampling minority classes to 14,955 each.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Selection Verdict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LightGBM selected for deployment: best accuracy (95.8%) and Macro-AUC (0.951).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Notable Finding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TabTransformer achieved highest Traditional-class recall (37%), capturing region×religion interactions.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1508760"/>
            <a:ext cx="588233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33288" y="2688336"/>
          <a:ext cx="566287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719"/>
                <a:gridCol w="1415719"/>
                <a:gridCol w="1415719"/>
                <a:gridCol w="1415722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Macro AUC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LightGBM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95.8%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94.1%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0.565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0.927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Deep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94.4%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0.936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TabTransformer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92.1%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0.549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0.924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Logistic Reg. 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80.8%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0.522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0.926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Side-by-Side Model Evaluation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18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108200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del_comparis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735" y="1691640"/>
            <a:ext cx="3336224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5852160"/>
            <a:ext cx="10271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00" b="0" i="1">
                <a:solidFill>
                  <a:srgbClr val="64748B"/>
                </a:solidFill>
                <a:latin typeface="Segoe UI"/>
              </a:defRPr>
            </a:pPr>
            <a:r>
              <a:t>All 5 models evaluated on identical test set: Confusion Matrix • ROC Curves • PR Curves • Model-specific diagnostics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Final Model: LightGBM (Selected for Deployment)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19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Performance Summary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Accuracy: 95.8%  (best of all 5 models)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Macro-AUC: 0.951  (best of all 5 models)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Modern Recall: 100%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No-method Recall: 99%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Traditional Recall: 5% (rare-class suppression)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Training Behavior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Validation loss plateaued, confirming no overfitting.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Rare-Class Limitation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Gradient boosting downweights rare-class residuals. Model works best as a binary risk flag.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gbm_evalu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947939"/>
            <a:ext cx="5059375" cy="178508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SHAP Panel A: High vs. Low Feature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20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What This Shows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For each feature, the red dot shows the average SHAP value for women with HIGH values; blue dot for LOW values.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Key Findings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Age: strongest driver — older women pushed toward modern use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Living children: adoption happens after having children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Employment: most policy-actionable lever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is_in_union: strongest enabler of modern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_high_vs_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13894"/>
            <a:ext cx="5059375" cy="305317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SHAP Panel B: Global Feature Importance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21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What This Shows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Average absolute SHAP value for each feature across all classes and samples.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Top Drivers (Ranked)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 — by far the strongest overall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Living children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Region/County (arid_county, region dummies)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Employment status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is_in_union / marital status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 and living_children are universal discriminators across all four classes.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_globa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15668"/>
            <a:ext cx="5059375" cy="304962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SHAP Panels C &amp; D: Two Real Women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22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Respondent C (“No method”, p=0.9994)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Young, never-married, zero children, no employment. Every feature pushes AWAY from modern use except marital status contributions.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Respondent D (“Modern”, p=1.0000)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Older, married, multiple children, employed. Age and living_children are the dominant positive drivers.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Implication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Individual-level explanations build trust with stakeholders and validate the model’s logic.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_waterfall_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52454"/>
            <a:ext cx="5059375" cy="33760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SHAP: Per-Class Breakdown &amp; Direction of Influence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23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Per-Class Breakdown (Panel E)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 and living_children are tall bars for every class — universal discriminators.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region and arid_county are disproportionately important for Traditional/Folkloric classes.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Direction Heatmap (Panel F)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is_in_union: deep red for Modern, blue for No-method — strongest enabler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arid_county: red for No-method, blue for Modern — infrastructure barrier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employed: enables Modern use, penalizes No-method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_direc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02602"/>
            <a:ext cx="5059375" cy="36757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63824"/>
            <a:ext cx="12191695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Deployment &amp; Recommendations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CBD5E1"/>
                </a:solidFill>
                <a:latin typeface="Segoe UI"/>
              </a:defRPr>
            </a:pPr>
            <a:r>
              <a:t>From model to actionable policy impact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Deployment: Flask API on Render.com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25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Interactive Web Application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Deployed on Render.com for stakeholders (Ministry of Health, CHPs, UNFPA).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Serve-Skew Prevention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feature_engineering.py is a shared module imported by both the training notebook and Flask API.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Identical transformations guaranteed — mismatches structurally impossible.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Model Bundle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Saved as contraceptive_model_bundle.joblib (5.62 MB) containing model + preprocessor + label encoder.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6793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Flask API Endpoints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600"/>
              </a:spcAft>
              <a:defRPr sz="1000" b="0" i="0">
                <a:solidFill>
                  <a:srgbClr val="0F172A"/>
                </a:solidFill>
                <a:latin typeface="Consolas"/>
              </a:defRPr>
            </a:pPr>
            <a:r>
              <a:t>GET  /         HTML Form Interface</a:t>
            </a:r>
            <a:br/>
            <a:r>
              <a:t>GET  /health   Server Healthcheck</a:t>
            </a:r>
            <a:br/>
            <a:r>
              <a:t>POST /predict  Single Prediction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Live URL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kdhs-contraceptive-api.onrender.com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Auth: X-API-Key header required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Smoke Test Verified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End-to-end: raw JSON → feature_engineering → preprocessing → LightGBM → prediction → API response.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Actionable Policy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26 / 24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106070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1. Geographic Prioritization (ASAL Regions)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Mandera (1.2%), Wajir (2.8%), Garissa (4.5%) face systemic infrastructure barriers. Fund mobile clinics and supply chains.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2. Target Exposed Non-Users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4-variable CHP filter: in a union + unemployed + Poorest quintile + arid county. Avoids wasting visits on unexposed young women.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3. Employment Is the Most Actionable Lever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SHAP shows employment pushes women toward modern use. Women’s economic empowerment programs should be linked to family planning outreach.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4. Subsidize the Poorest Quintile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Modern use jumps 25% → 41% from Poorest to Poorer, then flattens. Target subsidies at the Poorest exclusively.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5. Model Limitations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Traditional/Folkloric classes too small for reliable individual prediction. Use as binary risk flag.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defRPr sz="5200" b="1" i="0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0"/>
              </a:spcAft>
              <a:defRPr sz="3000" b="0" i="0">
                <a:solidFill>
                  <a:srgbClr val="D97706"/>
                </a:solidFill>
                <a:latin typeface="Segoe UI"/>
              </a:defRPr>
            </a:pPr>
            <a:r>
              <a:t>Questions &amp; Answers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94A3B8"/>
                </a:solidFill>
                <a:latin typeface="Segoe UI"/>
              </a:defRPr>
            </a:pPr>
            <a:r>
              <a:t>GitHub: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300" b="0" i="0">
                <a:solidFill>
                  <a:srgbClr val="CBD5E1"/>
                </a:solidFill>
                <a:latin typeface="Segoe UI"/>
              </a:defRPr>
            </a:pPr>
            <a:r>
              <a:t>github.com/symekah1999/Predicting-contraceptive-use-among-women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94A3B8"/>
                </a:solidFill>
                <a:latin typeface="Segoe UI"/>
              </a:defRPr>
            </a:pPr>
            <a:r>
              <a:t>Live App: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BD5E1"/>
                </a:solidFill>
                <a:latin typeface="Segoe UI"/>
              </a:defRPr>
            </a:pPr>
            <a:r>
              <a:t>kdhs-contraceptive-api.onrender.com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27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